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2"/>
  </p:notesMasterIdLst>
  <p:sldIdLst>
    <p:sldId id="314" r:id="rId2"/>
    <p:sldId id="315" r:id="rId3"/>
    <p:sldId id="316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25" r:id="rId13"/>
    <p:sldId id="326" r:id="rId14"/>
    <p:sldId id="327" r:id="rId15"/>
    <p:sldId id="328" r:id="rId16"/>
    <p:sldId id="329" r:id="rId17"/>
    <p:sldId id="330" r:id="rId18"/>
    <p:sldId id="331" r:id="rId19"/>
    <p:sldId id="332" r:id="rId20"/>
    <p:sldId id="333" r:id="rId21"/>
    <p:sldId id="334" r:id="rId22"/>
    <p:sldId id="335" r:id="rId23"/>
    <p:sldId id="336" r:id="rId24"/>
    <p:sldId id="337" r:id="rId25"/>
    <p:sldId id="338" r:id="rId26"/>
    <p:sldId id="339" r:id="rId27"/>
    <p:sldId id="340" r:id="rId28"/>
    <p:sldId id="341" r:id="rId29"/>
    <p:sldId id="342" r:id="rId30"/>
    <p:sldId id="343" r:id="rId31"/>
    <p:sldId id="344" r:id="rId32"/>
    <p:sldId id="345" r:id="rId33"/>
    <p:sldId id="346" r:id="rId34"/>
    <p:sldId id="347" r:id="rId35"/>
    <p:sldId id="348" r:id="rId36"/>
    <p:sldId id="349" r:id="rId37"/>
    <p:sldId id="350" r:id="rId38"/>
    <p:sldId id="351" r:id="rId39"/>
    <p:sldId id="352" r:id="rId40"/>
    <p:sldId id="353" r:id="rId41"/>
    <p:sldId id="354" r:id="rId42"/>
    <p:sldId id="355" r:id="rId43"/>
    <p:sldId id="356" r:id="rId44"/>
    <p:sldId id="357" r:id="rId45"/>
    <p:sldId id="358" r:id="rId46"/>
    <p:sldId id="359" r:id="rId47"/>
    <p:sldId id="360" r:id="rId48"/>
    <p:sldId id="361" r:id="rId49"/>
    <p:sldId id="362" r:id="rId50"/>
    <p:sldId id="363" r:id="rId51"/>
    <p:sldId id="364" r:id="rId52"/>
    <p:sldId id="365" r:id="rId53"/>
    <p:sldId id="366" r:id="rId54"/>
    <p:sldId id="367" r:id="rId55"/>
    <p:sldId id="368" r:id="rId56"/>
    <p:sldId id="369" r:id="rId57"/>
    <p:sldId id="370" r:id="rId58"/>
    <p:sldId id="371" r:id="rId59"/>
    <p:sldId id="372" r:id="rId60"/>
    <p:sldId id="373" r:id="rId61"/>
    <p:sldId id="374" r:id="rId62"/>
    <p:sldId id="375" r:id="rId63"/>
    <p:sldId id="376" r:id="rId64"/>
    <p:sldId id="377" r:id="rId65"/>
    <p:sldId id="378" r:id="rId66"/>
    <p:sldId id="379" r:id="rId67"/>
    <p:sldId id="380" r:id="rId68"/>
    <p:sldId id="381" r:id="rId69"/>
    <p:sldId id="382" r:id="rId70"/>
    <p:sldId id="383" r:id="rId71"/>
    <p:sldId id="384" r:id="rId72"/>
    <p:sldId id="385" r:id="rId73"/>
    <p:sldId id="386" r:id="rId74"/>
    <p:sldId id="387" r:id="rId75"/>
    <p:sldId id="388" r:id="rId76"/>
    <p:sldId id="389" r:id="rId77"/>
    <p:sldId id="390" r:id="rId78"/>
    <p:sldId id="391" r:id="rId79"/>
    <p:sldId id="392" r:id="rId80"/>
    <p:sldId id="393" r:id="rId8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>
      <p:cViewPr varScale="1">
        <p:scale>
          <a:sx n="59" d="100"/>
          <a:sy n="59" d="100"/>
        </p:scale>
        <p:origin x="152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DA500-0D83-4472-8117-89698D861692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50DD3-B5D8-4C49-8686-233E18939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0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1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66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30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0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54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46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0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7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86DDC-0F8A-4B0B-AEF9-E2022025D4D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30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butler.edu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help.github.com/articles/generating-ssh-keys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butler.edu/%3c%3cusername%3e%3e/spoon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butler.edu/rrybarcz/spoon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029200"/>
            <a:ext cx="8077200" cy="1673352"/>
          </a:xfrm>
        </p:spPr>
        <p:txBody>
          <a:bodyPr anchor="ctr"/>
          <a:lstStyle/>
          <a:p>
            <a:pPr algn="ctr"/>
            <a:r>
              <a:rPr lang="en-US" dirty="0"/>
              <a:t>Lecture </a:t>
            </a:r>
            <a:r>
              <a:rPr lang="en-US"/>
              <a:t>– 9/8/2025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10584"/>
            <a:ext cx="8458200" cy="149961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CS 341 – Advanced Data Structures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28600"/>
            <a:ext cx="3810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568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Destructor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Used to release allocated memory back to the heap.</a:t>
            </a:r>
          </a:p>
          <a:p>
            <a:pPr lvl="1"/>
            <a:r>
              <a:rPr lang="en-US" dirty="0"/>
              <a:t>This is important as the heap is not static like the stack.</a:t>
            </a:r>
          </a:p>
          <a:p>
            <a:pPr lvl="1"/>
            <a:endParaRPr lang="en-US" dirty="0"/>
          </a:p>
          <a:p>
            <a:r>
              <a:rPr lang="en-US" dirty="0"/>
              <a:t>Defined with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~</a:t>
            </a:r>
            <a:r>
              <a:rPr lang="en-US" dirty="0"/>
              <a:t> prefix.</a:t>
            </a:r>
          </a:p>
          <a:p>
            <a:pPr marL="118872" indent="0">
              <a:buNone/>
            </a:pPr>
            <a:endParaRPr lang="en-US" dirty="0"/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Foo {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public: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// Constructor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Foo (void) { }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// Destructor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~Foo (void) { }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977186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Destructor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cs typeface="Courier New" panose="02070309020205020404" pitchFamily="49" charset="0"/>
              </a:rPr>
              <a:t>Helps us to manage the memory within our program.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Clean up your mess – house cleaning within our code.</a:t>
            </a:r>
          </a:p>
          <a:p>
            <a:pPr lvl="1"/>
            <a:endParaRPr lang="en-US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Invoked automatically when local variables go out of scope.</a:t>
            </a:r>
          </a:p>
          <a:p>
            <a:endParaRPr lang="en-US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Can be invoked manually for memory allocated with the operator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dirty="0">
                <a:cs typeface="Courier New" panose="02070309020205020404" pitchFamily="49" charset="0"/>
              </a:rPr>
              <a:t> via operator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dirty="0">
                <a:cs typeface="Courier New" panose="02070309020205020404" pitchFamily="49" charset="0"/>
              </a:rPr>
              <a:t>.</a:t>
            </a:r>
          </a:p>
          <a:p>
            <a:pPr lvl="1"/>
            <a:endParaRPr lang="en-US" dirty="0">
              <a:cs typeface="Courier New" panose="02070309020205020404" pitchFamily="49" charset="0"/>
            </a:endParaRPr>
          </a:p>
          <a:p>
            <a:endParaRPr lang="en-US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663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Destructor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cs typeface="Courier New" panose="02070309020205020404" pitchFamily="49" charset="0"/>
              </a:rPr>
              <a:t>Example: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lnSpc>
                <a:spcPct val="90000"/>
              </a:lnSpc>
              <a:buNone/>
            </a:pP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pPr marL="118872" indent="0">
              <a:lnSpc>
                <a:spcPct val="90000"/>
              </a:lnSpc>
              <a:buNone/>
            </a:pP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Array (</a:t>
            </a:r>
            <a:r>
              <a:rPr lang="en-US" sz="2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</a:t>
            </a:r>
          </a:p>
          <a:p>
            <a:pPr marL="118872" indent="0">
              <a:lnSpc>
                <a:spcPct val="90000"/>
              </a:lnSpc>
              <a:buNone/>
            </a:pP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: data_ (new char [n]), 			length_ (n) { }</a:t>
            </a:r>
          </a:p>
          <a:p>
            <a:pPr marL="118872" indent="0">
              <a:lnSpc>
                <a:spcPct val="90000"/>
              </a:lnSpc>
              <a:buNone/>
            </a:pP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lnSpc>
                <a:spcPct val="90000"/>
              </a:lnSpc>
              <a:buNone/>
            </a:pP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 Destructor (cleanup method)</a:t>
            </a:r>
          </a:p>
          <a:p>
            <a:pPr marL="118872" indent="0">
              <a:lnSpc>
                <a:spcPct val="90000"/>
              </a:lnSpc>
              <a:buNone/>
            </a:pP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~Array (void) {</a:t>
            </a:r>
          </a:p>
          <a:p>
            <a:pPr marL="118872" indent="0">
              <a:lnSpc>
                <a:spcPct val="90000"/>
              </a:lnSpc>
              <a:buNone/>
            </a:pP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// release owned member at destruction</a:t>
            </a:r>
          </a:p>
          <a:p>
            <a:pPr marL="118872" indent="0">
              <a:lnSpc>
                <a:spcPct val="90000"/>
              </a:lnSpc>
              <a:buNone/>
            </a:pP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delete [] data_;</a:t>
            </a:r>
          </a:p>
          <a:p>
            <a:pPr marL="118872" indent="0">
              <a:lnSpc>
                <a:spcPct val="90000"/>
              </a:lnSpc>
              <a:buNone/>
            </a:pP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3295681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C++ Review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Q/A</a:t>
            </a:r>
          </a:p>
        </p:txBody>
      </p:sp>
    </p:spTree>
    <p:extLst>
      <p:ext uri="{BB962C8B-B14F-4D97-AF65-F5344CB8AC3E}">
        <p14:creationId xmlns:p14="http://schemas.microsoft.com/office/powerpoint/2010/main" val="910094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7200" y="2743200"/>
            <a:ext cx="8077200" cy="1673352"/>
          </a:xfrm>
        </p:spPr>
        <p:txBody>
          <a:bodyPr/>
          <a:lstStyle/>
          <a:p>
            <a:pPr algn="ctr"/>
            <a:r>
              <a:rPr lang="en-US" dirty="0"/>
              <a:t>GIT Overview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598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GIT is a free, open-sourced distributed version control system.</a:t>
            </a:r>
          </a:p>
          <a:p>
            <a:pPr lvl="1"/>
            <a:r>
              <a:rPr lang="en-US" dirty="0">
                <a:hlinkClick r:id="rId2"/>
              </a:rPr>
              <a:t>https://git-scm.com/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Motivation:</a:t>
            </a:r>
          </a:p>
          <a:p>
            <a:pPr lvl="1"/>
            <a:r>
              <a:rPr lang="en-US" dirty="0"/>
              <a:t>Free version control system that was powerful enough to handle large software projects – while providing speed and efficiency in handling the workflow.</a:t>
            </a:r>
          </a:p>
          <a:p>
            <a:pPr lvl="1"/>
            <a:endParaRPr lang="en-US" dirty="0"/>
          </a:p>
          <a:p>
            <a:r>
              <a:rPr lang="en-US" dirty="0"/>
              <a:t>Created by: Linus Torvalds (of Linux fame) – 2005.</a:t>
            </a:r>
          </a:p>
        </p:txBody>
      </p:sp>
    </p:spTree>
    <p:extLst>
      <p:ext uri="{BB962C8B-B14F-4D97-AF65-F5344CB8AC3E}">
        <p14:creationId xmlns:p14="http://schemas.microsoft.com/office/powerpoint/2010/main" val="224732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895600"/>
            <a:ext cx="8077200" cy="1673352"/>
          </a:xfrm>
        </p:spPr>
        <p:txBody>
          <a:bodyPr/>
          <a:lstStyle/>
          <a:p>
            <a:pPr algn="ctr"/>
            <a:r>
              <a:rPr lang="en-US" dirty="0"/>
              <a:t>GitHub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1347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So what is GitHub?</a:t>
            </a:r>
          </a:p>
          <a:p>
            <a:pPr lvl="1"/>
            <a:r>
              <a:rPr lang="en-US" dirty="0"/>
              <a:t>It is simply a web-based </a:t>
            </a:r>
            <a:r>
              <a:rPr lang="en-US" dirty="0" err="1"/>
              <a:t>Git</a:t>
            </a:r>
            <a:r>
              <a:rPr lang="en-US" dirty="0"/>
              <a:t> repository hosting service.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Launched in 2008.</a:t>
            </a:r>
          </a:p>
          <a:p>
            <a:pPr lvl="1"/>
            <a:r>
              <a:rPr lang="en-US" dirty="0"/>
              <a:t>It provides you a UI, unlike </a:t>
            </a:r>
            <a:r>
              <a:rPr lang="en-US" dirty="0" err="1"/>
              <a:t>Git</a:t>
            </a:r>
            <a:r>
              <a:rPr lang="en-US" dirty="0"/>
              <a:t> which is strictly at the command line.</a:t>
            </a:r>
          </a:p>
          <a:p>
            <a:pPr lvl="2"/>
            <a:r>
              <a:rPr lang="en-US" dirty="0"/>
              <a:t>We all like flashy things!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You can still use the command line features though…and we will through </a:t>
            </a:r>
            <a:r>
              <a:rPr lang="en-US" dirty="0" err="1">
                <a:sym typeface="Wingdings" panose="05000000000000000000" pitchFamily="2" charset="2"/>
              </a:rPr>
              <a:t>GitBash</a:t>
            </a:r>
            <a:r>
              <a:rPr lang="en-US" dirty="0">
                <a:sym typeface="Wingdings" panose="05000000000000000000" pitchFamily="2" charset="2"/>
              </a:rPr>
              <a:t>, Command/Terminal, or </a:t>
            </a:r>
            <a:r>
              <a:rPr lang="en-US" b="1" u="sng" dirty="0">
                <a:sym typeface="Wingdings" panose="05000000000000000000" pitchFamily="2" charset="2"/>
              </a:rPr>
              <a:t>Thomas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pPr lvl="2"/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  <a:hlinkClick r:id="rId2"/>
              </a:rPr>
              <a:t>https://github.butler.edu/</a:t>
            </a:r>
            <a:r>
              <a:rPr lang="en-US" dirty="0">
                <a:sym typeface="Wingdings" panose="05000000000000000000" pitchFamily="2" charset="2"/>
              </a:rPr>
              <a:t> 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pPr marL="118872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221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1574"/>
            <a:ext cx="9144000" cy="489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99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971800"/>
            <a:ext cx="8077200" cy="1673352"/>
          </a:xfrm>
        </p:spPr>
        <p:txBody>
          <a:bodyPr/>
          <a:lstStyle/>
          <a:p>
            <a:pPr algn="ctr"/>
            <a:r>
              <a:rPr lang="en-US" dirty="0"/>
              <a:t>GitHub Exercise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57873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Step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Public/Private Key Access</a:t>
            </a:r>
          </a:p>
          <a:p>
            <a:pPr lvl="1"/>
            <a:r>
              <a:rPr lang="en-US" dirty="0"/>
              <a:t>HTTPS</a:t>
            </a:r>
          </a:p>
          <a:p>
            <a:pPr lvl="2"/>
            <a:r>
              <a:rPr lang="en-US" dirty="0"/>
              <a:t>Requires a handshake each time you access the GitHub repository (username/password).</a:t>
            </a:r>
          </a:p>
          <a:p>
            <a:pPr lvl="1"/>
            <a:r>
              <a:rPr lang="en-US" dirty="0"/>
              <a:t>SSH</a:t>
            </a:r>
          </a:p>
          <a:p>
            <a:pPr lvl="2"/>
            <a:r>
              <a:rPr lang="en-US" dirty="0"/>
              <a:t>Public/Private key authenticate is done – the public key is stored on the web server and the private key is maintained on your local machine.</a:t>
            </a:r>
          </a:p>
          <a:p>
            <a:pPr marL="914400" lvl="2" indent="0">
              <a:buNone/>
            </a:pPr>
            <a:endParaRPr lang="en-US" dirty="0"/>
          </a:p>
          <a:p>
            <a:pPr marL="164592" indent="0">
              <a:buNone/>
            </a:pPr>
            <a:r>
              <a:rPr lang="en-US" sz="2800" dirty="0">
                <a:hlinkClick r:id="rId2"/>
              </a:rPr>
              <a:t>https://help.github.com/articles/generating-ssh-keys</a:t>
            </a:r>
            <a:endParaRPr lang="en-US" sz="2800" dirty="0"/>
          </a:p>
          <a:p>
            <a:pPr marL="164592" indent="0">
              <a:buNone/>
            </a:pPr>
            <a:endParaRPr lang="en-US" sz="28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412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Step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Creating A Repository</a:t>
            </a:r>
          </a:p>
          <a:p>
            <a:pPr lvl="1"/>
            <a:r>
              <a:rPr lang="en-US" dirty="0"/>
              <a:t>Create a private </a:t>
            </a:r>
            <a:r>
              <a:rPr lang="en-US" dirty="0" err="1"/>
              <a:t>Git</a:t>
            </a:r>
            <a:r>
              <a:rPr lang="en-US" dirty="0"/>
              <a:t> repository on the Butler GitHub.</a:t>
            </a:r>
          </a:p>
          <a:p>
            <a:pPr lvl="2"/>
            <a:r>
              <a:rPr lang="en-US" dirty="0"/>
              <a:t>Example: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cs341_spring2023</a:t>
            </a:r>
          </a:p>
          <a:p>
            <a:endParaRPr lang="en-US" dirty="0">
              <a:latin typeface="+mj-lt"/>
              <a:cs typeface="Courier New" panose="02070309020205020404" pitchFamily="49" charset="0"/>
            </a:endParaRP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It is easiest to accomplish this through the web front end provided on the Butler GitHub site.</a:t>
            </a:r>
          </a:p>
          <a:p>
            <a:endParaRPr lang="en-US" dirty="0">
              <a:latin typeface="+mj-lt"/>
              <a:cs typeface="Courier New" panose="02070309020205020404" pitchFamily="49" charset="0"/>
            </a:endParaRP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Make sure to select the </a:t>
            </a:r>
            <a:r>
              <a:rPr lang="en-US" b="1" dirty="0">
                <a:latin typeface="+mj-lt"/>
                <a:cs typeface="Courier New" panose="02070309020205020404" pitchFamily="49" charset="0"/>
              </a:rPr>
              <a:t>private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option when creating your repository, otherwise everyone can see/access it.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60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Step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Initial Download of Repository Contents</a:t>
            </a:r>
          </a:p>
          <a:p>
            <a:pPr lvl="1"/>
            <a:r>
              <a:rPr lang="en-US" dirty="0"/>
              <a:t>Now that we have our repository setup we need to clone it.</a:t>
            </a:r>
          </a:p>
          <a:p>
            <a:pPr lvl="2"/>
            <a:r>
              <a:rPr lang="en-US" dirty="0"/>
              <a:t>Cloning the repository is the primary method for initially downloading the contents of the remote hosted repository onto your local machine in your home directory.</a:t>
            </a:r>
          </a:p>
          <a:p>
            <a:pPr lvl="2"/>
            <a:r>
              <a:rPr lang="en-US" dirty="0"/>
              <a:t>We can use Thomas to accomplish this using the following command:</a:t>
            </a:r>
          </a:p>
          <a:p>
            <a:pPr marL="210312" indent="0">
              <a:buNone/>
            </a:pPr>
            <a:endParaRPr lang="en-US" dirty="0"/>
          </a:p>
          <a:p>
            <a:pPr marL="118872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clone git@github.butler.edu:[username]/cs341_spring2023.git [destination path/directory name]</a:t>
            </a:r>
          </a:p>
        </p:txBody>
      </p:sp>
    </p:spTree>
    <p:extLst>
      <p:ext uri="{BB962C8B-B14F-4D97-AF65-F5344CB8AC3E}">
        <p14:creationId xmlns:p14="http://schemas.microsoft.com/office/powerpoint/2010/main" val="1204345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Step 4 (Part 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Adding</a:t>
            </a:r>
          </a:p>
          <a:p>
            <a:pPr lvl="1"/>
            <a:r>
              <a:rPr lang="en-US" dirty="0"/>
              <a:t>When you clone a </a:t>
            </a:r>
            <a:r>
              <a:rPr lang="en-US" dirty="0" err="1"/>
              <a:t>Git</a:t>
            </a:r>
            <a:r>
              <a:rPr lang="en-US" dirty="0"/>
              <a:t> repository, you have a </a:t>
            </a:r>
            <a:r>
              <a:rPr lang="en-US" u="sng" dirty="0"/>
              <a:t>personal copy</a:t>
            </a:r>
            <a:r>
              <a:rPr lang="en-US" dirty="0"/>
              <a:t> of the entire repository on your local machine. </a:t>
            </a:r>
          </a:p>
          <a:p>
            <a:pPr lvl="2"/>
            <a:r>
              <a:rPr lang="en-US" dirty="0"/>
              <a:t>An advantage of this approach is that you can </a:t>
            </a:r>
            <a:r>
              <a:rPr lang="en-US" b="1" dirty="0"/>
              <a:t>add</a:t>
            </a:r>
            <a:r>
              <a:rPr lang="en-US" dirty="0"/>
              <a:t> and </a:t>
            </a:r>
            <a:r>
              <a:rPr lang="en-US" b="1" dirty="0"/>
              <a:t>commit</a:t>
            </a:r>
            <a:r>
              <a:rPr lang="en-US" dirty="0"/>
              <a:t> without having to communicate with the originating server (e.g., </a:t>
            </a:r>
            <a:r>
              <a:rPr lang="en-US" dirty="0" err="1"/>
              <a:t>Github</a:t>
            </a:r>
            <a:r>
              <a:rPr lang="en-US" dirty="0"/>
              <a:t>). </a:t>
            </a:r>
          </a:p>
          <a:p>
            <a:pPr lvl="1"/>
            <a:r>
              <a:rPr lang="en-US" dirty="0"/>
              <a:t>Adding a file to your local copy of the repo is simple. We just use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dirty="0"/>
              <a:t> command.</a:t>
            </a:r>
          </a:p>
          <a:p>
            <a:pPr lvl="2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add [filename]</a:t>
            </a:r>
          </a:p>
          <a:p>
            <a:pPr lvl="1"/>
            <a:r>
              <a:rPr lang="en-US" dirty="0"/>
              <a:t>When you add a file to the local copy, it notifies </a:t>
            </a:r>
            <a:r>
              <a:rPr lang="en-US" dirty="0" err="1"/>
              <a:t>Git</a:t>
            </a:r>
            <a:r>
              <a:rPr lang="en-US" dirty="0"/>
              <a:t> that a file is ready to be committed. </a:t>
            </a:r>
          </a:p>
        </p:txBody>
      </p:sp>
    </p:spTree>
    <p:extLst>
      <p:ext uri="{BB962C8B-B14F-4D97-AF65-F5344CB8AC3E}">
        <p14:creationId xmlns:p14="http://schemas.microsoft.com/office/powerpoint/2010/main" val="37058445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Step 4 (Part 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Committing</a:t>
            </a:r>
          </a:p>
          <a:p>
            <a:pPr lvl="1"/>
            <a:r>
              <a:rPr lang="en-US" dirty="0"/>
              <a:t>Files are not saved to the repository until you commit it using the commit command.</a:t>
            </a:r>
          </a:p>
          <a:p>
            <a:pPr lvl="2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commit –m “[Commit Comments Go Here]”</a:t>
            </a:r>
          </a:p>
          <a:p>
            <a:pPr lvl="1"/>
            <a:r>
              <a:rPr lang="en-US" dirty="0"/>
              <a:t>Like with any command line instructions you can add “optional parameters,” here we added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–m </a:t>
            </a:r>
            <a:r>
              <a:rPr lang="en-US" dirty="0"/>
              <a:t>which allows for a commit message (comment). The GitHub documentation provides a list of all the parameters available.</a:t>
            </a:r>
          </a:p>
          <a:p>
            <a:pPr lvl="1"/>
            <a:r>
              <a:rPr lang="en-US" dirty="0"/>
              <a:t>At this point all of our changes are still local to our repository…we need to push them out to the Butler GitHub.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5398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Step 5 (Part 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4300" dirty="0"/>
              <a:t>Pushing </a:t>
            </a:r>
          </a:p>
          <a:p>
            <a:pPr lvl="1"/>
            <a:r>
              <a:rPr lang="en-US" sz="3400" dirty="0"/>
              <a:t>We now want to “push” our changes out to the Butler GitHub. To accomplish this we use the </a:t>
            </a:r>
            <a:r>
              <a:rPr lang="en-US" sz="3400" dirty="0" err="1"/>
              <a:t>Git</a:t>
            </a:r>
            <a:r>
              <a:rPr lang="en-US" sz="3400" dirty="0"/>
              <a:t> command of 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push</a:t>
            </a:r>
            <a:r>
              <a:rPr lang="en-US" sz="3400" dirty="0"/>
              <a:t>.</a:t>
            </a:r>
          </a:p>
          <a:p>
            <a:pPr marL="457200" lvl="1" indent="0" algn="ctr">
              <a:buNone/>
            </a:pPr>
            <a:endParaRPr lang="en-US" sz="3400" dirty="0"/>
          </a:p>
          <a:p>
            <a:pPr marL="164592" indent="0" algn="ctr">
              <a:buNone/>
            </a:pPr>
            <a:r>
              <a:rPr lang="en-US" sz="3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push origin master</a:t>
            </a:r>
          </a:p>
          <a:p>
            <a:pPr marL="164592" indent="0" algn="ctr">
              <a:buNone/>
            </a:pPr>
            <a:r>
              <a:rPr lang="en-US" sz="3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push [location] [branch]</a:t>
            </a:r>
          </a:p>
          <a:p>
            <a:pPr lvl="1"/>
            <a:endParaRPr lang="en-US" sz="3400" dirty="0"/>
          </a:p>
          <a:p>
            <a:pPr lvl="1"/>
            <a:r>
              <a:rPr lang="en-US" sz="3400" dirty="0"/>
              <a:t>The command above is pushing to the 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origin</a:t>
            </a:r>
            <a:r>
              <a:rPr lang="en-US" sz="3400" dirty="0"/>
              <a:t> location of the 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master</a:t>
            </a:r>
            <a:r>
              <a:rPr lang="en-US" sz="3400" dirty="0"/>
              <a:t> branch. If you want to push to a different location you would just need to specify the respective parameters.</a:t>
            </a:r>
          </a:p>
          <a:p>
            <a:pPr lvl="2"/>
            <a:r>
              <a:rPr lang="en-US" sz="3000" dirty="0"/>
              <a:t>Origin is simply the remote repository.</a:t>
            </a:r>
          </a:p>
          <a:p>
            <a:pPr lvl="1"/>
            <a:endParaRPr lang="en-US" sz="3400" dirty="0"/>
          </a:p>
          <a:p>
            <a:pPr lvl="1"/>
            <a:r>
              <a:rPr lang="en-US" sz="3400" dirty="0"/>
              <a:t>When working with collaborators, they will also push their changes as well. We will eventually want to integrate their changes into our workspace. This is when we want to </a:t>
            </a:r>
            <a:r>
              <a:rPr lang="en-US" sz="3400" b="1" dirty="0"/>
              <a:t>pull</a:t>
            </a:r>
            <a:r>
              <a:rPr lang="en-US" sz="3400" dirty="0"/>
              <a:t> from the repository. </a:t>
            </a:r>
          </a:p>
        </p:txBody>
      </p:sp>
    </p:spTree>
    <p:extLst>
      <p:ext uri="{BB962C8B-B14F-4D97-AF65-F5344CB8AC3E}">
        <p14:creationId xmlns:p14="http://schemas.microsoft.com/office/powerpoint/2010/main" val="3507121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Step 5 (Part 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Pulling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pull</a:t>
            </a:r>
            <a:r>
              <a:rPr lang="en-US" dirty="0"/>
              <a:t> command is similar to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</a:t>
            </a:r>
            <a:r>
              <a:rPr lang="en-US" dirty="0"/>
              <a:t> command in terms of its syntax. If you do not specify a branch, then it pulls everything that is new and merges the changes into your local repository.</a:t>
            </a:r>
          </a:p>
          <a:p>
            <a:pPr lvl="1"/>
            <a:endParaRPr lang="en-US" dirty="0"/>
          </a:p>
          <a:p>
            <a:pPr marL="164592" indent="0" algn="ctr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pull origin master</a:t>
            </a:r>
          </a:p>
          <a:p>
            <a:pPr marL="164592" indent="0" algn="ctr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pull [location] [branch]</a:t>
            </a:r>
          </a:p>
          <a:p>
            <a:pPr marL="164592" indent="0" algn="ctr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Again, we can specify the specific location and branch to “pull” from.</a:t>
            </a:r>
          </a:p>
          <a:p>
            <a:pPr marL="164592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4954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Step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Now that we have created our own GitHub project repository we need to explore how to contribute to another users project.</a:t>
            </a:r>
          </a:p>
          <a:p>
            <a:pPr lvl="1"/>
            <a:r>
              <a:rPr lang="en-US" dirty="0"/>
              <a:t>This process is known as forking.</a:t>
            </a:r>
          </a:p>
          <a:p>
            <a:pPr lvl="1"/>
            <a:endParaRPr lang="en-US" dirty="0"/>
          </a:p>
          <a:p>
            <a:r>
              <a:rPr lang="en-US" dirty="0"/>
              <a:t>A </a:t>
            </a:r>
            <a:r>
              <a:rPr lang="en-US" b="1" u="sng" dirty="0"/>
              <a:t>fork</a:t>
            </a:r>
            <a:r>
              <a:rPr lang="en-US" dirty="0"/>
              <a:t> is producing a personal copy of someone else’s project.</a:t>
            </a:r>
          </a:p>
          <a:p>
            <a:pPr lvl="1"/>
            <a:r>
              <a:rPr lang="en-US" dirty="0"/>
              <a:t>Allows for multiple people to contribute actively to the same project.</a:t>
            </a:r>
          </a:p>
        </p:txBody>
      </p:sp>
    </p:spTree>
    <p:extLst>
      <p:ext uri="{BB962C8B-B14F-4D97-AF65-F5344CB8AC3E}">
        <p14:creationId xmlns:p14="http://schemas.microsoft.com/office/powerpoint/2010/main" val="566573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Step 6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018" y="1600200"/>
            <a:ext cx="4525963" cy="4525963"/>
          </a:xfrm>
        </p:spPr>
      </p:pic>
    </p:spTree>
    <p:extLst>
      <p:ext uri="{BB962C8B-B14F-4D97-AF65-F5344CB8AC3E}">
        <p14:creationId xmlns:p14="http://schemas.microsoft.com/office/powerpoint/2010/main" val="1181121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Step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start by attempting to fork an existing repository – “spoon”</a:t>
            </a:r>
          </a:p>
          <a:p>
            <a:pPr lvl="1"/>
            <a:r>
              <a:rPr lang="en-US" dirty="0"/>
              <a:t>Don’t worry, my jokes get even better as the semester goes along.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This will allow us to make a copy of the original repository without impacting the original project.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444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Step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can clone the repository as follows: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clone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https://github.butler.edu/&lt;&lt;username&gt;&gt;/spoon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Once we have “forked” the repository – we need to go back to Step 3 to clone it down to our local machine.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6004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Step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Remember we want to clone the fork not the original repository.</a:t>
            </a:r>
          </a:p>
          <a:p>
            <a:endParaRPr lang="en-US" dirty="0"/>
          </a:p>
          <a:p>
            <a:r>
              <a:rPr lang="en-US" dirty="0"/>
              <a:t>Now we are ready to Commit and Push our changes back to the original project.</a:t>
            </a:r>
          </a:p>
          <a:p>
            <a:pPr lvl="1"/>
            <a:r>
              <a:rPr lang="en-US" dirty="0"/>
              <a:t>This process is very similar to that found in Step 4 – there is just one small change…actually it is a pretty big change…</a:t>
            </a:r>
          </a:p>
        </p:txBody>
      </p:sp>
    </p:spTree>
    <p:extLst>
      <p:ext uri="{BB962C8B-B14F-4D97-AF65-F5344CB8AC3E}">
        <p14:creationId xmlns:p14="http://schemas.microsoft.com/office/powerpoint/2010/main" val="21688276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Step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first need to Add (Step 4 – Part I) – this will </a:t>
            </a:r>
          </a:p>
          <a:p>
            <a:endParaRPr lang="en-US" dirty="0"/>
          </a:p>
          <a:p>
            <a:r>
              <a:rPr lang="en-US" dirty="0"/>
              <a:t>Add Command: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remote add upstream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https://github.butler.edu/rrybarcz/spoon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Now we can go ahead and Push, right!?</a:t>
            </a:r>
          </a:p>
          <a:p>
            <a:pPr lvl="1"/>
            <a:r>
              <a:rPr lang="en-US" dirty="0"/>
              <a:t>No!</a:t>
            </a:r>
          </a:p>
        </p:txBody>
      </p:sp>
    </p:spTree>
    <p:extLst>
      <p:ext uri="{BB962C8B-B14F-4D97-AF65-F5344CB8AC3E}">
        <p14:creationId xmlns:p14="http://schemas.microsoft.com/office/powerpoint/2010/main" val="1619561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Step 9 (Part 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Branches!</a:t>
            </a:r>
          </a:p>
          <a:p>
            <a:pPr lvl="1"/>
            <a:r>
              <a:rPr lang="en-US" dirty="0"/>
              <a:t>Branches allow us to create solutions to a project without negatively impacting the progress overall.</a:t>
            </a:r>
          </a:p>
          <a:p>
            <a:pPr lvl="1"/>
            <a:endParaRPr lang="en-US" dirty="0"/>
          </a:p>
          <a:p>
            <a:pPr marL="0" indent="0" algn="ctr">
              <a:buNone/>
            </a:pP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checkout -b &lt;new branch name&gt;</a:t>
            </a:r>
          </a:p>
        </p:txBody>
      </p:sp>
    </p:spTree>
    <p:extLst>
      <p:ext uri="{BB962C8B-B14F-4D97-AF65-F5344CB8AC3E}">
        <p14:creationId xmlns:p14="http://schemas.microsoft.com/office/powerpoint/2010/main" val="40179674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Step 9 (Part 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let’s go ahead and Push our change that we made to this branch back.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push origin &lt;new branch name&gt;</a:t>
            </a:r>
          </a:p>
          <a:p>
            <a:pPr marL="0" indent="0" algn="ctr">
              <a:buNone/>
            </a:pP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Here we assume you have already added and committed your changes to your local copy.</a:t>
            </a:r>
          </a:p>
        </p:txBody>
      </p:sp>
    </p:spTree>
    <p:extLst>
      <p:ext uri="{BB962C8B-B14F-4D97-AF65-F5344CB8AC3E}">
        <p14:creationId xmlns:p14="http://schemas.microsoft.com/office/powerpoint/2010/main" val="11762614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Step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Pull Request</a:t>
            </a:r>
          </a:p>
          <a:p>
            <a:pPr lvl="1"/>
            <a:r>
              <a:rPr lang="en-US" dirty="0"/>
              <a:t>We need some way to “merge” our changes back into the original project.</a:t>
            </a:r>
          </a:p>
          <a:p>
            <a:pPr lvl="1"/>
            <a:endParaRPr lang="en-US" dirty="0"/>
          </a:p>
          <a:p>
            <a:r>
              <a:rPr lang="en-US" dirty="0"/>
              <a:t>We first need to compare that what we have done has not interfered with anyone else's work.</a:t>
            </a:r>
          </a:p>
          <a:p>
            <a:pPr lvl="1"/>
            <a:r>
              <a:rPr lang="en-US" dirty="0"/>
              <a:t>Compare and Pull Request</a:t>
            </a:r>
          </a:p>
          <a:p>
            <a:pPr lvl="2"/>
            <a:r>
              <a:rPr lang="en-US" b="1" u="sng" dirty="0"/>
              <a:t>Note:</a:t>
            </a:r>
            <a:r>
              <a:rPr lang="en-US" dirty="0"/>
              <a:t> The owner of the project does </a:t>
            </a:r>
            <a:r>
              <a:rPr lang="en-US" b="1" dirty="0"/>
              <a:t>not</a:t>
            </a:r>
            <a:r>
              <a:rPr lang="en-US" dirty="0"/>
              <a:t> have to accept your request.</a:t>
            </a:r>
          </a:p>
        </p:txBody>
      </p:sp>
    </p:spTree>
    <p:extLst>
      <p:ext uri="{BB962C8B-B14F-4D97-AF65-F5344CB8AC3E}">
        <p14:creationId xmlns:p14="http://schemas.microsoft.com/office/powerpoint/2010/main" val="3505198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Success!!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 this point we have been able to successfully Fork an existing project – create a branch for the project – make changes – commit and push those changes – and ultimately issue a Pull Request back to the project we are trying to commit to.</a:t>
            </a:r>
          </a:p>
          <a:p>
            <a:pPr lvl="1"/>
            <a:r>
              <a:rPr lang="en-US" dirty="0"/>
              <a:t>This will be the basis for every single assignment this semester.</a:t>
            </a:r>
          </a:p>
        </p:txBody>
      </p:sp>
    </p:spTree>
    <p:extLst>
      <p:ext uri="{BB962C8B-B14F-4D97-AF65-F5344CB8AC3E}">
        <p14:creationId xmlns:p14="http://schemas.microsoft.com/office/powerpoint/2010/main" val="38886840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381000" y="2971800"/>
            <a:ext cx="8077200" cy="1673352"/>
          </a:xfrm>
        </p:spPr>
        <p:txBody>
          <a:bodyPr/>
          <a:lstStyle/>
          <a:p>
            <a:pPr algn="ctr"/>
            <a:r>
              <a:rPr lang="en-US" dirty="0" err="1"/>
              <a:t>Makefiles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794880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Makefiles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Every time we want to compile something in C, C++, or Java we have to run the respective command for that languages compiler.</a:t>
            </a:r>
          </a:p>
          <a:p>
            <a:endParaRPr lang="en-US" dirty="0"/>
          </a:p>
          <a:p>
            <a:r>
              <a:rPr lang="en-US" dirty="0"/>
              <a:t>This is a trivial task for single file assignments – what happens when we have multiple files?</a:t>
            </a:r>
          </a:p>
          <a:p>
            <a:pPr lvl="1"/>
            <a:r>
              <a:rPr lang="en-US" dirty="0"/>
              <a:t>This quickly becomes a pain, and what is worse is that we introduce the possibility of a typo.</a:t>
            </a:r>
          </a:p>
          <a:p>
            <a:pPr lvl="1"/>
            <a:endParaRPr lang="en-US" dirty="0"/>
          </a:p>
          <a:p>
            <a:r>
              <a:rPr lang="en-US" dirty="0"/>
              <a:t>There has to be something better…right!?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31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Makefiles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  <a:r>
              <a:rPr lang="en-US" dirty="0"/>
              <a:t> is a utility in Unix that was designed as one of the original tools of the operating system in 1977 by Bell Labs.</a:t>
            </a:r>
          </a:p>
          <a:p>
            <a:pPr lvl="1"/>
            <a:r>
              <a:rPr lang="en-US" dirty="0"/>
              <a:t>In the subsequent years many different versions of 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  <a:r>
              <a:rPr lang="en-US" dirty="0"/>
              <a:t> have been developed.</a:t>
            </a:r>
          </a:p>
          <a:p>
            <a:pPr lvl="1"/>
            <a:endParaRPr lang="en-US" dirty="0"/>
          </a:p>
          <a:p>
            <a:r>
              <a:rPr lang="en-US" dirty="0"/>
              <a:t>What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A tool designed to allow programmers to efficiently compile large complex programs with many components easily. </a:t>
            </a:r>
          </a:p>
        </p:txBody>
      </p:sp>
    </p:spTree>
    <p:extLst>
      <p:ext uri="{BB962C8B-B14F-4D97-AF65-F5344CB8AC3E}">
        <p14:creationId xmlns:p14="http://schemas.microsoft.com/office/powerpoint/2010/main" val="10544374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Makefiles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  <a:r>
              <a:rPr lang="en-US" dirty="0"/>
              <a:t> Features:</a:t>
            </a:r>
          </a:p>
          <a:p>
            <a:pPr lvl="1"/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  <a:r>
              <a:rPr lang="en-US" dirty="0"/>
              <a:t> will actually look at and only compile those files that have changed (and their dependencies). </a:t>
            </a:r>
          </a:p>
          <a:p>
            <a:pPr lvl="1"/>
            <a:r>
              <a:rPr lang="en-US" dirty="0"/>
              <a:t>This eliminates wasteful overhead, in terms of time, related to compilation and ultimately execution of our program.</a:t>
            </a:r>
          </a:p>
          <a:p>
            <a:pPr lvl="1"/>
            <a:endParaRPr lang="en-US" dirty="0"/>
          </a:p>
          <a:p>
            <a:r>
              <a:rPr lang="en-US" dirty="0"/>
              <a:t>It provides a single (universal) way for us to compile our code to form software systems.</a:t>
            </a:r>
          </a:p>
        </p:txBody>
      </p:sp>
    </p:spTree>
    <p:extLst>
      <p:ext uri="{BB962C8B-B14F-4D97-AF65-F5344CB8AC3E}">
        <p14:creationId xmlns:p14="http://schemas.microsoft.com/office/powerpoint/2010/main" val="16558286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Makefiles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does it work?</a:t>
            </a:r>
          </a:p>
          <a:p>
            <a:pPr lvl="1"/>
            <a:r>
              <a:rPr lang="en-US" dirty="0"/>
              <a:t>When you type the command 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  <a:r>
              <a:rPr lang="en-US" dirty="0"/>
              <a:t>” the operating system looks for a file called either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makefile</a:t>
            </a:r>
            <a:r>
              <a:rPr lang="en-US" dirty="0"/>
              <a:t>” or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Makefile</a:t>
            </a:r>
            <a:r>
              <a:rPr lang="en-US" dirty="0"/>
              <a:t>”. </a:t>
            </a:r>
          </a:p>
          <a:p>
            <a:pPr lvl="2"/>
            <a:r>
              <a:rPr lang="en-US" dirty="0"/>
              <a:t>Note: There is no extension to this file – it simply “is” a file.</a:t>
            </a:r>
          </a:p>
          <a:p>
            <a:pPr lvl="3"/>
            <a:r>
              <a:rPr lang="en-US" dirty="0"/>
              <a:t>You can create </a:t>
            </a:r>
            <a:r>
              <a:rPr lang="en-US" dirty="0" err="1"/>
              <a:t>makefiles</a:t>
            </a:r>
            <a:r>
              <a:rPr lang="en-US" dirty="0"/>
              <a:t> with an extension – but you have to do a little more work in order to “use” them.</a:t>
            </a:r>
          </a:p>
          <a:p>
            <a:pPr lvl="1"/>
            <a:r>
              <a:rPr lang="en-US" dirty="0"/>
              <a:t>You need to type the following command:</a:t>
            </a:r>
          </a:p>
          <a:p>
            <a:pPr marL="210312" indent="0" algn="ctr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make –f &lt;filename&gt;.&lt;extension&gt;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7563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Makefiles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This file contains a series of directives that tell the 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  <a:r>
              <a:rPr lang="en-US" dirty="0"/>
              <a:t>” utility how to compile your program and in what order. </a:t>
            </a:r>
          </a:p>
          <a:p>
            <a:endParaRPr lang="en-US" dirty="0"/>
          </a:p>
          <a:p>
            <a:r>
              <a:rPr lang="en-US" dirty="0"/>
              <a:t>Each file will be associated with a list of other files by which it is dependent. </a:t>
            </a:r>
          </a:p>
          <a:p>
            <a:pPr lvl="1"/>
            <a:r>
              <a:rPr lang="en-US" dirty="0"/>
              <a:t>This is called a dependency line. </a:t>
            </a:r>
          </a:p>
          <a:p>
            <a:endParaRPr lang="en-US" dirty="0"/>
          </a:p>
          <a:p>
            <a:r>
              <a:rPr lang="en-US" dirty="0"/>
              <a:t>If any of the associated files have been recently modified, the make utility will execute a directive command just below the dependency line.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0484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Makefiles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  <a:r>
              <a:rPr lang="en-US" dirty="0"/>
              <a:t>” utility is recursive.  </a:t>
            </a:r>
          </a:p>
          <a:p>
            <a:pPr lvl="1"/>
            <a:r>
              <a:rPr lang="en-US" dirty="0"/>
              <a:t>For instance, if a very low level utility is the only thing changed, it could cause all of the modules within a program to be re-compiled – depending on the relationship between the utility and the other files/components.</a:t>
            </a:r>
          </a:p>
          <a:p>
            <a:endParaRPr lang="en-US" dirty="0"/>
          </a:p>
          <a:p>
            <a:r>
              <a:rPr lang="en-US" dirty="0"/>
              <a:t>After the utility finishes the file, it goes through and checks all of the dependencies again to make sure all are up to date.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5249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Makefiles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Example:</a:t>
            </a:r>
          </a:p>
          <a:p>
            <a:pPr marL="118872" indent="0">
              <a:buNone/>
            </a:pPr>
            <a:endParaRPr lang="en-US" dirty="0"/>
          </a:p>
          <a:p>
            <a:pPr>
              <a:buNone/>
            </a:pP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HelloWorld.o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: HelloWorld.cpp </a:t>
            </a:r>
          </a:p>
          <a:p>
            <a:pPr>
              <a:buNone/>
            </a:pPr>
            <a:r>
              <a:rPr lang="en-US" altLang="en-US" dirty="0">
                <a:latin typeface="Courier New" pitchFamily="49" charset="0"/>
                <a:cs typeface="Courier New" pitchFamily="49" charset="0"/>
              </a:rPr>
              <a:t>		g++ -c HelloWorld.cpp </a:t>
            </a:r>
          </a:p>
          <a:p>
            <a:pPr>
              <a:buNone/>
            </a:pPr>
            <a:endParaRPr lang="en-US" altLang="en-US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en-US" dirty="0">
                <a:latin typeface="Courier New" pitchFamily="49" charset="0"/>
                <a:cs typeface="Courier New" pitchFamily="49" charset="0"/>
              </a:rPr>
              <a:t>clean: </a:t>
            </a:r>
          </a:p>
          <a:p>
            <a:pPr>
              <a:buNone/>
            </a:pPr>
            <a:r>
              <a:rPr lang="en-US" altLang="en-US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rm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-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rf</a:t>
            </a:r>
            <a:r>
              <a:rPr lang="en-US" altLang="en-US">
                <a:latin typeface="Courier New" pitchFamily="49" charset="0"/>
                <a:cs typeface="Courier New" pitchFamily="49" charset="0"/>
              </a:rPr>
              <a:t> *.o 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HelloWorld</a:t>
            </a:r>
          </a:p>
          <a:p>
            <a:pPr marL="11887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8184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Makefiles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is the makeup of a traditional </a:t>
            </a:r>
            <a:r>
              <a:rPr lang="en-US" dirty="0" err="1"/>
              <a:t>Makefile</a:t>
            </a:r>
            <a:r>
              <a:rPr lang="en-US" dirty="0"/>
              <a:t>?</a:t>
            </a:r>
          </a:p>
          <a:p>
            <a:endParaRPr lang="en-US" dirty="0"/>
          </a:p>
          <a:p>
            <a:pPr marL="633222" indent="-514350">
              <a:buFont typeface="+mj-lt"/>
              <a:buAutoNum type="arabicPeriod"/>
            </a:pPr>
            <a:r>
              <a:rPr lang="en-US" dirty="0"/>
              <a:t>Comments</a:t>
            </a:r>
          </a:p>
          <a:p>
            <a:pPr marL="633222" indent="-514350">
              <a:buFont typeface="+mj-lt"/>
              <a:buAutoNum type="arabicPeriod"/>
            </a:pPr>
            <a:r>
              <a:rPr lang="en-US" dirty="0"/>
              <a:t>Rules</a:t>
            </a:r>
          </a:p>
          <a:p>
            <a:pPr marL="633222" indent="-514350">
              <a:buFont typeface="+mj-lt"/>
              <a:buAutoNum type="arabicPeriod"/>
            </a:pPr>
            <a:r>
              <a:rPr lang="en-US" dirty="0"/>
              <a:t>Dependency Lines</a:t>
            </a:r>
          </a:p>
          <a:p>
            <a:pPr marL="633222" indent="-514350">
              <a:buFont typeface="+mj-lt"/>
              <a:buAutoNum type="arabicPeriod"/>
            </a:pPr>
            <a:r>
              <a:rPr lang="en-US" dirty="0"/>
              <a:t>Shell Lines</a:t>
            </a:r>
          </a:p>
          <a:p>
            <a:pPr marL="633222" indent="-514350">
              <a:buFont typeface="+mj-lt"/>
              <a:buAutoNum type="arabicPeriod"/>
            </a:pPr>
            <a:r>
              <a:rPr lang="en-US" dirty="0"/>
              <a:t>Macros</a:t>
            </a:r>
          </a:p>
          <a:p>
            <a:pPr marL="633222" indent="-514350">
              <a:buFont typeface="+mj-lt"/>
              <a:buAutoNum type="arabicPeriod"/>
            </a:pPr>
            <a:r>
              <a:rPr lang="en-US" dirty="0"/>
              <a:t>Inference Rules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6878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</a:t>
            </a:r>
            <a:r>
              <a:rPr lang="en-US" b="1" u="sng" dirty="0"/>
              <a:t>comment</a:t>
            </a:r>
            <a:r>
              <a:rPr lang="en-US" dirty="0"/>
              <a:t> is indicated by the character 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dirty="0"/>
              <a:t>”.  </a:t>
            </a:r>
          </a:p>
          <a:p>
            <a:pPr lvl="1"/>
            <a:r>
              <a:rPr lang="en-US" dirty="0"/>
              <a:t>All text that appears after it will be ignored by the make utility until the end of line is detected. </a:t>
            </a:r>
          </a:p>
          <a:p>
            <a:endParaRPr lang="en-US" dirty="0"/>
          </a:p>
          <a:p>
            <a:r>
              <a:rPr lang="en-US" dirty="0"/>
              <a:t>Comments can start anywhere.  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pPr marL="45720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</a:p>
          <a:p>
            <a:pPr marL="45720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This is a comment</a:t>
            </a:r>
          </a:p>
          <a:p>
            <a:pPr marL="45720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g++ HelloWorld.cpp # This is also a valid comment.</a:t>
            </a:r>
          </a:p>
          <a:p>
            <a:pPr marL="11887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2399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u="sng" dirty="0"/>
              <a:t>Rules</a:t>
            </a:r>
            <a:r>
              <a:rPr lang="en-US" dirty="0"/>
              <a:t> tell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  <a:r>
              <a:rPr lang="en-US" dirty="0"/>
              <a:t> when and how to make a file.  </a:t>
            </a:r>
          </a:p>
          <a:p>
            <a:pPr lvl="1"/>
            <a:r>
              <a:rPr lang="en-US" dirty="0"/>
              <a:t>The format is as follows:</a:t>
            </a:r>
          </a:p>
          <a:p>
            <a:pPr lvl="2"/>
            <a:r>
              <a:rPr lang="en-US" dirty="0"/>
              <a:t>A rule must have a dependency line and may have an action or shell line after it.  The action line is executed if the dependency line is out of date. 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pPr marL="118872" indent="0">
              <a:buNone/>
            </a:pPr>
            <a:endParaRPr lang="en-US" dirty="0"/>
          </a:p>
          <a:p>
            <a:pPr marL="118872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HelloWorld.cpp 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g++ -c HelloWorld.cpp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0352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18872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HelloWorld.cpp 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g++ -c HelloWorld.cpp </a:t>
            </a:r>
          </a:p>
          <a:p>
            <a:pPr marL="118872" indent="0">
              <a:buNone/>
            </a:pPr>
            <a:endParaRPr lang="en-US" dirty="0"/>
          </a:p>
          <a:p>
            <a:r>
              <a:rPr lang="en-US" dirty="0"/>
              <a:t>This shows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hello.o</a:t>
            </a:r>
            <a:r>
              <a:rPr lang="en-US" dirty="0"/>
              <a:t>  as a module that requires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hello.cpp</a:t>
            </a:r>
            <a:r>
              <a:rPr lang="en-US" dirty="0"/>
              <a:t> as a dependency.  If the last modified date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HelloWorld.cpp</a:t>
            </a:r>
            <a:r>
              <a:rPr lang="en-US" dirty="0"/>
              <a:t> is newer than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hello.o</a:t>
            </a:r>
            <a:r>
              <a:rPr lang="en-US" dirty="0"/>
              <a:t>, than the next line (shell line) is executed. </a:t>
            </a:r>
          </a:p>
          <a:p>
            <a:pPr lvl="1"/>
            <a:r>
              <a:rPr lang="en-US" dirty="0"/>
              <a:t>Together, these two lines form a rule.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995009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lines with a 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dirty="0"/>
              <a:t>” are called </a:t>
            </a:r>
            <a:r>
              <a:rPr lang="en-US" b="1" u="sng" dirty="0"/>
              <a:t>dependency lines</a:t>
            </a:r>
            <a:r>
              <a:rPr lang="en-US" dirty="0"/>
              <a:t>.  </a:t>
            </a:r>
          </a:p>
          <a:p>
            <a:pPr lvl="1"/>
            <a:r>
              <a:rPr lang="en-US" dirty="0"/>
              <a:t>To the left of the colon are the dependencies</a:t>
            </a:r>
          </a:p>
          <a:p>
            <a:pPr lvl="1"/>
            <a:r>
              <a:rPr lang="en-US" dirty="0"/>
              <a:t>To the right are the sources needed to make the dependency. </a:t>
            </a:r>
          </a:p>
          <a:p>
            <a:endParaRPr lang="en-US" dirty="0"/>
          </a:p>
          <a:p>
            <a:r>
              <a:rPr lang="en-US" dirty="0"/>
              <a:t>At the running of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  <a:r>
              <a:rPr lang="en-US" dirty="0"/>
              <a:t> utility, the time and date when the executable was last built are compared to the dates when dependencies were built.  </a:t>
            </a:r>
          </a:p>
        </p:txBody>
      </p:sp>
    </p:spTree>
    <p:extLst>
      <p:ext uri="{BB962C8B-B14F-4D97-AF65-F5344CB8AC3E}">
        <p14:creationId xmlns:p14="http://schemas.microsoft.com/office/powerpoint/2010/main" val="9675813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make process is </a:t>
            </a:r>
            <a:r>
              <a:rPr lang="en-US" i="1" dirty="0"/>
              <a:t>recursive</a:t>
            </a:r>
            <a:r>
              <a:rPr lang="en-US" dirty="0"/>
              <a:t> in that it will check all dependencies to make sure they are not out of date before completing the build process. </a:t>
            </a:r>
          </a:p>
          <a:p>
            <a:pPr lvl="1"/>
            <a:r>
              <a:rPr lang="en-US" dirty="0"/>
              <a:t>Note: It is important that all dependencies be placed in a descending order in the file. </a:t>
            </a:r>
          </a:p>
          <a:p>
            <a:endParaRPr lang="en-US" dirty="0"/>
          </a:p>
          <a:p>
            <a:r>
              <a:rPr lang="en-US" dirty="0"/>
              <a:t>Some files may have the same dependencies. </a:t>
            </a:r>
          </a:p>
        </p:txBody>
      </p:sp>
    </p:spTree>
    <p:extLst>
      <p:ext uri="{BB962C8B-B14F-4D97-AF65-F5344CB8AC3E}">
        <p14:creationId xmlns:p14="http://schemas.microsoft.com/office/powerpoint/2010/main" val="17640963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Shell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indented lines (</a:t>
            </a:r>
            <a:r>
              <a:rPr lang="en-US" b="1" u="sng" dirty="0"/>
              <a:t>must</a:t>
            </a:r>
            <a:r>
              <a:rPr lang="en-US" dirty="0"/>
              <a:t> have tab) that follow each dependency line are called </a:t>
            </a:r>
            <a:r>
              <a:rPr lang="en-US" b="1" u="sng" dirty="0"/>
              <a:t>shell lines</a:t>
            </a:r>
            <a:r>
              <a:rPr lang="en-US" dirty="0"/>
              <a:t>.  </a:t>
            </a:r>
          </a:p>
          <a:p>
            <a:endParaRPr lang="en-US" dirty="0"/>
          </a:p>
          <a:p>
            <a:r>
              <a:rPr lang="en-US" dirty="0"/>
              <a:t>Shell lines tell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  <a:r>
              <a:rPr lang="en-US" dirty="0"/>
              <a:t> how to build the target. </a:t>
            </a:r>
          </a:p>
          <a:p>
            <a:pPr lvl="1"/>
            <a:r>
              <a:rPr lang="en-US" dirty="0"/>
              <a:t>A target can have more than one shell line.  Each line must be preceded by a tab. </a:t>
            </a:r>
          </a:p>
          <a:p>
            <a:endParaRPr lang="en-US" dirty="0"/>
          </a:p>
          <a:p>
            <a:r>
              <a:rPr lang="en-US" dirty="0"/>
              <a:t>After each shell is executed,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  <a:r>
              <a:rPr lang="en-US" dirty="0"/>
              <a:t> checks to see if it was completed without error.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4401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 </a:t>
            </a:r>
            <a:r>
              <a:rPr lang="en-US" b="1" u="sng" dirty="0"/>
              <a:t>macro</a:t>
            </a:r>
            <a:r>
              <a:rPr lang="en-US" dirty="0"/>
              <a:t> is a shorthand, or alias, used in the </a:t>
            </a:r>
            <a:r>
              <a:rPr lang="en-US" dirty="0" err="1"/>
              <a:t>makefile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 string is associated with another usually larger string.</a:t>
            </a:r>
          </a:p>
          <a:p>
            <a:endParaRPr lang="en-US" dirty="0"/>
          </a:p>
          <a:p>
            <a:r>
              <a:rPr lang="en-US" dirty="0"/>
              <a:t>Inside the file, to expand a macro, you have to place the string inside of:  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$(    )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pPr marL="118872" indent="0"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HOME = /home/fall2020/cs341</a:t>
            </a:r>
          </a:p>
          <a:p>
            <a:pPr marL="118872" indent="0"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CPP = $(HOME)/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cpp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8618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b="1" u="sng" dirty="0"/>
              <a:t>Inference rules</a:t>
            </a:r>
            <a:r>
              <a:rPr lang="en-US" altLang="en-US" dirty="0"/>
              <a:t> are a method of generalizing the build process.  </a:t>
            </a:r>
          </a:p>
          <a:p>
            <a:pPr lvl="1"/>
            <a:r>
              <a:rPr lang="en-US" altLang="en-US" dirty="0"/>
              <a:t>Wildcards </a:t>
            </a:r>
          </a:p>
          <a:p>
            <a:endParaRPr lang="en-US" altLang="en-US" dirty="0"/>
          </a:p>
          <a:p>
            <a:r>
              <a:rPr lang="en-US" altLang="en-US" dirty="0"/>
              <a:t>The “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en-US" dirty="0"/>
              <a:t>” is used to indicate a wild card. </a:t>
            </a:r>
          </a:p>
          <a:p>
            <a:endParaRPr lang="en-US" altLang="en-US" dirty="0"/>
          </a:p>
          <a:p>
            <a:r>
              <a:rPr lang="en-US" altLang="en-US" dirty="0"/>
              <a:t>Examples:</a:t>
            </a:r>
          </a:p>
          <a:p>
            <a:pPr lvl="1"/>
            <a:r>
              <a:rPr lang="en-US" altLang="en-US" dirty="0"/>
              <a:t>The following will look at all .o and .</a:t>
            </a:r>
            <a:r>
              <a:rPr lang="en-US" altLang="en-US" dirty="0" err="1"/>
              <a:t>cpp</a:t>
            </a:r>
            <a:r>
              <a:rPr lang="en-US" altLang="en-US" dirty="0"/>
              <a:t> files</a:t>
            </a:r>
          </a:p>
          <a:p>
            <a:pPr marL="118872" indent="0" algn="ctr"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: *.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cpp</a:t>
            </a:r>
          </a:p>
          <a:p>
            <a:pPr marL="11887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6959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Makefile</a:t>
            </a:r>
            <a:r>
              <a:rPr lang="en-US" dirty="0"/>
              <a:t> Example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In-Class Exercise</a:t>
            </a:r>
          </a:p>
        </p:txBody>
      </p:sp>
    </p:spTree>
    <p:extLst>
      <p:ext uri="{BB962C8B-B14F-4D97-AF65-F5344CB8AC3E}">
        <p14:creationId xmlns:p14="http://schemas.microsoft.com/office/powerpoint/2010/main" val="2740521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Makefile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18872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TestMe.exe: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Driver.o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Rectangle.o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g++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Driver.o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Rectangle.o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-o TestMe.exe</a:t>
            </a:r>
          </a:p>
          <a:p>
            <a:pPr marL="118872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Driver.o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 Driver.cpp	</a:t>
            </a:r>
          </a:p>
          <a:p>
            <a:pPr marL="118872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g++ -c Driver.cpp -o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Driver.o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Rectangle.o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 Rectangle.cpp	</a:t>
            </a:r>
          </a:p>
          <a:p>
            <a:pPr marL="118872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g++ -c Rectangle.cpp -o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Rectangle.o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clean:	</a:t>
            </a:r>
          </a:p>
          <a:p>
            <a:pPr marL="118872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-f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Driver.o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Rectangle.o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TestMe.exe</a:t>
            </a:r>
          </a:p>
        </p:txBody>
      </p:sp>
    </p:spTree>
    <p:extLst>
      <p:ext uri="{BB962C8B-B14F-4D97-AF65-F5344CB8AC3E}">
        <p14:creationId xmlns:p14="http://schemas.microsoft.com/office/powerpoint/2010/main" val="11743135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Makefiles</a:t>
            </a:r>
            <a:r>
              <a:rPr lang="en-US" dirty="0"/>
              <a:t>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will be using </a:t>
            </a:r>
            <a:r>
              <a:rPr lang="en-US" dirty="0" err="1"/>
              <a:t>Makefiles</a:t>
            </a:r>
            <a:r>
              <a:rPr lang="en-US" dirty="0"/>
              <a:t> for the remainder of the semester.</a:t>
            </a:r>
          </a:p>
          <a:p>
            <a:pPr lvl="1"/>
            <a:r>
              <a:rPr lang="en-US" dirty="0"/>
              <a:t>We will also,  if time allows, look at a tool that will help us automatically create </a:t>
            </a:r>
            <a:r>
              <a:rPr lang="en-US" dirty="0" err="1"/>
              <a:t>Makefiles</a:t>
            </a:r>
            <a:r>
              <a:rPr lang="en-US" dirty="0"/>
              <a:t> to further reduce some of the unneeded complexity.</a:t>
            </a:r>
          </a:p>
          <a:p>
            <a:pPr lvl="2"/>
            <a:r>
              <a:rPr lang="en-US" dirty="0"/>
              <a:t>MPC</a:t>
            </a:r>
          </a:p>
          <a:p>
            <a:pPr lvl="2"/>
            <a:endParaRPr lang="en-US" dirty="0"/>
          </a:p>
          <a:p>
            <a:r>
              <a:rPr lang="en-US" dirty="0" err="1"/>
              <a:t>Makefiles</a:t>
            </a:r>
            <a:r>
              <a:rPr lang="en-US" dirty="0"/>
              <a:t> are not just for C/C++ but they are most commonly found with these two languages due to the build process.</a:t>
            </a:r>
          </a:p>
        </p:txBody>
      </p:sp>
    </p:spTree>
    <p:extLst>
      <p:ext uri="{BB962C8B-B14F-4D97-AF65-F5344CB8AC3E}">
        <p14:creationId xmlns:p14="http://schemas.microsoft.com/office/powerpoint/2010/main" val="12791900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282825"/>
            <a:ext cx="7772400" cy="1470025"/>
          </a:xfrm>
        </p:spPr>
        <p:txBody>
          <a:bodyPr/>
          <a:lstStyle/>
          <a:p>
            <a:r>
              <a:rPr lang="en-US" dirty="0"/>
              <a:t>File I/O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038600"/>
            <a:ext cx="6400800" cy="1752600"/>
          </a:xfrm>
        </p:spPr>
        <p:txBody>
          <a:bodyPr/>
          <a:lstStyle/>
          <a:p>
            <a:r>
              <a:rPr lang="en-US" dirty="0"/>
              <a:t>C++ Review</a:t>
            </a:r>
          </a:p>
        </p:txBody>
      </p:sp>
    </p:spTree>
    <p:extLst>
      <p:ext uri="{BB962C8B-B14F-4D97-AF65-F5344CB8AC3E}">
        <p14:creationId xmlns:p14="http://schemas.microsoft.com/office/powerpoint/2010/main" val="20777818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File Stream</a:t>
            </a:r>
          </a:p>
          <a:p>
            <a:pPr lvl="1"/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ifstream</a:t>
            </a:r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dirty="0"/>
          </a:p>
          <a:p>
            <a:r>
              <a:rPr lang="en-US" dirty="0"/>
              <a:t>Output File Stream</a:t>
            </a:r>
          </a:p>
          <a:p>
            <a:pPr lvl="1"/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ofstream</a:t>
            </a:r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dirty="0"/>
          </a:p>
          <a:p>
            <a:r>
              <a:rPr lang="en-US" dirty="0"/>
              <a:t>These are similar in nature to the traditional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and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dirty="0"/>
              <a:t> we have been using.</a:t>
            </a:r>
          </a:p>
        </p:txBody>
      </p:sp>
    </p:spTree>
    <p:extLst>
      <p:ext uri="{BB962C8B-B14F-4D97-AF65-F5344CB8AC3E}">
        <p14:creationId xmlns:p14="http://schemas.microsoft.com/office/powerpoint/2010/main" val="30226551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 order to use these streams we need to first include the proper library – in this case it is the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fstream</a:t>
            </a:r>
            <a:r>
              <a:rPr lang="en-US" dirty="0"/>
              <a:t> library.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 algn="ctr">
              <a:buNone/>
            </a:pPr>
            <a:endParaRPr lang="en-US" dirty="0"/>
          </a:p>
          <a:p>
            <a:r>
              <a:rPr lang="en-US" dirty="0"/>
              <a:t>Once we have done that we need to declare the stream we wish to use, we do this through the following command(s):</a:t>
            </a:r>
          </a:p>
          <a:p>
            <a:pPr marL="0" indent="0" algn="ctr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ctr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1772957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output we want to write the contents to a file rather than the terminal (console) window.</a:t>
            </a:r>
          </a:p>
          <a:p>
            <a:endParaRPr lang="en-US" dirty="0"/>
          </a:p>
          <a:p>
            <a:r>
              <a:rPr lang="en-US" dirty="0"/>
              <a:t>In order to create an instance of an output stream we use the following C++ syntax: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outStream.open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(“output.txt”);</a:t>
            </a:r>
          </a:p>
        </p:txBody>
      </p:sp>
    </p:spTree>
    <p:extLst>
      <p:ext uri="{BB962C8B-B14F-4D97-AF65-F5344CB8AC3E}">
        <p14:creationId xmlns:p14="http://schemas.microsoft.com/office/powerpoint/2010/main" val="149887091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Let’s take a look at how we can write out the contents of our program (say one integer) to a file and then save and close that file.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myNumber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(0);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myNumber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looks nearly identical to what we did when we used:</a:t>
            </a:r>
          </a:p>
          <a:p>
            <a:pPr marL="0" indent="0" algn="ctr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</a:t>
            </a:r>
          </a:p>
        </p:txBody>
      </p:sp>
    </p:spTree>
    <p:extLst>
      <p:ext uri="{BB962C8B-B14F-4D97-AF65-F5344CB8AC3E}">
        <p14:creationId xmlns:p14="http://schemas.microsoft.com/office/powerpoint/2010/main" val="33541140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Once we have created our input stream we need to do something with it.</a:t>
            </a:r>
          </a:p>
          <a:p>
            <a:pPr lvl="1"/>
            <a:r>
              <a:rPr lang="en-US" dirty="0"/>
              <a:t>In order to read a book we must first open it, right?</a:t>
            </a:r>
          </a:p>
          <a:p>
            <a:pPr lvl="1"/>
            <a:endParaRPr lang="en-US" dirty="0"/>
          </a:p>
          <a:p>
            <a:r>
              <a:rPr lang="en-US" dirty="0"/>
              <a:t>We need to open our file using our stream. We accomplish this through the following syntax: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inStream.open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(“myFile.txt”);</a:t>
            </a:r>
          </a:p>
        </p:txBody>
      </p:sp>
    </p:spTree>
    <p:extLst>
      <p:ext uri="{BB962C8B-B14F-4D97-AF65-F5344CB8AC3E}">
        <p14:creationId xmlns:p14="http://schemas.microsoft.com/office/powerpoint/2010/main" val="32753531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We can also combine the opening of our file with the declaring of our instance of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ifstream</a:t>
            </a:r>
            <a:r>
              <a:rPr lang="en-US" dirty="0"/>
              <a:t> through the following C++ syntax: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(“myFile.txt”);</a:t>
            </a:r>
          </a:p>
          <a:p>
            <a:pPr marL="0" indent="0" algn="ctr">
              <a:buNone/>
            </a:pPr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Once we have opened our file we are ready to begin the process of reading in its contents into our program.</a:t>
            </a:r>
          </a:p>
        </p:txBody>
      </p:sp>
    </p:spTree>
    <p:extLst>
      <p:ext uri="{BB962C8B-B14F-4D97-AF65-F5344CB8AC3E}">
        <p14:creationId xmlns:p14="http://schemas.microsoft.com/office/powerpoint/2010/main" val="10095090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Let’s take a look at how we could read in the contents (say one integer) and store it in an integer variable within our program: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myNumber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(0);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&gt;&gt;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myNumber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This looks nearly identical to what we did when we used:</a:t>
            </a:r>
          </a:p>
          <a:p>
            <a:pPr marL="0" indent="0" algn="ctr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&gt;&gt;</a:t>
            </a:r>
          </a:p>
        </p:txBody>
      </p:sp>
    </p:spTree>
    <p:extLst>
      <p:ext uri="{BB962C8B-B14F-4D97-AF65-F5344CB8AC3E}">
        <p14:creationId xmlns:p14="http://schemas.microsoft.com/office/powerpoint/2010/main" val="205132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output we want to write the contents to a file rather than the terminal (console) window.</a:t>
            </a:r>
          </a:p>
          <a:p>
            <a:endParaRPr lang="en-US" dirty="0"/>
          </a:p>
          <a:p>
            <a:r>
              <a:rPr lang="en-US" dirty="0"/>
              <a:t>In order to create an instance of an output stream we use the following C++ syntax: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outStream.open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(“output.txt”);</a:t>
            </a:r>
          </a:p>
        </p:txBody>
      </p:sp>
    </p:spTree>
    <p:extLst>
      <p:ext uri="{BB962C8B-B14F-4D97-AF65-F5344CB8AC3E}">
        <p14:creationId xmlns:p14="http://schemas.microsoft.com/office/powerpoint/2010/main" val="25795114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Let’s take a look at how we can write out the contents of our program (say one integer) to a file and then save and close that file.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myNumber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(0);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myNumber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looks nearly identical to what we did when we used:</a:t>
            </a:r>
          </a:p>
          <a:p>
            <a:pPr marL="0" indent="0" algn="ctr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</a:t>
            </a:r>
          </a:p>
        </p:txBody>
      </p:sp>
    </p:spTree>
    <p:extLst>
      <p:ext uri="{BB962C8B-B14F-4D97-AF65-F5344CB8AC3E}">
        <p14:creationId xmlns:p14="http://schemas.microsoft.com/office/powerpoint/2010/main" val="40171345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Every file should be closed when you finish working with it.</a:t>
            </a:r>
          </a:p>
          <a:p>
            <a:pPr lvl="1"/>
            <a:r>
              <a:rPr lang="en-US" dirty="0"/>
              <a:t>This goes for both reading and writing.</a:t>
            </a:r>
          </a:p>
          <a:p>
            <a:pPr lvl="1"/>
            <a:endParaRPr lang="en-US" dirty="0"/>
          </a:p>
          <a:p>
            <a:r>
              <a:rPr lang="en-US" dirty="0"/>
              <a:t>This is </a:t>
            </a:r>
            <a:r>
              <a:rPr lang="en-US" b="1" u="sng" dirty="0"/>
              <a:t>vitally</a:t>
            </a:r>
            <a:r>
              <a:rPr lang="en-US" dirty="0"/>
              <a:t> important to avoid data corruption.</a:t>
            </a:r>
          </a:p>
          <a:p>
            <a:endParaRPr lang="en-US" dirty="0"/>
          </a:p>
          <a:p>
            <a:r>
              <a:rPr lang="en-US" dirty="0"/>
              <a:t>This can be done with the following C++ syntax:</a:t>
            </a:r>
          </a:p>
          <a:p>
            <a:pPr marL="0" indent="0" algn="ctr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inStream.close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algn="ctr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outStream.close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7767482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40000" lnSpcReduction="20000"/>
          </a:bodyPr>
          <a:lstStyle/>
          <a:p>
            <a:r>
              <a:rPr lang="en-US" sz="8600" dirty="0"/>
              <a:t>Let’s begin by writing to a file – as that tends to be easier…</a:t>
            </a:r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</a:endParaRP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118872" indent="0">
              <a:buNone/>
            </a:pPr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 ()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 Creates a new instance of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 Creates/Opens the file.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myfile.open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("example.txt");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 "Prints/Writes" the contents to the file.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"Writing to file.\n";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 Always be sure to close your stream…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myfile.close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0;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59582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32500" lnSpcReduction="20000"/>
          </a:bodyPr>
          <a:lstStyle/>
          <a:p>
            <a:r>
              <a:rPr lang="en-US" sz="8600" dirty="0"/>
              <a:t>More complex reading…</a:t>
            </a:r>
          </a:p>
          <a:p>
            <a:pPr marL="0" indent="0">
              <a:buNone/>
            </a:pPr>
            <a:endParaRPr lang="en-US" sz="8600" dirty="0"/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&lt;string&gt;</a:t>
            </a:r>
          </a:p>
          <a:p>
            <a:pPr marL="118872" indent="0">
              <a:buNone/>
            </a:pPr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 ()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::string line;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inputFile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("example.txt");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 (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inputFile.is_open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while (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getline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inputFile,line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line &lt;&lt;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inputFile.close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else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"Unable to open file" &lt;&lt;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0;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4344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File I/O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we check to see if we have reached the end of our file?</a:t>
            </a:r>
          </a:p>
          <a:p>
            <a:pPr lvl="1"/>
            <a:r>
              <a:rPr lang="en-US" dirty="0"/>
              <a:t>We need to check to see if there is anything else to read-in.</a:t>
            </a:r>
          </a:p>
          <a:p>
            <a:pPr lvl="1"/>
            <a:endParaRPr lang="en-US" dirty="0"/>
          </a:p>
          <a:p>
            <a:pPr marL="514350" indent="-457200"/>
            <a:r>
              <a:rPr lang="en-US" dirty="0"/>
              <a:t>We can achieve this in C++ through the following method:</a:t>
            </a:r>
          </a:p>
          <a:p>
            <a:pPr marL="57150" indent="0" algn="ctr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inputFile.eof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26014752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File I/O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This method checks to see if the end of file (</a:t>
            </a:r>
            <a:r>
              <a:rPr lang="en-US" dirty="0" err="1"/>
              <a:t>eof</a:t>
            </a:r>
            <a:r>
              <a:rPr lang="en-US" dirty="0"/>
              <a:t>) has been reached.</a:t>
            </a:r>
          </a:p>
          <a:p>
            <a:pPr lvl="1"/>
            <a:r>
              <a:rPr lang="en-US" dirty="0"/>
              <a:t>It returns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/>
              <a:t> if the end of file has been reached otherwise it returns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dirty="0"/>
              <a:t>This will allow us to loop and read-in, line-by-line, the contents of the file and use our wonderful File I/O skills in C++ to retrieve and store the data.</a:t>
            </a:r>
          </a:p>
        </p:txBody>
      </p:sp>
    </p:spTree>
    <p:extLst>
      <p:ext uri="{BB962C8B-B14F-4D97-AF65-F5344CB8AC3E}">
        <p14:creationId xmlns:p14="http://schemas.microsoft.com/office/powerpoint/2010/main" val="223457039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What if we want to open a file that the user has specified?</a:t>
            </a:r>
          </a:p>
          <a:p>
            <a:pPr lvl="1"/>
            <a:r>
              <a:rPr lang="en-US" dirty="0"/>
              <a:t>Up until now all we have done is give it a string (“testFile.txt”) and let it do its thing.</a:t>
            </a:r>
          </a:p>
          <a:p>
            <a:pPr lvl="1"/>
            <a:endParaRPr lang="en-US" dirty="0"/>
          </a:p>
          <a:p>
            <a:r>
              <a:rPr lang="en-US" dirty="0"/>
              <a:t>If I want to collect input from the user and store it in a string variable I am left with an error message as C++ doesn’t know how to treat that user entered string.</a:t>
            </a:r>
          </a:p>
          <a:p>
            <a:pPr lvl="1"/>
            <a:r>
              <a:rPr lang="en-US" dirty="0"/>
              <a:t>We need to take an additional step…</a:t>
            </a:r>
          </a:p>
        </p:txBody>
      </p:sp>
    </p:spTree>
    <p:extLst>
      <p:ext uri="{BB962C8B-B14F-4D97-AF65-F5344CB8AC3E}">
        <p14:creationId xmlns:p14="http://schemas.microsoft.com/office/powerpoint/2010/main" val="16341025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File I/O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order to allow C++ to be “ok” with our filename we have to take an additional step to help it out.</a:t>
            </a:r>
          </a:p>
          <a:p>
            <a:pPr marL="0" indent="0" algn="ctr">
              <a:buNone/>
            </a:pPr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fileName.c_str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algn="ctr">
              <a:buNone/>
            </a:pPr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This will allow the language to let us use the string (or file name) that the user has typed in and specified at the console command prompt.</a:t>
            </a:r>
          </a:p>
          <a:p>
            <a:pPr marL="0" indent="0" algn="ctr">
              <a:buNone/>
            </a:pPr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00022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What happens if something goes wrong when opening the file?</a:t>
            </a:r>
          </a:p>
          <a:p>
            <a:pPr lvl="1"/>
            <a:r>
              <a:rPr lang="en-US" dirty="0"/>
              <a:t>We need to check to ensure that we can open the file.</a:t>
            </a:r>
          </a:p>
          <a:p>
            <a:pPr lvl="2"/>
            <a:r>
              <a:rPr lang="en-US" dirty="0"/>
              <a:t>If we can’t open the file – we can’t much read the contents of the file, can we?</a:t>
            </a:r>
          </a:p>
          <a:p>
            <a:pPr lvl="1"/>
            <a:endParaRPr lang="en-US" dirty="0"/>
          </a:p>
          <a:p>
            <a:r>
              <a:rPr lang="en-US" dirty="0"/>
              <a:t>We can achieve this through the inclusion of another library: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cstdlib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583696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cstdlib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inStream.open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("noSuchFile.txt");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if(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inStream.fail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"Input file opening failed" &lt;&lt;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exit(1);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0;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9259840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File I/O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about parsing the data once we have read it in?</a:t>
            </a:r>
          </a:p>
          <a:p>
            <a:pPr lvl="1"/>
            <a:r>
              <a:rPr lang="en-US" dirty="0"/>
              <a:t>Commas, Space, Delimiters, Oh My!</a:t>
            </a:r>
          </a:p>
          <a:p>
            <a:pPr lvl="1"/>
            <a:endParaRPr lang="en-US" dirty="0"/>
          </a:p>
          <a:p>
            <a:r>
              <a:rPr lang="en-US" dirty="0"/>
              <a:t>We can use our traditional File I/O approaches – using the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US" dirty="0"/>
              <a:t> operator.</a:t>
            </a:r>
          </a:p>
          <a:p>
            <a:pPr lvl="1"/>
            <a:r>
              <a:rPr lang="en-US" dirty="0"/>
              <a:t>This will help us out most of the time but may not be an efficient solution when it comes to delimiters or other complex files</a:t>
            </a:r>
          </a:p>
        </p:txBody>
      </p:sp>
    </p:spTree>
    <p:extLst>
      <p:ext uri="{BB962C8B-B14F-4D97-AF65-F5344CB8AC3E}">
        <p14:creationId xmlns:p14="http://schemas.microsoft.com/office/powerpoint/2010/main" val="140096132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File I/O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stringstream</a:t>
            </a:r>
            <a:r>
              <a:rPr lang="en-US" dirty="0"/>
              <a:t> Class is extremely useful in parsing input.</a:t>
            </a:r>
          </a:p>
          <a:p>
            <a:pPr lvl="1"/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 lvl="1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We can actually use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stringstream</a:t>
            </a:r>
            <a:r>
              <a:rPr lang="en-US" dirty="0">
                <a:cs typeface="Courier New" panose="02070309020205020404" pitchFamily="49" charset="0"/>
              </a:rPr>
              <a:t> for more than just files.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All that is required is that we provide (through a parameter) the type of “input” that we wish to parse.</a:t>
            </a:r>
          </a:p>
        </p:txBody>
      </p:sp>
    </p:spTree>
    <p:extLst>
      <p:ext uri="{BB962C8B-B14F-4D97-AF65-F5344CB8AC3E}">
        <p14:creationId xmlns:p14="http://schemas.microsoft.com/office/powerpoint/2010/main" val="281053202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File I/O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following are the key functions that we are interested in (on the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stringstream</a:t>
            </a:r>
            <a:r>
              <a:rPr lang="en-US" dirty="0"/>
              <a:t> class) in your most typical cases.</a:t>
            </a:r>
          </a:p>
          <a:p>
            <a:pPr lvl="1"/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clear()</a:t>
            </a:r>
          </a:p>
          <a:p>
            <a:pPr lvl="2"/>
            <a:r>
              <a:rPr lang="en-US" dirty="0"/>
              <a:t>Clears the </a:t>
            </a:r>
            <a:r>
              <a:rPr lang="en-US" dirty="0" err="1"/>
              <a:t>stringstream</a:t>
            </a:r>
            <a:r>
              <a:rPr lang="en-US" dirty="0"/>
              <a:t> out – we should always do this to ensure we have a clean </a:t>
            </a:r>
            <a:r>
              <a:rPr lang="en-US" dirty="0" err="1"/>
              <a:t>stringstream</a:t>
            </a:r>
            <a:r>
              <a:rPr lang="en-US" dirty="0"/>
              <a:t> to work with.</a:t>
            </a:r>
          </a:p>
          <a:p>
            <a:pPr lvl="1"/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2"/>
            <a:r>
              <a:rPr lang="en-US" dirty="0"/>
              <a:t>Returns the string associated with the </a:t>
            </a:r>
            <a:r>
              <a:rPr lang="en-US" dirty="0" err="1"/>
              <a:t>stringstream</a:t>
            </a:r>
            <a:r>
              <a:rPr lang="en-US" dirty="0"/>
              <a:t> object.</a:t>
            </a:r>
          </a:p>
          <a:p>
            <a:pPr lvl="1"/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(s)</a:t>
            </a:r>
          </a:p>
          <a:p>
            <a:pPr lvl="2"/>
            <a:r>
              <a:rPr lang="en-US" dirty="0"/>
              <a:t>Associates a string to the </a:t>
            </a:r>
            <a:r>
              <a:rPr lang="en-US" dirty="0" err="1"/>
              <a:t>stringstream</a:t>
            </a:r>
            <a:r>
              <a:rPr lang="en-US" dirty="0"/>
              <a:t> object.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95562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File I/O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first step we need to take is to clear the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stringstream</a:t>
            </a:r>
            <a:r>
              <a:rPr lang="en-US" dirty="0"/>
              <a:t> object and to get it ready for our application:</a:t>
            </a:r>
          </a:p>
          <a:p>
            <a:pPr marL="118872" indent="0">
              <a:buNone/>
            </a:pPr>
            <a:endParaRPr lang="en-US" dirty="0"/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Clears the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stringstreams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ss.clear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ss.str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("");</a:t>
            </a:r>
          </a:p>
        </p:txBody>
      </p:sp>
    </p:spTree>
    <p:extLst>
      <p:ext uri="{BB962C8B-B14F-4D97-AF65-F5344CB8AC3E}">
        <p14:creationId xmlns:p14="http://schemas.microsoft.com/office/powerpoint/2010/main" val="63249690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File I/O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next step of the process is the parsing or “tokenization” based upon the delimiter.</a:t>
            </a:r>
          </a:p>
          <a:p>
            <a:pPr lvl="1"/>
            <a:r>
              <a:rPr lang="en-US" dirty="0"/>
              <a:t>This will allow us to parse the data file and pull out the individual pieces of data.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Read in the line from the file.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Specify a comma delimiter</a:t>
            </a:r>
          </a:p>
          <a:p>
            <a:pPr marL="457200" lvl="1" indent="0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getline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number, ',');</a:t>
            </a:r>
          </a:p>
        </p:txBody>
      </p:sp>
    </p:spTree>
    <p:extLst>
      <p:ext uri="{BB962C8B-B14F-4D97-AF65-F5344CB8AC3E}">
        <p14:creationId xmlns:p14="http://schemas.microsoft.com/office/powerpoint/2010/main" val="266146568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File I/O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32500" lnSpcReduction="20000"/>
          </a:bodyPr>
          <a:lstStyle/>
          <a:p>
            <a:pPr marL="118872" indent="0">
              <a:buNone/>
            </a:pP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 () 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number;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::string line;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ifstream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inputFile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("example.txt");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 (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inputFile.is_open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 marL="118872" indent="0">
              <a:buNone/>
            </a:pP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while (</a:t>
            </a:r>
            <a:r>
              <a:rPr lang="en-US" sz="43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43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getline</a:t>
            </a: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43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inputFile,line</a:t>
            </a: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118872" indent="0">
              <a:buNone/>
            </a:pP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</a:p>
          <a:p>
            <a:pPr marL="941832" lvl="3" indent="0">
              <a:buNone/>
            </a:pP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// Read in the line from the file.</a:t>
            </a:r>
          </a:p>
          <a:p>
            <a:pPr marL="941832" lvl="3" indent="0">
              <a:buNone/>
            </a:pP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// Specify a comma delimiter</a:t>
            </a:r>
          </a:p>
          <a:p>
            <a:pPr marL="941832" lvl="3" indent="0">
              <a:buNone/>
            </a:pP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43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43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getline</a:t>
            </a: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43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ss</a:t>
            </a: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number, ',');</a:t>
            </a:r>
          </a:p>
          <a:p>
            <a:pPr marL="118872" indent="0">
              <a:buNone/>
            </a:pPr>
            <a:endParaRPr lang="en-US" sz="37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number &lt;&lt; 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inputFile.close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else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"Unable to open file“ &lt;&lt; 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 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0;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1887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35375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File I/O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went wrong here?</a:t>
            </a:r>
          </a:p>
          <a:p>
            <a:pPr lvl="1"/>
            <a:r>
              <a:rPr lang="en-US" dirty="0"/>
              <a:t>Why did we get the “function not found” error when we tried to compile.</a:t>
            </a:r>
          </a:p>
          <a:p>
            <a:pPr lvl="2"/>
            <a:r>
              <a:rPr lang="en-US" dirty="0"/>
              <a:t>If we use ‘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dirty="0"/>
              <a:t>’ we can simply store the contents into an integer variable.</a:t>
            </a:r>
          </a:p>
          <a:p>
            <a:pPr lvl="2"/>
            <a:endParaRPr lang="en-US" dirty="0"/>
          </a:p>
          <a:p>
            <a:r>
              <a:rPr lang="en-US" dirty="0"/>
              <a:t>When it is read-in from a file using this approach the information is stored as a string.</a:t>
            </a:r>
          </a:p>
          <a:p>
            <a:pPr lvl="1"/>
            <a:r>
              <a:rPr lang="en-US" dirty="0"/>
              <a:t>We need to convert the string to an integer.</a:t>
            </a:r>
          </a:p>
          <a:p>
            <a:pPr lvl="2"/>
            <a:r>
              <a:rPr lang="en-US" dirty="0"/>
              <a:t>How can we achieve this?</a:t>
            </a:r>
          </a:p>
        </p:txBody>
      </p:sp>
    </p:spTree>
    <p:extLst>
      <p:ext uri="{BB962C8B-B14F-4D97-AF65-F5344CB8AC3E}">
        <p14:creationId xmlns:p14="http://schemas.microsoft.com/office/powerpoint/2010/main" val="969759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File I/O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32500" lnSpcReduction="20000"/>
          </a:bodyPr>
          <a:lstStyle/>
          <a:p>
            <a:pPr marL="118872" indent="0">
              <a:buNone/>
            </a:pP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 () 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::string 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string_number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ifstream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inputFile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("example.txt");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 (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inputFile.is_open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 marL="118872" indent="0">
              <a:buNone/>
            </a:pP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while (</a:t>
            </a:r>
            <a:r>
              <a:rPr lang="en-US" sz="43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43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getline</a:t>
            </a: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43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inputFile,line</a:t>
            </a: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118872" indent="0">
              <a:buNone/>
            </a:pP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</a:p>
          <a:p>
            <a:pPr marL="941832" lvl="3" indent="0">
              <a:buNone/>
            </a:pP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// Read in the line from the file.</a:t>
            </a:r>
          </a:p>
          <a:p>
            <a:pPr marL="941832" lvl="3" indent="0">
              <a:buNone/>
            </a:pP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// Specify a comma delimiter</a:t>
            </a:r>
          </a:p>
          <a:p>
            <a:pPr marL="941832" lvl="3" indent="0">
              <a:buNone/>
            </a:pP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43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43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getline</a:t>
            </a: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43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ss</a:t>
            </a: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43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string_number</a:t>
            </a: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',');</a:t>
            </a:r>
          </a:p>
          <a:p>
            <a:pPr marL="118872" indent="0">
              <a:buNone/>
            </a:pPr>
            <a:endParaRPr lang="en-US" sz="37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number &lt;&lt; 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inputFile.close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else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"Unable to open file“ &lt;&lt; 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 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0;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1887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49416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File I/O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We can use the </a:t>
            </a:r>
            <a:r>
              <a:rPr lang="en-US" dirty="0" err="1"/>
              <a:t>stringstream</a:t>
            </a:r>
            <a:r>
              <a:rPr lang="en-US" dirty="0"/>
              <a:t> to continue to parse our data and perform this conversion automatically, if possible, for us.</a:t>
            </a:r>
          </a:p>
          <a:p>
            <a:endParaRPr lang="en-US" dirty="0"/>
          </a:p>
          <a:p>
            <a:r>
              <a:rPr lang="en-US" dirty="0"/>
              <a:t>We need to create a new instance of a </a:t>
            </a:r>
            <a:r>
              <a:rPr lang="en-US" dirty="0" err="1"/>
              <a:t>stringstream</a:t>
            </a:r>
            <a:r>
              <a:rPr lang="en-US" dirty="0"/>
              <a:t> so that we can allow it to automatically, if possible, convert my string to the appropriate type.</a:t>
            </a:r>
          </a:p>
          <a:p>
            <a:pPr marL="118872" indent="0">
              <a:buNone/>
            </a:pPr>
            <a:endParaRPr lang="en-US" dirty="0"/>
          </a:p>
          <a:p>
            <a:pPr marL="118872" indent="0" algn="ctr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converter.clear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118872" indent="0" algn="ctr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converter.str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("");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04382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File I/O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Then we need to provide this string to the </a:t>
            </a:r>
            <a:r>
              <a:rPr lang="en-US" dirty="0" err="1"/>
              <a:t>stringstream</a:t>
            </a:r>
            <a:r>
              <a:rPr lang="en-US" dirty="0"/>
              <a:t> for conversion…</a:t>
            </a:r>
          </a:p>
          <a:p>
            <a:endParaRPr lang="en-US" dirty="0"/>
          </a:p>
          <a:p>
            <a:pPr marL="118872" indent="0" algn="ctr">
              <a:buNone/>
            </a:pPr>
            <a:r>
              <a:rPr 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converter &lt;&lt; </a:t>
            </a:r>
            <a:r>
              <a:rPr lang="en-US" sz="2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string_number</a:t>
            </a:r>
            <a:r>
              <a:rPr 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18872" indent="0">
              <a:buNone/>
            </a:pPr>
            <a:endParaRPr lang="en-US" dirty="0"/>
          </a:p>
          <a:p>
            <a:r>
              <a:rPr lang="en-US" dirty="0"/>
              <a:t>This looks very similar to the same syntax that we saw when we used the ‘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/>
              <a:t>’ command.</a:t>
            </a:r>
          </a:p>
          <a:p>
            <a:pPr lvl="1"/>
            <a:r>
              <a:rPr lang="en-US" dirty="0"/>
              <a:t>Here instead of outputting something to the console we are outputting it to the </a:t>
            </a:r>
            <a:r>
              <a:rPr lang="en-US" dirty="0" err="1"/>
              <a:t>stringstream</a:t>
            </a:r>
            <a:r>
              <a:rPr lang="en-US" dirty="0"/>
              <a:t> object.</a:t>
            </a:r>
          </a:p>
        </p:txBody>
      </p:sp>
    </p:spTree>
    <p:extLst>
      <p:ext uri="{BB962C8B-B14F-4D97-AF65-F5344CB8AC3E}">
        <p14:creationId xmlns:p14="http://schemas.microsoft.com/office/powerpoint/2010/main" val="409356256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File I/O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the </a:t>
            </a:r>
            <a:r>
              <a:rPr lang="en-US" dirty="0" err="1"/>
              <a:t>stringstream</a:t>
            </a:r>
            <a:r>
              <a:rPr lang="en-US" dirty="0"/>
              <a:t> object has our string value that we have read-in we can allow it to do the heavy lifting for us – in terms of conversion.</a:t>
            </a:r>
          </a:p>
          <a:p>
            <a:pPr lvl="1"/>
            <a:r>
              <a:rPr lang="en-US" dirty="0"/>
              <a:t>Again, this is only if it is possible…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 algn="ctr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number;</a:t>
            </a:r>
          </a:p>
          <a:p>
            <a:pPr marL="457200" lvl="1" indent="0" algn="ctr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converter &gt;&gt; number;</a:t>
            </a:r>
          </a:p>
          <a:p>
            <a:pPr marL="457200" lvl="1" indent="0">
              <a:buNone/>
            </a:pPr>
            <a:endParaRPr lang="en-US" dirty="0"/>
          </a:p>
          <a:p>
            <a:pPr marL="118872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07184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File I/O Tutorial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err="1">
                <a:solidFill>
                  <a:srgbClr val="00B050"/>
                </a:solidFill>
              </a:rPr>
              <a:t>Stringstream</a:t>
            </a:r>
            <a:r>
              <a:rPr lang="en-US" dirty="0"/>
              <a:t> is a very powerful class/library in C++.</a:t>
            </a:r>
          </a:p>
          <a:p>
            <a:pPr lvl="1"/>
            <a:r>
              <a:rPr lang="en-US" dirty="0"/>
              <a:t>It allows for robust string manipulation.</a:t>
            </a:r>
          </a:p>
          <a:p>
            <a:pPr lvl="1"/>
            <a:endParaRPr lang="en-US" dirty="0"/>
          </a:p>
          <a:p>
            <a:r>
              <a:rPr lang="en-US" dirty="0"/>
              <a:t>We must remember how strings are stored and maintained in C++.</a:t>
            </a:r>
          </a:p>
          <a:p>
            <a:pPr lvl="1"/>
            <a:r>
              <a:rPr lang="en-US" dirty="0"/>
              <a:t>But we don’t really know this fundamentally yet – we just know they aren’t primitives.</a:t>
            </a:r>
          </a:p>
          <a:p>
            <a:endParaRPr lang="en-US" dirty="0"/>
          </a:p>
          <a:p>
            <a:r>
              <a:rPr lang="en-US" dirty="0"/>
              <a:t>String manipulation is something we have done since our very first C++ program – we just now better understand the semantics.</a:t>
            </a:r>
          </a:p>
        </p:txBody>
      </p:sp>
    </p:spTree>
    <p:extLst>
      <p:ext uri="{BB962C8B-B14F-4D97-AF65-F5344CB8AC3E}">
        <p14:creationId xmlns:p14="http://schemas.microsoft.com/office/powerpoint/2010/main" val="415984192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5C009-B189-4362-B3B7-7EA766D0D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42118"/>
            <a:ext cx="8229600" cy="5973763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496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34697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4554</TotalTime>
  <Words>4716</Words>
  <Application>Microsoft Office PowerPoint</Application>
  <PresentationFormat>On-screen Show (4:3)</PresentationFormat>
  <Paragraphs>610</Paragraphs>
  <Slides>80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5" baseType="lpstr">
      <vt:lpstr>Arial</vt:lpstr>
      <vt:lpstr>Calibri</vt:lpstr>
      <vt:lpstr>Courier New</vt:lpstr>
      <vt:lpstr>Wingdings</vt:lpstr>
      <vt:lpstr>Office Theme</vt:lpstr>
      <vt:lpstr>Lecture – 9/8/2025</vt:lpstr>
      <vt:lpstr>C++ Review: Destructor</vt:lpstr>
      <vt:lpstr>C++ Review: Destructor</vt:lpstr>
      <vt:lpstr>C++ Review: Destructor</vt:lpstr>
      <vt:lpstr>C++ Review</vt:lpstr>
      <vt:lpstr>GIT Overview</vt:lpstr>
      <vt:lpstr>GIT</vt:lpstr>
      <vt:lpstr>GitHub Introduction</vt:lpstr>
      <vt:lpstr>GitHub</vt:lpstr>
      <vt:lpstr>PowerPoint Presentation</vt:lpstr>
      <vt:lpstr>GitHub Exercise</vt:lpstr>
      <vt:lpstr>GitHub – Step 1</vt:lpstr>
      <vt:lpstr>GitHub – Step 2</vt:lpstr>
      <vt:lpstr>GitHub – Step 3</vt:lpstr>
      <vt:lpstr>GitHub – Step 4 (Part I)</vt:lpstr>
      <vt:lpstr>GitHub – Step 4 (Part II)</vt:lpstr>
      <vt:lpstr>GitHub – Step 5 (Part I)</vt:lpstr>
      <vt:lpstr>GitHub – Step 5 (Part II)</vt:lpstr>
      <vt:lpstr>GitHub – Step 6</vt:lpstr>
      <vt:lpstr>GitHub – Step 6</vt:lpstr>
      <vt:lpstr>GitHub – Step 6</vt:lpstr>
      <vt:lpstr>GitHub – Step 7</vt:lpstr>
      <vt:lpstr>GitHub – Step 7</vt:lpstr>
      <vt:lpstr>GitHub – Step 8</vt:lpstr>
      <vt:lpstr>GitHub – Step 9 (Part I)</vt:lpstr>
      <vt:lpstr>GitHub – Step 9 (Part II)</vt:lpstr>
      <vt:lpstr>GitHub – Step 10</vt:lpstr>
      <vt:lpstr>GitHub – Success!!</vt:lpstr>
      <vt:lpstr>Makefiles</vt:lpstr>
      <vt:lpstr>Makefiles</vt:lpstr>
      <vt:lpstr>Makefiles</vt:lpstr>
      <vt:lpstr>Makefiles</vt:lpstr>
      <vt:lpstr>Makefiles</vt:lpstr>
      <vt:lpstr>Makefiles</vt:lpstr>
      <vt:lpstr>Makefiles</vt:lpstr>
      <vt:lpstr>Makefiles</vt:lpstr>
      <vt:lpstr>Makefiles</vt:lpstr>
      <vt:lpstr>Comments</vt:lpstr>
      <vt:lpstr>Rules</vt:lpstr>
      <vt:lpstr>Rules</vt:lpstr>
      <vt:lpstr>Dependency Lines</vt:lpstr>
      <vt:lpstr>Dependency Lines</vt:lpstr>
      <vt:lpstr>Shell Lines</vt:lpstr>
      <vt:lpstr>Macros</vt:lpstr>
      <vt:lpstr>Inference Rules</vt:lpstr>
      <vt:lpstr>Makefile Example</vt:lpstr>
      <vt:lpstr>Makefile Example</vt:lpstr>
      <vt:lpstr>Makefiles Review</vt:lpstr>
      <vt:lpstr>File I/O</vt:lpstr>
      <vt:lpstr>File I/O</vt:lpstr>
      <vt:lpstr>File I/O</vt:lpstr>
      <vt:lpstr>File I/O</vt:lpstr>
      <vt:lpstr>File I/O</vt:lpstr>
      <vt:lpstr>File I/O</vt:lpstr>
      <vt:lpstr>File I/O</vt:lpstr>
      <vt:lpstr>File I/O</vt:lpstr>
      <vt:lpstr>File I/O</vt:lpstr>
      <vt:lpstr>File I/O</vt:lpstr>
      <vt:lpstr>File I/O</vt:lpstr>
      <vt:lpstr>File I/O</vt:lpstr>
      <vt:lpstr>File I/O</vt:lpstr>
      <vt:lpstr>C++ File I/O Tutorial</vt:lpstr>
      <vt:lpstr>C++ File I/O Tutorial</vt:lpstr>
      <vt:lpstr>C++ File I/O</vt:lpstr>
      <vt:lpstr>C++ File I/O Tutorial</vt:lpstr>
      <vt:lpstr>File I/O</vt:lpstr>
      <vt:lpstr>File I/O</vt:lpstr>
      <vt:lpstr>C++ File I/O Tutorial</vt:lpstr>
      <vt:lpstr>C++ File I/O Tutorial</vt:lpstr>
      <vt:lpstr>C++ File I/O Tutorial</vt:lpstr>
      <vt:lpstr>C++ File I/O Tutorial</vt:lpstr>
      <vt:lpstr>C++ File I/O Tutorial</vt:lpstr>
      <vt:lpstr>C++ File I/O Tutorial</vt:lpstr>
      <vt:lpstr>C++ File I/O Tutorial</vt:lpstr>
      <vt:lpstr>C++ File I/O Tutorial</vt:lpstr>
      <vt:lpstr>C++ File I/O Tutorial</vt:lpstr>
      <vt:lpstr>C++ File I/O Tutorial</vt:lpstr>
      <vt:lpstr>C++ File I/O Tutorial</vt:lpstr>
      <vt:lpstr>C++ File I/O Tutorial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Rybarczyk</dc:creator>
  <cp:lastModifiedBy>Ryan Rybarczyk</cp:lastModifiedBy>
  <cp:revision>386</cp:revision>
  <dcterms:created xsi:type="dcterms:W3CDTF">2011-07-22T18:36:28Z</dcterms:created>
  <dcterms:modified xsi:type="dcterms:W3CDTF">2025-09-08T14:36:51Z</dcterms:modified>
</cp:coreProperties>
</file>