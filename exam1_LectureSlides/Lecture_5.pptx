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8"/>
  </p:notesMasterIdLst>
  <p:sldIdLst>
    <p:sldId id="314" r:id="rId2"/>
    <p:sldId id="526" r:id="rId3"/>
    <p:sldId id="524" r:id="rId4"/>
    <p:sldId id="525" r:id="rId5"/>
    <p:sldId id="258" r:id="rId6"/>
    <p:sldId id="497" r:id="rId7"/>
    <p:sldId id="498" r:id="rId8"/>
    <p:sldId id="499" r:id="rId9"/>
    <p:sldId id="500" r:id="rId10"/>
    <p:sldId id="501" r:id="rId11"/>
    <p:sldId id="502" r:id="rId12"/>
    <p:sldId id="503" r:id="rId13"/>
    <p:sldId id="504" r:id="rId14"/>
    <p:sldId id="505" r:id="rId15"/>
    <p:sldId id="506" r:id="rId16"/>
    <p:sldId id="507" r:id="rId17"/>
    <p:sldId id="508" r:id="rId18"/>
    <p:sldId id="509" r:id="rId19"/>
    <p:sldId id="510" r:id="rId20"/>
    <p:sldId id="511" r:id="rId21"/>
    <p:sldId id="512" r:id="rId22"/>
    <p:sldId id="513" r:id="rId23"/>
    <p:sldId id="514" r:id="rId24"/>
    <p:sldId id="515" r:id="rId25"/>
    <p:sldId id="516" r:id="rId26"/>
    <p:sldId id="517" r:id="rId27"/>
    <p:sldId id="425" r:id="rId28"/>
    <p:sldId id="426" r:id="rId29"/>
    <p:sldId id="427" r:id="rId30"/>
    <p:sldId id="518" r:id="rId31"/>
    <p:sldId id="519" r:id="rId32"/>
    <p:sldId id="520" r:id="rId33"/>
    <p:sldId id="521" r:id="rId34"/>
    <p:sldId id="522" r:id="rId35"/>
    <p:sldId id="523" r:id="rId36"/>
    <p:sldId id="54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valgrind.org/downloads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valgrind.org/docs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9/15/2025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1D5EBE-3D6E-4529-9F21-170418A17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AF65E44-11EC-4DC4-B5FE-D1B7FD8DFE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532635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#2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414791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Due:</a:t>
            </a:r>
          </a:p>
          <a:p>
            <a:pPr lvl="1"/>
            <a:r>
              <a:rPr lang="en-US" dirty="0"/>
              <a:t>9/29/2025 11:59:59 PM</a:t>
            </a:r>
          </a:p>
          <a:p>
            <a:pPr lvl="1"/>
            <a:endParaRPr lang="en-US" dirty="0"/>
          </a:p>
          <a:p>
            <a:r>
              <a:rPr lang="en-US" dirty="0"/>
              <a:t>Focus:</a:t>
            </a:r>
          </a:p>
          <a:p>
            <a:pPr lvl="1"/>
            <a:r>
              <a:rPr lang="en-US" dirty="0"/>
              <a:t>Classes/Objects</a:t>
            </a:r>
          </a:p>
          <a:p>
            <a:pPr lvl="1"/>
            <a:r>
              <a:rPr lang="en-US" dirty="0"/>
              <a:t>Pointers</a:t>
            </a:r>
          </a:p>
          <a:p>
            <a:pPr lvl="1"/>
            <a:r>
              <a:rPr lang="en-US" dirty="0"/>
              <a:t>Inheritance</a:t>
            </a:r>
          </a:p>
          <a:p>
            <a:pPr lvl="1"/>
            <a:r>
              <a:rPr lang="en-US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54097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2670048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Inheritance Review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6950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81000" y="29718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Polymorphism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494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1" y="0"/>
            <a:ext cx="699515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8278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Polymorphism</a:t>
            </a:r>
          </a:p>
          <a:p>
            <a:pPr lvl="1"/>
            <a:r>
              <a:rPr lang="en-US" dirty="0"/>
              <a:t>Definition: </a:t>
            </a:r>
          </a:p>
          <a:p>
            <a:pPr lvl="2"/>
            <a:r>
              <a:rPr lang="en-US" dirty="0"/>
              <a:t>“The condition of occurring in several different forms.”</a:t>
            </a:r>
          </a:p>
          <a:p>
            <a:pPr lvl="2"/>
            <a:endParaRPr lang="en-US" dirty="0"/>
          </a:p>
          <a:p>
            <a:r>
              <a:rPr lang="en-US" dirty="0"/>
              <a:t>Allows for the creation of a generic software interface such that concrete collections of different objects may be manipulated uniformly.</a:t>
            </a:r>
          </a:p>
          <a:p>
            <a:pPr lvl="1"/>
            <a:r>
              <a:rPr lang="en-US" dirty="0"/>
              <a:t>Mammal Example</a:t>
            </a:r>
          </a:p>
        </p:txBody>
      </p:sp>
    </p:spTree>
    <p:extLst>
      <p:ext uri="{BB962C8B-B14F-4D97-AF65-F5344CB8AC3E}">
        <p14:creationId xmlns:p14="http://schemas.microsoft.com/office/powerpoint/2010/main" val="331788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Lets take a look at a use of polymorphism using pointers with polygons:</a:t>
            </a:r>
          </a:p>
          <a:p>
            <a:pPr marL="118872" indent="0">
              <a:buNone/>
            </a:pP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600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Polygon { </a:t>
            </a:r>
          </a:p>
          <a:p>
            <a:pPr marL="118872" indent="0">
              <a:buNone/>
            </a:pPr>
            <a:r>
              <a:rPr lang="en-US" sz="26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protected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118872" indent="0">
              <a:buNone/>
            </a:pPr>
            <a:r>
              <a:rPr lang="en-US" sz="26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width, height; 	</a:t>
            </a:r>
          </a:p>
          <a:p>
            <a:pPr marL="118872" indent="0">
              <a:buNone/>
            </a:pPr>
            <a:r>
              <a:rPr lang="en-US" sz="26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118872" indent="0">
              <a:buNone/>
            </a:pPr>
            <a:r>
              <a:rPr lang="en-US" sz="26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void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set_values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2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b) </a:t>
            </a:r>
          </a:p>
          <a:p>
            <a:pPr marL="118872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	{ width=a; height=b; } </a:t>
            </a:r>
          </a:p>
          <a:p>
            <a:pPr marL="118872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62825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Rectangle: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Polygon { </a:t>
            </a:r>
          </a:p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5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area() </a:t>
            </a:r>
          </a:p>
          <a:p>
            <a:pPr marL="118872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{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width*height; } </a:t>
            </a:r>
          </a:p>
          <a:p>
            <a:pPr marL="118872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Triangle: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Polygon { </a:t>
            </a:r>
          </a:p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5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area() </a:t>
            </a:r>
          </a:p>
          <a:p>
            <a:pPr marL="118872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{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(width*height)/2; } </a:t>
            </a:r>
          </a:p>
          <a:p>
            <a:pPr marL="118872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495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11887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 () 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Rectangle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Triangle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trgl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Polygon * ppoly1 = &amp;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Polygon * ppoly2 = &amp;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trgl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ppoly1-&gt;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(4,5);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ppoly2-&gt;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(4,5);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ppoly1-&gt;area() &lt;&lt; '\n';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ppoly2-&gt;area() &lt;&lt; '\n';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3318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output of the previous execution of code?</a:t>
            </a:r>
          </a:p>
          <a:p>
            <a:pPr lvl="1"/>
            <a:r>
              <a:rPr lang="en-US" dirty="0"/>
              <a:t>Two pointers declared (ppoly1, ppoly2)</a:t>
            </a:r>
          </a:p>
          <a:p>
            <a:pPr lvl="2"/>
            <a:r>
              <a:rPr lang="en-US" dirty="0"/>
              <a:t>Assignment valid due to the fact that both Rectangle and Triangle are derived from the base class Polygon.</a:t>
            </a:r>
          </a:p>
          <a:p>
            <a:pPr lvl="1"/>
            <a:r>
              <a:rPr lang="en-US" dirty="0"/>
              <a:t>The pointers have no access to the derived classes methods – therefore we cannot have the following: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ppoly1-&gt;area();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0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Three types of polymorphism found:</a:t>
            </a:r>
          </a:p>
          <a:p>
            <a:pPr lvl="1"/>
            <a:r>
              <a:rPr lang="en-US" b="1" dirty="0"/>
              <a:t>Virtual Members</a:t>
            </a:r>
          </a:p>
          <a:p>
            <a:pPr lvl="2"/>
            <a:r>
              <a:rPr lang="en-US" dirty="0"/>
              <a:t>A method in a class begins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dirty="0"/>
              <a:t> identifier.</a:t>
            </a:r>
          </a:p>
          <a:p>
            <a:pPr lvl="1"/>
            <a:r>
              <a:rPr lang="en-US" b="1" dirty="0"/>
              <a:t>Name Overloading</a:t>
            </a:r>
          </a:p>
          <a:p>
            <a:pPr lvl="2"/>
            <a:r>
              <a:rPr lang="en-US" dirty="0"/>
              <a:t>Same name as another entity but with a different set of parameters.</a:t>
            </a:r>
          </a:p>
          <a:p>
            <a:pPr lvl="1"/>
            <a:r>
              <a:rPr lang="en-US" b="1" dirty="0"/>
              <a:t>Operator Overloading</a:t>
            </a:r>
          </a:p>
          <a:p>
            <a:pPr lvl="2"/>
            <a:r>
              <a:rPr lang="en-US" dirty="0"/>
              <a:t>When an operator has a different implementation based upon its arguments.</a:t>
            </a:r>
          </a:p>
        </p:txBody>
      </p:sp>
    </p:spTree>
    <p:extLst>
      <p:ext uri="{BB962C8B-B14F-4D97-AF65-F5344CB8AC3E}">
        <p14:creationId xmlns:p14="http://schemas.microsoft.com/office/powerpoint/2010/main" val="3958806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Members:</a:t>
            </a:r>
          </a:p>
          <a:p>
            <a:pPr lvl="1"/>
            <a:r>
              <a:rPr lang="en-US" dirty="0"/>
              <a:t>A member function that can be redefined in a derived class.</a:t>
            </a:r>
          </a:p>
          <a:p>
            <a:pPr lvl="2"/>
            <a:r>
              <a:rPr lang="en-US" dirty="0"/>
              <a:t>It can achieve this through references.</a:t>
            </a:r>
          </a:p>
          <a:p>
            <a:pPr lvl="2"/>
            <a:endParaRPr lang="en-US" dirty="0"/>
          </a:p>
          <a:p>
            <a:r>
              <a:rPr lang="en-US" dirty="0"/>
              <a:t>How could we modify the Polygon example to provide the access via the pointer instead of the direct derived class access?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277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Name Overloading:</a:t>
            </a:r>
          </a:p>
          <a:p>
            <a:pPr lvl="1"/>
            <a:r>
              <a:rPr lang="en-US" dirty="0"/>
              <a:t>The same name for the function is used – only the parameter list differs. </a:t>
            </a:r>
          </a:p>
          <a:p>
            <a:pPr lvl="2"/>
            <a:r>
              <a:rPr lang="en-US" dirty="0"/>
              <a:t>Distinguished by the identity of the associated parameters.</a:t>
            </a:r>
          </a:p>
          <a:p>
            <a:pPr lvl="2"/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Method: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function name overloading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Foo &amp;);</a:t>
            </a:r>
          </a:p>
        </p:txBody>
      </p:sp>
    </p:spTree>
    <p:extLst>
      <p:ext uri="{BB962C8B-B14F-4D97-AF65-F5344CB8AC3E}">
        <p14:creationId xmlns:p14="http://schemas.microsoft.com/office/powerpoint/2010/main" val="669838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Operator Overloading:</a:t>
            </a:r>
          </a:p>
          <a:p>
            <a:pPr lvl="1"/>
            <a:r>
              <a:rPr lang="en-US" dirty="0"/>
              <a:t>This is less common (for most students) than the first two examples…or is it?</a:t>
            </a:r>
          </a:p>
          <a:p>
            <a:pPr lvl="2"/>
            <a:r>
              <a:rPr lang="en-US" dirty="0"/>
              <a:t>We frequently use this type of polymorphism and don’t even realize it.</a:t>
            </a:r>
          </a:p>
          <a:p>
            <a:pPr lvl="3"/>
            <a:r>
              <a:rPr lang="en-US" dirty="0"/>
              <a:t>x = 5;</a:t>
            </a:r>
          </a:p>
          <a:p>
            <a:pPr lvl="3"/>
            <a:r>
              <a:rPr lang="en-US" dirty="0"/>
              <a:t>x = “Ryan”;</a:t>
            </a:r>
          </a:p>
          <a:p>
            <a:pPr lvl="3"/>
            <a:r>
              <a:rPr lang="en-US" dirty="0"/>
              <a:t>2+4; 2.0 + 4;</a:t>
            </a:r>
          </a:p>
          <a:p>
            <a:pPr lvl="3"/>
            <a:endParaRPr lang="en-US" dirty="0"/>
          </a:p>
          <a:p>
            <a:r>
              <a:rPr lang="en-US" dirty="0"/>
              <a:t>User can also define specific operations for overloading.</a:t>
            </a:r>
          </a:p>
          <a:p>
            <a:pPr lvl="1"/>
            <a:r>
              <a:rPr lang="en-US" dirty="0"/>
              <a:t>Dangers of user defined overloading?</a:t>
            </a:r>
          </a:p>
        </p:txBody>
      </p:sp>
    </p:spTree>
    <p:extLst>
      <p:ext uri="{BB962C8B-B14F-4D97-AF65-F5344CB8AC3E}">
        <p14:creationId xmlns:p14="http://schemas.microsoft.com/office/powerpoint/2010/main" val="1191820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Notes:</a:t>
            </a:r>
          </a:p>
          <a:p>
            <a:pPr lvl="1"/>
            <a:r>
              <a:rPr lang="en-US" dirty="0"/>
              <a:t>Making a virtual method makes the method a candidate for polymorphic behavior.</a:t>
            </a:r>
          </a:p>
          <a:p>
            <a:pPr lvl="1"/>
            <a:r>
              <a:rPr lang="en-US" dirty="0"/>
              <a:t>You are </a:t>
            </a:r>
            <a:r>
              <a:rPr lang="en-US" b="1" u="sng" dirty="0"/>
              <a:t>not required</a:t>
            </a:r>
            <a:r>
              <a:rPr lang="en-US" dirty="0"/>
              <a:t> to implement a virtual method.</a:t>
            </a:r>
          </a:p>
          <a:p>
            <a:pPr lvl="2"/>
            <a:r>
              <a:rPr lang="en-US" dirty="0"/>
              <a:t>If you do not implement a virtual method you will simply inherit the behavior from the closest base class.</a:t>
            </a:r>
          </a:p>
          <a:p>
            <a:pPr lvl="3"/>
            <a:r>
              <a:rPr lang="en-US" dirty="0"/>
              <a:t>What do we mean by closest???</a:t>
            </a:r>
          </a:p>
          <a:p>
            <a:pPr lvl="1"/>
            <a:r>
              <a:rPr lang="en-US" dirty="0"/>
              <a:t>…but what if we want to ensure that you are required to implement a virtual method? </a:t>
            </a:r>
          </a:p>
        </p:txBody>
      </p:sp>
    </p:spTree>
    <p:extLst>
      <p:ext uri="{BB962C8B-B14F-4D97-AF65-F5344CB8AC3E}">
        <p14:creationId xmlns:p14="http://schemas.microsoft.com/office/powerpoint/2010/main" val="801250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Pure Virtual Method:</a:t>
            </a:r>
          </a:p>
          <a:p>
            <a:pPr lvl="1"/>
            <a:r>
              <a:rPr lang="en-US" dirty="0"/>
              <a:t>A way to ensure that the method </a:t>
            </a:r>
            <a:r>
              <a:rPr lang="en-US" b="1" u="sng" dirty="0"/>
              <a:t>must</a:t>
            </a:r>
            <a:r>
              <a:rPr lang="en-US" dirty="0"/>
              <a:t> be implemented by the derived class.</a:t>
            </a:r>
          </a:p>
          <a:p>
            <a:pPr lvl="2"/>
            <a:r>
              <a:rPr lang="en-US" dirty="0"/>
              <a:t>An abstract class</a:t>
            </a:r>
          </a:p>
          <a:p>
            <a:pPr lvl="2"/>
            <a:endParaRPr lang="en-US" dirty="0"/>
          </a:p>
          <a:p>
            <a:r>
              <a:rPr lang="en-US" dirty="0"/>
              <a:t>How do we force this occurrence?</a:t>
            </a:r>
          </a:p>
          <a:p>
            <a:pPr lvl="1"/>
            <a:r>
              <a:rPr lang="en-US" dirty="0"/>
              <a:t>A Pure Virtual Method is indicated by the presence of “= 0” at the end: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virtual void walk (void) = 0;</a:t>
            </a:r>
          </a:p>
        </p:txBody>
      </p:sp>
    </p:spTree>
    <p:extLst>
      <p:ext uri="{BB962C8B-B14F-4D97-AF65-F5344CB8AC3E}">
        <p14:creationId xmlns:p14="http://schemas.microsoft.com/office/powerpoint/2010/main" val="790475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u="sng" dirty="0"/>
              <a:t>Pure Abstract Class</a:t>
            </a:r>
            <a:r>
              <a:rPr lang="en-US" dirty="0"/>
              <a:t> is a class that contains all pure virtual methods.</a:t>
            </a:r>
          </a:p>
          <a:p>
            <a:pPr lvl="1"/>
            <a:r>
              <a:rPr lang="en-US" dirty="0"/>
              <a:t>This is what we would typically refer to as an interface.</a:t>
            </a:r>
          </a:p>
          <a:p>
            <a:pPr lvl="1"/>
            <a:endParaRPr lang="en-US" dirty="0"/>
          </a:p>
          <a:p>
            <a:r>
              <a:rPr lang="en-US" dirty="0"/>
              <a:t>What would happen if we do not implement a pure virtual function from a base class in a derived class?</a:t>
            </a:r>
          </a:p>
        </p:txBody>
      </p:sp>
    </p:spTree>
    <p:extLst>
      <p:ext uri="{BB962C8B-B14F-4D97-AF65-F5344CB8AC3E}">
        <p14:creationId xmlns:p14="http://schemas.microsoft.com/office/powerpoint/2010/main" val="2629299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about Constructors and Destructors in our code when it comes to Polymorphism?</a:t>
            </a:r>
          </a:p>
          <a:p>
            <a:pPr lvl="1"/>
            <a:r>
              <a:rPr lang="en-US" dirty="0"/>
              <a:t>What about Inheritance?</a:t>
            </a:r>
          </a:p>
          <a:p>
            <a:endParaRPr lang="en-US" dirty="0"/>
          </a:p>
          <a:p>
            <a:r>
              <a:rPr lang="en-US" dirty="0"/>
              <a:t>If we don’t clean up after our selves we leave our code open to memory leaks…</a:t>
            </a:r>
          </a:p>
          <a:p>
            <a:pPr lvl="1"/>
            <a:r>
              <a:rPr lang="en-US" dirty="0"/>
              <a:t>…and lost points.</a:t>
            </a:r>
          </a:p>
          <a:p>
            <a:pPr lvl="1"/>
            <a:endParaRPr lang="en-US" dirty="0"/>
          </a:p>
          <a:p>
            <a:r>
              <a:rPr lang="en-US" dirty="0"/>
              <a:t>We understand how Destructors work in practice but what role does Polymorphism play in their use?</a:t>
            </a:r>
          </a:p>
          <a:p>
            <a:pPr lvl="1"/>
            <a:r>
              <a:rPr lang="en-US" dirty="0"/>
              <a:t>Inheritance?</a:t>
            </a:r>
          </a:p>
        </p:txBody>
      </p:sp>
    </p:spTree>
    <p:extLst>
      <p:ext uri="{BB962C8B-B14F-4D97-AF65-F5344CB8AC3E}">
        <p14:creationId xmlns:p14="http://schemas.microsoft.com/office/powerpoint/2010/main" val="266239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Derived class object with a non-virtual destructor is destroyed explicitly by applying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/>
              <a:t> operator to a Base class pointer to the object, the C++ standard specifies that the behavior is </a:t>
            </a:r>
            <a:r>
              <a:rPr lang="en-US" b="1" u="sng" dirty="0"/>
              <a:t>undefined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creates an undesirable situation.</a:t>
            </a:r>
          </a:p>
          <a:p>
            <a:pPr lvl="2"/>
            <a:r>
              <a:rPr lang="en-US" dirty="0"/>
              <a:t>We want to delete the corresponding object from the Heap but how can we do so if we have created a dynamic approach?</a:t>
            </a:r>
          </a:p>
        </p:txBody>
      </p:sp>
    </p:spTree>
    <p:extLst>
      <p:ext uri="{BB962C8B-B14F-4D97-AF65-F5344CB8AC3E}">
        <p14:creationId xmlns:p14="http://schemas.microsoft.com/office/powerpoint/2010/main" val="1882836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Base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~Base() { … }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Derived : public Base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~Derived() { … }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Base * base = new Derived();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 base; </a:t>
            </a:r>
          </a:p>
        </p:txBody>
      </p:sp>
    </p:spTree>
    <p:extLst>
      <p:ext uri="{BB962C8B-B14F-4D97-AF65-F5344CB8AC3E}">
        <p14:creationId xmlns:p14="http://schemas.microsoft.com/office/powerpoint/2010/main" val="1087348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Create a virtual destructor!</a:t>
            </a:r>
          </a:p>
          <a:p>
            <a:pPr lvl="1"/>
            <a:endParaRPr lang="en-US" dirty="0"/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We simply create a destructor with the keyword virtual.</a:t>
            </a:r>
          </a:p>
          <a:p>
            <a:pPr marL="457200" lvl="1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virtual ~Base() { … }</a:t>
            </a:r>
          </a:p>
          <a:p>
            <a:pPr marL="457200" lvl="1" indent="0" algn="ctr">
              <a:buNone/>
            </a:pPr>
            <a:endParaRPr lang="en-US" dirty="0"/>
          </a:p>
          <a:p>
            <a:pPr marL="621792" indent="-457200"/>
            <a:r>
              <a:rPr lang="en-US" dirty="0"/>
              <a:t>If you have a virtual function in your class, you should </a:t>
            </a:r>
            <a:r>
              <a:rPr lang="en-US" b="1" u="sng" dirty="0"/>
              <a:t>ALWAYS</a:t>
            </a:r>
            <a:r>
              <a:rPr lang="en-US" dirty="0"/>
              <a:t> add a virtual destructor. </a:t>
            </a:r>
          </a:p>
        </p:txBody>
      </p:sp>
    </p:spTree>
    <p:extLst>
      <p:ext uri="{BB962C8B-B14F-4D97-AF65-F5344CB8AC3E}">
        <p14:creationId xmlns:p14="http://schemas.microsoft.com/office/powerpoint/2010/main" val="2792665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about Constructors – should I also create a virtual constructor?</a:t>
            </a:r>
          </a:p>
          <a:p>
            <a:pPr lvl="1"/>
            <a:r>
              <a:rPr lang="en-US" dirty="0"/>
              <a:t>No!</a:t>
            </a:r>
          </a:p>
          <a:p>
            <a:pPr lvl="1"/>
            <a:endParaRPr lang="en-US" dirty="0"/>
          </a:p>
          <a:p>
            <a:r>
              <a:rPr lang="en-US" dirty="0"/>
              <a:t>Constructors cannot be virtual – if you attempt this the compiler will throw an error.</a:t>
            </a:r>
          </a:p>
          <a:p>
            <a:pPr lvl="1"/>
            <a:r>
              <a:rPr lang="en-US" dirty="0"/>
              <a:t>Remember the relationship hierarchy to explore why this is not necessary.</a:t>
            </a:r>
          </a:p>
        </p:txBody>
      </p:sp>
    </p:spTree>
    <p:extLst>
      <p:ext uri="{BB962C8B-B14F-4D97-AF65-F5344CB8AC3E}">
        <p14:creationId xmlns:p14="http://schemas.microsoft.com/office/powerpoint/2010/main" val="3473640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077200" cy="3581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Polymorphism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Review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0636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</p:spTree>
    <p:extLst>
      <p:ext uri="{BB962C8B-B14F-4D97-AF65-F5344CB8AC3E}">
        <p14:creationId xmlns:p14="http://schemas.microsoft.com/office/powerpoint/2010/main" val="1241345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Tutorial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Example</a:t>
            </a:r>
          </a:p>
        </p:txBody>
      </p:sp>
    </p:spTree>
    <p:extLst>
      <p:ext uri="{BB962C8B-B14F-4D97-AF65-F5344CB8AC3E}">
        <p14:creationId xmlns:p14="http://schemas.microsoft.com/office/powerpoint/2010/main" val="3125038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Type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How do we allow for type inference in C++ templates?</a:t>
            </a:r>
          </a:p>
          <a:p>
            <a:pPr lvl="1"/>
            <a:r>
              <a:rPr lang="en-US" dirty="0"/>
              <a:t>C++11 Standard</a:t>
            </a:r>
          </a:p>
          <a:p>
            <a:pPr lvl="1"/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/>
              <a:t> Keyword</a:t>
            </a:r>
          </a:p>
          <a:p>
            <a:pPr lvl="1"/>
            <a:r>
              <a:rPr lang="en-US" dirty="0"/>
              <a:t>If the compiler can infer the type of a variable at the point of declaration you can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/>
              <a:t> instead of the type name.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= 4; </a:t>
            </a:r>
            <a:r>
              <a:rPr lang="en-US" dirty="0"/>
              <a:t>		VS.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auto x = 4;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Benefit:</a:t>
            </a:r>
          </a:p>
          <a:p>
            <a:pPr lvl="1"/>
            <a:r>
              <a:rPr lang="en-US" dirty="0"/>
              <a:t>Cleaner, more readable, code.</a:t>
            </a:r>
          </a:p>
          <a:p>
            <a:pPr lvl="1"/>
            <a:endParaRPr lang="en-US" dirty="0"/>
          </a:p>
          <a:p>
            <a:r>
              <a:rPr lang="en-US" dirty="0"/>
              <a:t>Consequence:</a:t>
            </a:r>
          </a:p>
          <a:p>
            <a:pPr lvl="1"/>
            <a:r>
              <a:rPr lang="en-US" dirty="0"/>
              <a:t>More readable?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19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Data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Members should always be private.</a:t>
            </a:r>
          </a:p>
          <a:p>
            <a:pPr lvl="1"/>
            <a:r>
              <a:rPr lang="en-US" dirty="0"/>
              <a:t>This prevents unwanted access to our members.</a:t>
            </a:r>
          </a:p>
          <a:p>
            <a:pPr lvl="1"/>
            <a:r>
              <a:rPr lang="en-US" dirty="0"/>
              <a:t>We should create accessor methods – getters/setters in order to access them.</a:t>
            </a:r>
          </a:p>
          <a:p>
            <a:pPr lvl="2"/>
            <a:r>
              <a:rPr lang="en-US" dirty="0"/>
              <a:t>This allows us to control the access to our private data.</a:t>
            </a:r>
          </a:p>
          <a:p>
            <a:pPr lvl="2"/>
            <a:endParaRPr lang="en-US" dirty="0"/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Makes testing easier.</a:t>
            </a:r>
          </a:p>
          <a:p>
            <a:pPr lvl="2"/>
            <a:r>
              <a:rPr lang="en-US" i="1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868464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33400" y="2895600"/>
            <a:ext cx="8077200" cy="1673352"/>
          </a:xfrm>
        </p:spPr>
        <p:txBody>
          <a:bodyPr/>
          <a:lstStyle/>
          <a:p>
            <a:pPr algn="ctr"/>
            <a:r>
              <a:rPr lang="en-US" dirty="0" err="1"/>
              <a:t>Valgrind</a:t>
            </a:r>
            <a:r>
              <a:rPr lang="en-US" dirty="0"/>
              <a:t> Introduction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77606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 dirty="0"/>
              <a:t>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Valgrind</a:t>
            </a:r>
            <a:r>
              <a:rPr lang="en-US" dirty="0"/>
              <a:t> is an instrumentation framework for building dynamic analysis tools. </a:t>
            </a:r>
          </a:p>
          <a:p>
            <a:endParaRPr lang="en-US" dirty="0"/>
          </a:p>
          <a:p>
            <a:r>
              <a:rPr lang="en-US" dirty="0"/>
              <a:t>This toolset can allow for the ability to automatically detect many memory management and threading bugs, and profile your programs in detail.</a:t>
            </a:r>
          </a:p>
          <a:p>
            <a:endParaRPr lang="en-US" dirty="0"/>
          </a:p>
          <a:p>
            <a:r>
              <a:rPr lang="en-US" dirty="0"/>
              <a:t>We will realize the full power of this tool when we analyze our codes performance.</a:t>
            </a:r>
          </a:p>
          <a:p>
            <a:pPr lvl="1"/>
            <a:r>
              <a:rPr lang="en-US" dirty="0"/>
              <a:t>Start off small and simple.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200" y="2702807"/>
            <a:ext cx="4038600" cy="2320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8582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 dirty="0"/>
              <a:t> Introduction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does it do?</a:t>
            </a:r>
          </a:p>
          <a:p>
            <a:pPr lvl="1"/>
            <a:r>
              <a:rPr lang="en-US" dirty="0"/>
              <a:t>It can find the following:</a:t>
            </a:r>
          </a:p>
          <a:p>
            <a:pPr lvl="2"/>
            <a:r>
              <a:rPr lang="en-US" dirty="0"/>
              <a:t>Uses Of Uninitialized Memory</a:t>
            </a:r>
          </a:p>
          <a:p>
            <a:pPr lvl="2"/>
            <a:r>
              <a:rPr lang="en-US" dirty="0"/>
              <a:t>Memory Leaks</a:t>
            </a:r>
          </a:p>
          <a:p>
            <a:pPr lvl="2"/>
            <a:r>
              <a:rPr lang="en-US" dirty="0"/>
              <a:t>Illegal Memory Access</a:t>
            </a:r>
          </a:p>
          <a:p>
            <a:pPr lvl="2"/>
            <a:r>
              <a:rPr lang="en-US" dirty="0"/>
              <a:t>Etc.</a:t>
            </a:r>
          </a:p>
          <a:p>
            <a:pPr lvl="2"/>
            <a:endParaRPr lang="en-US" dirty="0"/>
          </a:p>
          <a:p>
            <a:r>
              <a:rPr lang="en-US" dirty="0"/>
              <a:t>Why use </a:t>
            </a:r>
            <a:r>
              <a:rPr lang="en-US" dirty="0" err="1"/>
              <a:t>Valgrind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Your program seems to leak memory…</a:t>
            </a:r>
          </a:p>
          <a:p>
            <a:pPr lvl="1"/>
            <a:r>
              <a:rPr lang="en-US" dirty="0"/>
              <a:t>Your program crashes in a seemingly random fashion…</a:t>
            </a:r>
          </a:p>
          <a:p>
            <a:pPr lvl="1"/>
            <a:r>
              <a:rPr lang="en-US" dirty="0"/>
              <a:t>Your program is difficult to trace or non-deterministic in its execution…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77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/>
              <a:t> Introduction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we obtain </a:t>
            </a:r>
            <a:r>
              <a:rPr lang="en-US" dirty="0" err="1"/>
              <a:t>Valgrind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It is out on Thomas…or…</a:t>
            </a:r>
          </a:p>
          <a:p>
            <a:pPr lvl="1"/>
            <a:r>
              <a:rPr lang="en-US" dirty="0"/>
              <a:t>You can download the source code from the following URL:</a:t>
            </a:r>
          </a:p>
          <a:p>
            <a:pPr lvl="2"/>
            <a:r>
              <a:rPr lang="en-US" dirty="0">
                <a:hlinkClick r:id="rId2"/>
              </a:rPr>
              <a:t>http://valgrind.org/downloads/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090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 dirty="0"/>
              <a:t>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you have used the MPC tool to generate your </a:t>
            </a:r>
            <a:r>
              <a:rPr lang="en-US" dirty="0" err="1"/>
              <a:t>Makefile</a:t>
            </a:r>
            <a:r>
              <a:rPr lang="en-US" dirty="0"/>
              <a:t> you can now run make to generate your executable.</a:t>
            </a:r>
          </a:p>
          <a:p>
            <a:endParaRPr lang="en-US" dirty="0"/>
          </a:p>
          <a:p>
            <a:r>
              <a:rPr lang="en-US" dirty="0"/>
              <a:t>Once we have the executable we can run </a:t>
            </a:r>
            <a:r>
              <a:rPr lang="en-US" dirty="0" err="1"/>
              <a:t>Valgrind</a:t>
            </a:r>
            <a:r>
              <a:rPr lang="en-US" dirty="0"/>
              <a:t> to analyze the performance. We can do this through the following command:</a:t>
            </a:r>
          </a:p>
          <a:p>
            <a:pPr marL="118872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 algn="ctr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valgrind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--log-file=Valgrind.txt Test.exe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4401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 dirty="0"/>
              <a:t>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Similar to the MPC tool, </a:t>
            </a:r>
            <a:r>
              <a:rPr lang="en-US" dirty="0" err="1"/>
              <a:t>Valgrind</a:t>
            </a:r>
            <a:r>
              <a:rPr lang="en-US" dirty="0"/>
              <a:t> has many options and subcomponents that make it a very valuable and exciting tool to use!</a:t>
            </a:r>
          </a:p>
          <a:p>
            <a:pPr lvl="1"/>
            <a:r>
              <a:rPr lang="en-US" dirty="0"/>
              <a:t>You can find more about the different options through online documentation:</a:t>
            </a:r>
          </a:p>
          <a:p>
            <a:pPr lvl="2"/>
            <a:r>
              <a:rPr lang="en-US" dirty="0">
                <a:hlinkClick r:id="rId2"/>
              </a:rPr>
              <a:t>http://valgrind.org/docs/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We will explore this tool more and more as the semester goes along – please make sure you take some time to play around with this on your own.</a:t>
            </a:r>
          </a:p>
        </p:txBody>
      </p:sp>
    </p:spTree>
    <p:extLst>
      <p:ext uri="{BB962C8B-B14F-4D97-AF65-F5344CB8AC3E}">
        <p14:creationId xmlns:p14="http://schemas.microsoft.com/office/powerpoint/2010/main" val="1490579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9102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4637</TotalTime>
  <Words>1440</Words>
  <Application>Microsoft Office PowerPoint</Application>
  <PresentationFormat>On-screen Show (4:3)</PresentationFormat>
  <Paragraphs>232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Courier New</vt:lpstr>
      <vt:lpstr>Office Theme</vt:lpstr>
      <vt:lpstr>Lecture – 9/15/2025</vt:lpstr>
      <vt:lpstr>Assignment #1</vt:lpstr>
      <vt:lpstr>Assignment #2</vt:lpstr>
      <vt:lpstr>Assignment #2</vt:lpstr>
      <vt:lpstr>Inheritance Review</vt:lpstr>
      <vt:lpstr>Polymorphism</vt:lpstr>
      <vt:lpstr>PowerPoint Presentation</vt:lpstr>
      <vt:lpstr>Polymorphism</vt:lpstr>
      <vt:lpstr>C++ Review: Polymorphism </vt:lpstr>
      <vt:lpstr>C++ Review: Polymorphism</vt:lpstr>
      <vt:lpstr>C++ Review: Polymorphism</vt:lpstr>
      <vt:lpstr>C++ Review: Polymorphism</vt:lpstr>
      <vt:lpstr>C++ Review: Polymorphism</vt:lpstr>
      <vt:lpstr>C++ Review: Polymorphism</vt:lpstr>
      <vt:lpstr>C++ Review: Polymorphism</vt:lpstr>
      <vt:lpstr>C++ Review: Polymorphism</vt:lpstr>
      <vt:lpstr>C++ Review: Polymorphism</vt:lpstr>
      <vt:lpstr>C++ Review: Polymorphism</vt:lpstr>
      <vt:lpstr>C++ Review: Abstract Classes</vt:lpstr>
      <vt:lpstr>Polymorphism</vt:lpstr>
      <vt:lpstr>Polymorphism</vt:lpstr>
      <vt:lpstr>Polymorphism</vt:lpstr>
      <vt:lpstr>Polymorphism</vt:lpstr>
      <vt:lpstr>Polymorphism</vt:lpstr>
      <vt:lpstr>Polymorphism  Review</vt:lpstr>
      <vt:lpstr>Pointers</vt:lpstr>
      <vt:lpstr>C++ Tutorial</vt:lpstr>
      <vt:lpstr>C++ Review: Type Inference</vt:lpstr>
      <vt:lpstr>C++ Review: Data Members</vt:lpstr>
      <vt:lpstr>Valgrind Introduction</vt:lpstr>
      <vt:lpstr>Valgrind Introduction</vt:lpstr>
      <vt:lpstr>Valgrind Introduction</vt:lpstr>
      <vt:lpstr>Valgrind Introduction</vt:lpstr>
      <vt:lpstr>Valgrind Introduction</vt:lpstr>
      <vt:lpstr>Valgrind Introduction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400</cp:revision>
  <dcterms:created xsi:type="dcterms:W3CDTF">2011-07-22T18:36:28Z</dcterms:created>
  <dcterms:modified xsi:type="dcterms:W3CDTF">2025-09-15T13:25:51Z</dcterms:modified>
</cp:coreProperties>
</file>