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8"/>
  </p:notesMasterIdLst>
  <p:sldIdLst>
    <p:sldId id="314" r:id="rId2"/>
    <p:sldId id="435" r:id="rId3"/>
    <p:sldId id="434" r:id="rId4"/>
    <p:sldId id="436" r:id="rId5"/>
    <p:sldId id="437" r:id="rId6"/>
    <p:sldId id="357" r:id="rId7"/>
    <p:sldId id="421" r:id="rId8"/>
    <p:sldId id="423" r:id="rId9"/>
    <p:sldId id="424" r:id="rId10"/>
    <p:sldId id="412" r:id="rId11"/>
    <p:sldId id="425" r:id="rId12"/>
    <p:sldId id="413" r:id="rId13"/>
    <p:sldId id="414" r:id="rId14"/>
    <p:sldId id="415" r:id="rId15"/>
    <p:sldId id="416" r:id="rId16"/>
    <p:sldId id="417" r:id="rId17"/>
    <p:sldId id="418" r:id="rId18"/>
    <p:sldId id="442" r:id="rId19"/>
    <p:sldId id="443" r:id="rId20"/>
    <p:sldId id="444" r:id="rId21"/>
    <p:sldId id="445" r:id="rId22"/>
    <p:sldId id="446" r:id="rId23"/>
    <p:sldId id="447" r:id="rId24"/>
    <p:sldId id="448" r:id="rId25"/>
    <p:sldId id="449" r:id="rId26"/>
    <p:sldId id="450" r:id="rId27"/>
    <p:sldId id="451" r:id="rId28"/>
    <p:sldId id="452" r:id="rId29"/>
    <p:sldId id="453" r:id="rId30"/>
    <p:sldId id="454" r:id="rId31"/>
    <p:sldId id="455" r:id="rId32"/>
    <p:sldId id="456" r:id="rId33"/>
    <p:sldId id="457" r:id="rId34"/>
    <p:sldId id="458" r:id="rId35"/>
    <p:sldId id="459" r:id="rId36"/>
    <p:sldId id="460" r:id="rId37"/>
    <p:sldId id="461" r:id="rId38"/>
    <p:sldId id="462" r:id="rId39"/>
    <p:sldId id="463" r:id="rId40"/>
    <p:sldId id="464" r:id="rId41"/>
    <p:sldId id="465" r:id="rId42"/>
    <p:sldId id="466" r:id="rId43"/>
    <p:sldId id="467" r:id="rId44"/>
    <p:sldId id="468" r:id="rId45"/>
    <p:sldId id="469" r:id="rId46"/>
    <p:sldId id="470" r:id="rId47"/>
    <p:sldId id="471" r:id="rId48"/>
    <p:sldId id="472" r:id="rId49"/>
    <p:sldId id="473" r:id="rId50"/>
    <p:sldId id="474" r:id="rId51"/>
    <p:sldId id="475" r:id="rId52"/>
    <p:sldId id="476" r:id="rId53"/>
    <p:sldId id="477" r:id="rId54"/>
    <p:sldId id="478" r:id="rId55"/>
    <p:sldId id="479" r:id="rId56"/>
    <p:sldId id="480" r:id="rId57"/>
    <p:sldId id="481" r:id="rId58"/>
    <p:sldId id="482" r:id="rId59"/>
    <p:sldId id="483" r:id="rId60"/>
    <p:sldId id="484" r:id="rId61"/>
    <p:sldId id="485" r:id="rId62"/>
    <p:sldId id="486" r:id="rId63"/>
    <p:sldId id="487" r:id="rId64"/>
    <p:sldId id="488" r:id="rId65"/>
    <p:sldId id="489" r:id="rId66"/>
    <p:sldId id="490" r:id="rId67"/>
    <p:sldId id="491" r:id="rId68"/>
    <p:sldId id="492" r:id="rId69"/>
    <p:sldId id="493" r:id="rId70"/>
    <p:sldId id="494" r:id="rId71"/>
    <p:sldId id="495" r:id="rId72"/>
    <p:sldId id="496" r:id="rId73"/>
    <p:sldId id="497" r:id="rId74"/>
    <p:sldId id="498" r:id="rId75"/>
    <p:sldId id="499" r:id="rId76"/>
    <p:sldId id="500" r:id="rId77"/>
    <p:sldId id="501" r:id="rId78"/>
    <p:sldId id="502" r:id="rId79"/>
    <p:sldId id="503" r:id="rId80"/>
    <p:sldId id="504" r:id="rId81"/>
    <p:sldId id="505" r:id="rId82"/>
    <p:sldId id="506" r:id="rId83"/>
    <p:sldId id="507" r:id="rId84"/>
    <p:sldId id="508" r:id="rId85"/>
    <p:sldId id="509" r:id="rId86"/>
    <p:sldId id="510" r:id="rId87"/>
    <p:sldId id="511" r:id="rId88"/>
    <p:sldId id="512" r:id="rId89"/>
    <p:sldId id="513" r:id="rId90"/>
    <p:sldId id="514" r:id="rId91"/>
    <p:sldId id="515" r:id="rId92"/>
    <p:sldId id="516" r:id="rId93"/>
    <p:sldId id="517" r:id="rId94"/>
    <p:sldId id="518" r:id="rId95"/>
    <p:sldId id="519" r:id="rId96"/>
    <p:sldId id="441" r:id="rId9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ADA500-0D83-4472-8117-89698D861692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E50DD3-B5D8-4C49-8686-233E18939E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04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866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830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0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003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05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46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4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8900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47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86DDC-0F8A-4B0B-AEF9-E2022025D4DD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7E6EC6-BFEA-44CE-9216-D8ABB5D450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30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-scm.com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butler.edu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github.com/articles/generating-ssh-keys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butler.edu/%3c%3cusername%3e%3e/spoon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butler.edu/rrybarcz/spoon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184648"/>
            <a:ext cx="8077200" cy="1673352"/>
          </a:xfrm>
        </p:spPr>
        <p:txBody>
          <a:bodyPr anchor="ctr"/>
          <a:lstStyle/>
          <a:p>
            <a:pPr algn="ctr"/>
            <a:r>
              <a:rPr lang="en-US" dirty="0"/>
              <a:t>Lecture – 9/3/2025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3910584"/>
            <a:ext cx="8458200" cy="1499616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CS 341 – Advanced Data Structures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228600"/>
            <a:ext cx="3810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568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 #1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1887507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#1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Assignment #1:</a:t>
            </a:r>
          </a:p>
          <a:p>
            <a:pPr lvl="1"/>
            <a:r>
              <a:rPr lang="en-US" dirty="0" err="1"/>
              <a:t>Keepin</a:t>
            </a:r>
            <a:r>
              <a:rPr lang="en-US" dirty="0"/>
              <a:t>’ It Classy</a:t>
            </a:r>
          </a:p>
          <a:p>
            <a:endParaRPr lang="en-US" dirty="0"/>
          </a:p>
          <a:p>
            <a:r>
              <a:rPr lang="en-US" dirty="0"/>
              <a:t>Due:</a:t>
            </a:r>
          </a:p>
          <a:p>
            <a:pPr lvl="1"/>
            <a:r>
              <a:rPr lang="en-US" dirty="0"/>
              <a:t>9/12/2025</a:t>
            </a:r>
          </a:p>
          <a:p>
            <a:pPr lvl="1"/>
            <a:endParaRPr lang="en-US" dirty="0"/>
          </a:p>
          <a:p>
            <a:r>
              <a:rPr lang="en-US" dirty="0"/>
              <a:t>C++ Review &amp; Classes/Objects</a:t>
            </a:r>
          </a:p>
          <a:p>
            <a:pPr lvl="1"/>
            <a:r>
              <a:rPr lang="en-US" dirty="0" err="1"/>
              <a:t>Git</a:t>
            </a:r>
            <a:r>
              <a:rPr lang="en-US" dirty="0"/>
              <a:t> and Make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501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Honor Pledge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Honor Pledge MUST be included at the top of every submitted source file (e.g., .</a:t>
            </a:r>
            <a:r>
              <a:rPr lang="en-US" dirty="0" err="1"/>
              <a:t>cpp</a:t>
            </a:r>
            <a:r>
              <a:rPr lang="en-US" dirty="0"/>
              <a:t>/.h)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You will need a working </a:t>
            </a:r>
            <a:r>
              <a:rPr lang="en-US" dirty="0" err="1"/>
              <a:t>Makefile</a:t>
            </a:r>
            <a:r>
              <a:rPr lang="en-US" dirty="0"/>
              <a:t> for your submission – </a:t>
            </a:r>
            <a:r>
              <a:rPr lang="en-US" b="1" i="1" dirty="0"/>
              <a:t>make</a:t>
            </a:r>
            <a:r>
              <a:rPr lang="en-US" dirty="0"/>
              <a:t> sure it works properly!</a:t>
            </a:r>
          </a:p>
          <a:p>
            <a:pPr lvl="1"/>
            <a:endParaRPr lang="en-US" dirty="0"/>
          </a:p>
          <a:p>
            <a:r>
              <a:rPr lang="en-US" dirty="0"/>
              <a:t>Don’t forget to comment your code appropriately!</a:t>
            </a:r>
          </a:p>
        </p:txBody>
      </p:sp>
    </p:spTree>
    <p:extLst>
      <p:ext uri="{BB962C8B-B14F-4D97-AF65-F5344CB8AC3E}">
        <p14:creationId xmlns:p14="http://schemas.microsoft.com/office/powerpoint/2010/main" val="400150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Honor Pledge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You should also virtually sign all of your source files with your username.</a:t>
            </a:r>
          </a:p>
          <a:p>
            <a:pPr lvl="1"/>
            <a:r>
              <a:rPr lang="en-US" dirty="0"/>
              <a:t>Please include your username below the Honor Pledge in each source file.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// Honor Pledge: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// I pledge that I have neither given nor 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// received any help on this assignment.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</a:p>
          <a:p>
            <a:pPr marL="457200" lvl="1" indent="0">
              <a:buNone/>
            </a:pPr>
            <a:r>
              <a:rPr 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// rrybarcz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988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3589926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width,height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int,int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area()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 width*height;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85519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Let’s look at another example: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width,height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x,int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y);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area();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729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Ok – so when we first learned how to write a C++ program we put all of our code into a file with an extension of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But before when we created the file we did not create something with the name class or wrap it in 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</a:p>
          <a:p>
            <a:pPr lvl="1"/>
            <a:r>
              <a:rPr lang="en-US" dirty="0"/>
              <a:t>No less the crazy semi-colon there at the end of the file…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88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18872" indent="0">
              <a:buNone/>
            </a:pPr>
            <a:endParaRPr lang="en-US" sz="5200" dirty="0">
              <a:solidFill>
                <a:srgbClr val="0070C0"/>
              </a:solidFill>
            </a:endParaRP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width,height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Rectangle();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w,int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width = w;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height = h;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void 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5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width*height;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 </a:t>
            </a:r>
          </a:p>
          <a:p>
            <a:pPr marL="118872" indent="0">
              <a:buNone/>
            </a:pPr>
            <a:r>
              <a:rPr lang="en-US" sz="5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sz="52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653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8872" indent="0">
              <a:buNone/>
            </a:pP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Rectangle 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myRectangle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Rectangle(15,10);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myRectangle.printArea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6260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With Java everything was self-contained in the same file – but we mentioned that in C++ we should separate the definition from the implementation.</a:t>
            </a:r>
          </a:p>
          <a:p>
            <a:endParaRPr lang="en-US" dirty="0"/>
          </a:p>
          <a:p>
            <a:r>
              <a:rPr lang="en-US" dirty="0"/>
              <a:t>How can this be achieved?</a:t>
            </a:r>
          </a:p>
          <a:p>
            <a:pPr lvl="1"/>
            <a:r>
              <a:rPr lang="en-US" dirty="0"/>
              <a:t>Header (.h)/Source (.</a:t>
            </a:r>
            <a:r>
              <a:rPr lang="en-US" dirty="0" err="1"/>
              <a:t>cpp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What do we separate and how do we format our code?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538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Object-Oriented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separate our definitions from our implementation?</a:t>
            </a:r>
          </a:p>
          <a:p>
            <a:endParaRPr lang="en-US" dirty="0"/>
          </a:p>
          <a:p>
            <a:r>
              <a:rPr lang="en-US" dirty="0"/>
              <a:t>What would we put in our Header file in the previous slides code?</a:t>
            </a:r>
          </a:p>
          <a:p>
            <a:endParaRPr lang="en-US" dirty="0"/>
          </a:p>
          <a:p>
            <a:r>
              <a:rPr lang="en-US" dirty="0"/>
              <a:t>What would we put in our Implementation file in the previous slides code?</a:t>
            </a:r>
          </a:p>
        </p:txBody>
      </p:sp>
    </p:spTree>
    <p:extLst>
      <p:ext uri="{BB962C8B-B14F-4D97-AF65-F5344CB8AC3E}">
        <p14:creationId xmlns:p14="http://schemas.microsoft.com/office/powerpoint/2010/main" val="272528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Header File (.h)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Rectangle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private: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Private Members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width,height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Default (void) Constructor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Rectangle();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Another constructor…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Rectangle(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w,int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Print Area Function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void </a:t>
            </a:r>
            <a:r>
              <a:rPr lang="en-US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894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Source File (.</a:t>
            </a:r>
            <a:r>
              <a:rPr lang="en-US" dirty="0" err="1"/>
              <a:t>cpp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118872" indent="0">
              <a:lnSpc>
                <a:spcPct val="80000"/>
              </a:lnSpc>
              <a:buNone/>
            </a:pPr>
            <a:r>
              <a:rPr lang="en-US" sz="3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“</a:t>
            </a:r>
            <a:r>
              <a:rPr lang="en-US" sz="3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Rectangle.h</a:t>
            </a:r>
            <a:r>
              <a:rPr lang="en-US" sz="3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118872" indent="0">
              <a:lnSpc>
                <a:spcPct val="80000"/>
              </a:lnSpc>
              <a:buNone/>
            </a:pPr>
            <a:endParaRPr lang="en-US" sz="3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lnSpc>
                <a:spcPct val="80000"/>
              </a:lnSpc>
              <a:buNone/>
            </a:pPr>
            <a:r>
              <a:rPr lang="en-US" sz="3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Default Constructor 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3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Rectangle::Rectangle()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3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3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Empty Constructor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3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lnSpc>
                <a:spcPct val="80000"/>
              </a:lnSpc>
              <a:buNone/>
            </a:pPr>
            <a:endParaRPr lang="en-US" sz="3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dirty="0"/>
              <a:t>What do we see here?</a:t>
            </a:r>
          </a:p>
          <a:p>
            <a:pPr lvl="1">
              <a:lnSpc>
                <a:spcPct val="80000"/>
              </a:lnSpc>
            </a:pPr>
            <a:r>
              <a:rPr lang="en-US" dirty="0"/>
              <a:t>What can we say about what is going on?</a:t>
            </a:r>
          </a:p>
          <a:p>
            <a:pPr lvl="1">
              <a:lnSpc>
                <a:spcPct val="80000"/>
              </a:lnSpc>
            </a:pPr>
            <a:endParaRPr lang="en-US" dirty="0"/>
          </a:p>
          <a:p>
            <a:pPr>
              <a:lnSpc>
                <a:spcPct val="80000"/>
              </a:lnSpc>
            </a:pPr>
            <a:r>
              <a:rPr lang="en-US" dirty="0"/>
              <a:t>How is this different than the previous example we saw?</a:t>
            </a:r>
          </a:p>
          <a:p>
            <a:pPr marL="457200" lvl="1" indent="0">
              <a:lnSpc>
                <a:spcPct val="80000"/>
              </a:lnSpc>
              <a:buNone/>
            </a:pPr>
            <a:endParaRPr lang="en-US" sz="26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9226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Source File (.</a:t>
            </a:r>
            <a:r>
              <a:rPr lang="en-US" dirty="0" err="1"/>
              <a:t>cpp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“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Rectangle.h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</a:p>
          <a:p>
            <a:pPr marL="118872" indent="0">
              <a:lnSpc>
                <a:spcPct val="80000"/>
              </a:lnSpc>
              <a:buNone/>
            </a:pP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Rectangle::Rectangle()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Empty Constructor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lnSpc>
                <a:spcPct val="80000"/>
              </a:lnSpc>
              <a:buNone/>
            </a:pP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Rectangle::Rectangle(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w, 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h)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width = w;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height = h;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lnSpc>
                <a:spcPct val="80000"/>
              </a:lnSpc>
              <a:buNone/>
            </a:pP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Rectangle::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printArea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(width * height) &lt;&lt; 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lnSpc>
                <a:spcPct val="80000"/>
              </a:lnSpc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198000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program that serves as the “jumping off point” for our code. </a:t>
            </a:r>
          </a:p>
          <a:p>
            <a:pPr lvl="1"/>
            <a:r>
              <a:rPr lang="en-US" sz="2800" dirty="0"/>
              <a:t>Used for testing and running your code.</a:t>
            </a:r>
          </a:p>
          <a:p>
            <a:endParaRPr lang="en-US" dirty="0"/>
          </a:p>
          <a:p>
            <a:r>
              <a:rPr lang="en-US" dirty="0"/>
              <a:t>Will </a:t>
            </a:r>
            <a:r>
              <a:rPr lang="en-US" b="1" u="sng" dirty="0"/>
              <a:t>ALWAYS</a:t>
            </a:r>
            <a:r>
              <a:rPr lang="en-US" dirty="0"/>
              <a:t> include a main function.</a:t>
            </a:r>
          </a:p>
          <a:p>
            <a:pPr lvl="1"/>
            <a:r>
              <a:rPr lang="en-US" sz="2800" dirty="0"/>
              <a:t>Necessary for providing the executable for our program.</a:t>
            </a:r>
          </a:p>
          <a:p>
            <a:pPr marL="118872" indent="0">
              <a:buNone/>
            </a:pP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Rectangle 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myRectangle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new Rectangle(15,10);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myRectangle.printArea</a:t>
            </a: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endParaRPr lang="en-US" sz="20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sz="20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355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Used to release allocated memory back to the heap.</a:t>
            </a:r>
          </a:p>
          <a:p>
            <a:pPr lvl="1"/>
            <a:r>
              <a:rPr lang="en-US" dirty="0"/>
              <a:t>This is important as the heap is not static like the stack.</a:t>
            </a:r>
          </a:p>
          <a:p>
            <a:pPr lvl="1"/>
            <a:endParaRPr lang="en-US" dirty="0"/>
          </a:p>
          <a:p>
            <a:r>
              <a:rPr lang="en-US" dirty="0"/>
              <a:t>Defined with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~</a:t>
            </a:r>
            <a:r>
              <a:rPr lang="en-US" dirty="0"/>
              <a:t> prefix.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Foo 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public: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Constructor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Foo (void) { }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Destructor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~Foo (void) { }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730882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cs typeface="Courier New" panose="02070309020205020404" pitchFamily="49" charset="0"/>
              </a:rPr>
              <a:t>Helps us to manage the memory within our program.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Clean up your mess – house cleaning within our code.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Invoked automatically when local variables go out of scope.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Can be invoked manually for memory allocated with the operator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cs typeface="Courier New" panose="02070309020205020404" pitchFamily="49" charset="0"/>
              </a:rPr>
              <a:t> via operator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  <a:r>
              <a:rPr lang="en-US" dirty="0">
                <a:cs typeface="Courier New" panose="02070309020205020404" pitchFamily="49" charset="0"/>
              </a:rPr>
              <a:t>.</a:t>
            </a:r>
          </a:p>
          <a:p>
            <a:pPr lvl="1"/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7883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Review: 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cs typeface="Courier New" panose="02070309020205020404" pitchFamily="49" charset="0"/>
              </a:rPr>
              <a:t>Example:</a:t>
            </a:r>
          </a:p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 (</a:t>
            </a:r>
            <a:r>
              <a:rPr lang="en-US" sz="2200" dirty="0" err="1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n)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: data_ (new char [n]), 			length_ (n) { }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Destructor (cleanup method)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~Array (void) {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release owned member at destruction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delete [] data_;</a:t>
            </a:r>
          </a:p>
          <a:p>
            <a:pPr marL="118872" indent="0">
              <a:lnSpc>
                <a:spcPct val="90000"/>
              </a:lnSpc>
              <a:buNone/>
            </a:pPr>
            <a:r>
              <a:rPr lang="en-US" sz="2200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</p:txBody>
      </p:sp>
    </p:spTree>
    <p:extLst>
      <p:ext uri="{BB962C8B-B14F-4D97-AF65-F5344CB8AC3E}">
        <p14:creationId xmlns:p14="http://schemas.microsoft.com/office/powerpoint/2010/main" val="21437724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C++ Review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Q/A</a:t>
            </a:r>
          </a:p>
        </p:txBody>
      </p:sp>
    </p:spTree>
    <p:extLst>
      <p:ext uri="{BB962C8B-B14F-4D97-AF65-F5344CB8AC3E}">
        <p14:creationId xmlns:p14="http://schemas.microsoft.com/office/powerpoint/2010/main" val="308454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457200" y="27432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GIT Overview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2445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GIT is a free, open-sourced distributed version control system.</a:t>
            </a:r>
          </a:p>
          <a:p>
            <a:pPr lvl="1"/>
            <a:r>
              <a:rPr lang="en-US" dirty="0">
                <a:hlinkClick r:id="rId2"/>
              </a:rPr>
              <a:t>https://git-scm.com/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Motivation:</a:t>
            </a:r>
          </a:p>
          <a:p>
            <a:pPr lvl="1"/>
            <a:r>
              <a:rPr lang="en-US" dirty="0"/>
              <a:t>Free version control system that was powerful enough to handle large software projects – while providing speed and efficiency in handling the workflow.</a:t>
            </a:r>
          </a:p>
          <a:p>
            <a:pPr lvl="1"/>
            <a:endParaRPr lang="en-US" dirty="0"/>
          </a:p>
          <a:p>
            <a:r>
              <a:rPr lang="en-US" dirty="0"/>
              <a:t>Created by: Linus Torvalds (of Linux fame) – 2005.</a:t>
            </a:r>
          </a:p>
        </p:txBody>
      </p:sp>
    </p:spTree>
    <p:extLst>
      <p:ext uri="{BB962C8B-B14F-4D97-AF65-F5344CB8AC3E}">
        <p14:creationId xmlns:p14="http://schemas.microsoft.com/office/powerpoint/2010/main" val="13686382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8956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GitHub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56932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So what is GitHub?</a:t>
            </a:r>
          </a:p>
          <a:p>
            <a:pPr lvl="1"/>
            <a:r>
              <a:rPr lang="en-US" dirty="0"/>
              <a:t>It is simply a web-based </a:t>
            </a:r>
            <a:r>
              <a:rPr lang="en-US" dirty="0" err="1"/>
              <a:t>Git</a:t>
            </a:r>
            <a:r>
              <a:rPr lang="en-US" dirty="0"/>
              <a:t> repository hosting service.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Launched in 2008.</a:t>
            </a:r>
          </a:p>
          <a:p>
            <a:pPr lvl="1"/>
            <a:r>
              <a:rPr lang="en-US" dirty="0"/>
              <a:t>It provides you a UI, unlike </a:t>
            </a:r>
            <a:r>
              <a:rPr lang="en-US" dirty="0" err="1"/>
              <a:t>Git</a:t>
            </a:r>
            <a:r>
              <a:rPr lang="en-US" dirty="0"/>
              <a:t> which is strictly at the command line.</a:t>
            </a:r>
          </a:p>
          <a:p>
            <a:pPr lvl="2"/>
            <a:r>
              <a:rPr lang="en-US" dirty="0"/>
              <a:t>We all like flashy things!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You can still use the command line features though…and we will through </a:t>
            </a:r>
            <a:r>
              <a:rPr lang="en-US" dirty="0" err="1">
                <a:sym typeface="Wingdings" panose="05000000000000000000" pitchFamily="2" charset="2"/>
              </a:rPr>
              <a:t>GitBash</a:t>
            </a:r>
            <a:r>
              <a:rPr lang="en-US" dirty="0">
                <a:sym typeface="Wingdings" panose="05000000000000000000" pitchFamily="2" charset="2"/>
              </a:rPr>
              <a:t>, Command/Terminal, or </a:t>
            </a:r>
            <a:r>
              <a:rPr lang="en-US" b="1" u="sng" dirty="0">
                <a:sym typeface="Wingdings" panose="05000000000000000000" pitchFamily="2" charset="2"/>
              </a:rPr>
              <a:t>Thomas</a:t>
            </a:r>
            <a:r>
              <a:rPr lang="en-US" dirty="0">
                <a:sym typeface="Wingdings" panose="05000000000000000000" pitchFamily="2" charset="2"/>
              </a:rPr>
              <a:t>.</a:t>
            </a:r>
          </a:p>
          <a:p>
            <a:pPr lvl="2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  <a:hlinkClick r:id="rId2"/>
              </a:rPr>
              <a:t>https://github.butler.edu/</a:t>
            </a:r>
            <a:r>
              <a:rPr lang="en-US" dirty="0">
                <a:sym typeface="Wingdings" panose="05000000000000000000" pitchFamily="2" charset="2"/>
              </a:rPr>
              <a:t> 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pPr marL="11887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689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1574"/>
            <a:ext cx="9144000" cy="48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0595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971800"/>
            <a:ext cx="8077200" cy="1673352"/>
          </a:xfrm>
        </p:spPr>
        <p:txBody>
          <a:bodyPr/>
          <a:lstStyle/>
          <a:p>
            <a:pPr algn="ctr"/>
            <a:r>
              <a:rPr lang="en-US" dirty="0"/>
              <a:t>GitHub Exercise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85627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Public/Private Key Access</a:t>
            </a:r>
          </a:p>
          <a:p>
            <a:pPr lvl="1"/>
            <a:r>
              <a:rPr lang="en-US" dirty="0"/>
              <a:t>HTTPS</a:t>
            </a:r>
          </a:p>
          <a:p>
            <a:pPr lvl="2"/>
            <a:r>
              <a:rPr lang="en-US" dirty="0"/>
              <a:t>Requires a handshake each time you access the GitHub repository (username/password).</a:t>
            </a:r>
          </a:p>
          <a:p>
            <a:pPr lvl="1"/>
            <a:r>
              <a:rPr lang="en-US" dirty="0"/>
              <a:t>SSH</a:t>
            </a:r>
          </a:p>
          <a:p>
            <a:pPr lvl="2"/>
            <a:r>
              <a:rPr lang="en-US" dirty="0"/>
              <a:t>Public/Private key authenticate is done – the public key is stored on the web server and the private key is maintained on your local machine.</a:t>
            </a:r>
          </a:p>
          <a:p>
            <a:pPr marL="914400" lvl="2" indent="0">
              <a:buNone/>
            </a:pPr>
            <a:endParaRPr lang="en-US" dirty="0"/>
          </a:p>
          <a:p>
            <a:pPr marL="164592" indent="0">
              <a:buNone/>
            </a:pPr>
            <a:r>
              <a:rPr lang="en-US" sz="2800" dirty="0">
                <a:hlinkClick r:id="rId2"/>
              </a:rPr>
              <a:t>https://help.github.com/articles/generating-ssh-keys</a:t>
            </a:r>
            <a:endParaRPr lang="en-US" sz="2800" dirty="0"/>
          </a:p>
          <a:p>
            <a:pPr marL="164592" indent="0">
              <a:buNone/>
            </a:pPr>
            <a:endParaRPr lang="en-US" sz="2800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6401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Creating A Repository</a:t>
            </a:r>
          </a:p>
          <a:p>
            <a:pPr lvl="1"/>
            <a:r>
              <a:rPr lang="en-US" dirty="0"/>
              <a:t>Create a private </a:t>
            </a:r>
            <a:r>
              <a:rPr lang="en-US" dirty="0" err="1"/>
              <a:t>Git</a:t>
            </a:r>
            <a:r>
              <a:rPr lang="en-US" dirty="0"/>
              <a:t> repository on the Butler GitHub.</a:t>
            </a:r>
          </a:p>
          <a:p>
            <a:pPr lvl="2"/>
            <a:r>
              <a:rPr lang="en-US" dirty="0"/>
              <a:t>Example: </a:t>
            </a:r>
            <a:r>
              <a:rPr lang="en-US" sz="2200" dirty="0">
                <a:latin typeface="Courier New" panose="02070309020205020404" pitchFamily="49" charset="0"/>
                <a:cs typeface="Courier New" panose="02070309020205020404" pitchFamily="49" charset="0"/>
              </a:rPr>
              <a:t>cs341_spring2023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It is easiest to accomplish this through the web front end provided on the Butler GitHub site.</a:t>
            </a:r>
          </a:p>
          <a:p>
            <a:endParaRPr lang="en-US" dirty="0">
              <a:latin typeface="+mj-lt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Make sure to select the </a:t>
            </a:r>
            <a:r>
              <a:rPr lang="en-US" b="1" dirty="0">
                <a:latin typeface="+mj-lt"/>
                <a:cs typeface="Courier New" panose="02070309020205020404" pitchFamily="49" charset="0"/>
              </a:rPr>
              <a:t>private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option when creating your repository, otherwise everyone can see/access it.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069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Initial Download of Repository Contents</a:t>
            </a:r>
          </a:p>
          <a:p>
            <a:pPr lvl="1"/>
            <a:r>
              <a:rPr lang="en-US" dirty="0"/>
              <a:t>Now that we have our repository setup we need to clone it.</a:t>
            </a:r>
          </a:p>
          <a:p>
            <a:pPr lvl="2"/>
            <a:r>
              <a:rPr lang="en-US" dirty="0"/>
              <a:t>Cloning the repository is the primary method for initially downloading the contents of the remote hosted repository onto your local machine in your home directory.</a:t>
            </a:r>
          </a:p>
          <a:p>
            <a:pPr lvl="2"/>
            <a:r>
              <a:rPr lang="en-US" dirty="0"/>
              <a:t>We can use Thomas to accomplish this using the following command:</a:t>
            </a:r>
          </a:p>
          <a:p>
            <a:pPr marL="21031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clone git@github.butler.edu:[username]/cs341_spring2023.git [destination path/directory name]</a:t>
            </a:r>
          </a:p>
        </p:txBody>
      </p:sp>
    </p:spTree>
    <p:extLst>
      <p:ext uri="{BB962C8B-B14F-4D97-AF65-F5344CB8AC3E}">
        <p14:creationId xmlns:p14="http://schemas.microsoft.com/office/powerpoint/2010/main" val="38282144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4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Adding</a:t>
            </a:r>
          </a:p>
          <a:p>
            <a:pPr lvl="1"/>
            <a:r>
              <a:rPr lang="en-US" dirty="0"/>
              <a:t>When you clone a </a:t>
            </a:r>
            <a:r>
              <a:rPr lang="en-US" dirty="0" err="1"/>
              <a:t>Git</a:t>
            </a:r>
            <a:r>
              <a:rPr lang="en-US" dirty="0"/>
              <a:t> repository, you have a </a:t>
            </a:r>
            <a:r>
              <a:rPr lang="en-US" u="sng" dirty="0"/>
              <a:t>personal copy</a:t>
            </a:r>
            <a:r>
              <a:rPr lang="en-US" dirty="0"/>
              <a:t> of the entire repository on your local machine. </a:t>
            </a:r>
          </a:p>
          <a:p>
            <a:pPr lvl="2"/>
            <a:r>
              <a:rPr lang="en-US" dirty="0"/>
              <a:t>An advantage of this approach is that you can </a:t>
            </a:r>
            <a:r>
              <a:rPr lang="en-US" b="1" dirty="0"/>
              <a:t>add</a:t>
            </a:r>
            <a:r>
              <a:rPr lang="en-US" dirty="0"/>
              <a:t> and </a:t>
            </a:r>
            <a:r>
              <a:rPr lang="en-US" b="1" dirty="0"/>
              <a:t>commit</a:t>
            </a:r>
            <a:r>
              <a:rPr lang="en-US" dirty="0"/>
              <a:t> without having to communicate with the originating server (e.g., </a:t>
            </a:r>
            <a:r>
              <a:rPr lang="en-US" dirty="0" err="1"/>
              <a:t>Github</a:t>
            </a:r>
            <a:r>
              <a:rPr lang="en-US" dirty="0"/>
              <a:t>). </a:t>
            </a:r>
          </a:p>
          <a:p>
            <a:pPr lvl="1"/>
            <a:r>
              <a:rPr lang="en-US" dirty="0"/>
              <a:t>Adding a file to your local copy of the repo is simple. We just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dirty="0"/>
              <a:t> command.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add [filename]</a:t>
            </a:r>
          </a:p>
          <a:p>
            <a:pPr lvl="1"/>
            <a:r>
              <a:rPr lang="en-US" dirty="0"/>
              <a:t>When you add a file to the local copy, it notifies </a:t>
            </a:r>
            <a:r>
              <a:rPr lang="en-US" dirty="0" err="1"/>
              <a:t>Git</a:t>
            </a:r>
            <a:r>
              <a:rPr lang="en-US" dirty="0"/>
              <a:t> that a file is ready to be committed. </a:t>
            </a:r>
          </a:p>
        </p:txBody>
      </p:sp>
    </p:spTree>
    <p:extLst>
      <p:ext uri="{BB962C8B-B14F-4D97-AF65-F5344CB8AC3E}">
        <p14:creationId xmlns:p14="http://schemas.microsoft.com/office/powerpoint/2010/main" val="29649037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4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Committing</a:t>
            </a:r>
          </a:p>
          <a:p>
            <a:pPr lvl="1"/>
            <a:r>
              <a:rPr lang="en-US" dirty="0"/>
              <a:t>Files are not saved to the repository until you commit it using the commit command.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commit –m “[Commit Comments Go Here]”</a:t>
            </a:r>
          </a:p>
          <a:p>
            <a:pPr lvl="1"/>
            <a:r>
              <a:rPr lang="en-US" dirty="0"/>
              <a:t>Like with any command line instructions you can add “optional parameters,” here we added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–m </a:t>
            </a:r>
            <a:r>
              <a:rPr lang="en-US" dirty="0"/>
              <a:t>which allows for a commit message (comment). The GitHub documentation provides a list of all the parameters available.</a:t>
            </a:r>
          </a:p>
          <a:p>
            <a:pPr lvl="1"/>
            <a:r>
              <a:rPr lang="en-US" dirty="0"/>
              <a:t>At this point all of our changes are still local to our repository…we need to push them out to the Butler GitHub.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522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5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300" dirty="0"/>
              <a:t>Pushing </a:t>
            </a:r>
          </a:p>
          <a:p>
            <a:pPr lvl="1"/>
            <a:r>
              <a:rPr lang="en-US" sz="3400" dirty="0"/>
              <a:t>We now want to “push” our changes out to the Butler GitHub. To accomplish this we use the </a:t>
            </a:r>
            <a:r>
              <a:rPr lang="en-US" sz="3400" dirty="0" err="1"/>
              <a:t>Git</a:t>
            </a:r>
            <a:r>
              <a:rPr lang="en-US" sz="3400" dirty="0"/>
              <a:t> command of 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sz="3400" dirty="0"/>
              <a:t>.</a:t>
            </a:r>
          </a:p>
          <a:p>
            <a:pPr marL="457200" lvl="1" indent="0" algn="ctr">
              <a:buNone/>
            </a:pPr>
            <a:endParaRPr lang="en-US" sz="3400" dirty="0"/>
          </a:p>
          <a:p>
            <a:pPr marL="164592" indent="0" algn="ctr">
              <a:buNone/>
            </a:pP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push origin master</a:t>
            </a:r>
          </a:p>
          <a:p>
            <a:pPr marL="164592" indent="0" algn="ctr">
              <a:buNone/>
            </a:pPr>
            <a:r>
              <a:rPr lang="en-US" sz="3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 push [location] [branch]</a:t>
            </a:r>
          </a:p>
          <a:p>
            <a:pPr lvl="1"/>
            <a:endParaRPr lang="en-US" sz="3400" dirty="0"/>
          </a:p>
          <a:p>
            <a:pPr lvl="1"/>
            <a:r>
              <a:rPr lang="en-US" sz="3400" dirty="0"/>
              <a:t>The command above is pushing to the 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en-US" sz="3400" dirty="0"/>
              <a:t> location of the </a:t>
            </a:r>
            <a:r>
              <a:rPr lang="en-US" sz="3400" dirty="0">
                <a:latin typeface="Courier New" panose="02070309020205020404" pitchFamily="49" charset="0"/>
                <a:cs typeface="Courier New" panose="02070309020205020404" pitchFamily="49" charset="0"/>
              </a:rPr>
              <a:t>master</a:t>
            </a:r>
            <a:r>
              <a:rPr lang="en-US" sz="3400" dirty="0"/>
              <a:t> branch. If you want to push to a different location you would just need to specify the respective parameters.</a:t>
            </a:r>
          </a:p>
          <a:p>
            <a:pPr lvl="2"/>
            <a:r>
              <a:rPr lang="en-US" sz="3000" dirty="0"/>
              <a:t>Origin is simply the remote repository.</a:t>
            </a:r>
          </a:p>
          <a:p>
            <a:pPr lvl="1"/>
            <a:endParaRPr lang="en-US" sz="3400" dirty="0"/>
          </a:p>
          <a:p>
            <a:pPr lvl="1"/>
            <a:r>
              <a:rPr lang="en-US" sz="3400" dirty="0"/>
              <a:t>When working with collaborators, they will also push their changes as well. We will eventually want to integrate their changes into our workspace. This is when we want to </a:t>
            </a:r>
            <a:r>
              <a:rPr lang="en-US" sz="3400" b="1" dirty="0"/>
              <a:t>pull</a:t>
            </a:r>
            <a:r>
              <a:rPr lang="en-US" sz="3400" dirty="0"/>
              <a:t> from the repository. </a:t>
            </a:r>
          </a:p>
        </p:txBody>
      </p:sp>
    </p:spTree>
    <p:extLst>
      <p:ext uri="{BB962C8B-B14F-4D97-AF65-F5344CB8AC3E}">
        <p14:creationId xmlns:p14="http://schemas.microsoft.com/office/powerpoint/2010/main" val="15926017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5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Pulling</a:t>
            </a:r>
          </a:p>
          <a:p>
            <a:pPr lvl="1"/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pull</a:t>
            </a:r>
            <a:r>
              <a:rPr lang="en-US" dirty="0"/>
              <a:t> command is similar to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push</a:t>
            </a:r>
            <a:r>
              <a:rPr lang="en-US" dirty="0"/>
              <a:t> command in terms of its syntax. If you do not specify a branch, then it pulls everything that is new and merges the changes into your local repository.</a:t>
            </a:r>
          </a:p>
          <a:p>
            <a:pPr lvl="1"/>
            <a:endParaRPr lang="en-US" dirty="0"/>
          </a:p>
          <a:p>
            <a:pPr marL="164592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pull origin master</a:t>
            </a:r>
          </a:p>
          <a:p>
            <a:pPr marL="164592" indent="0" algn="ctr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pull [location] [branch]</a:t>
            </a:r>
          </a:p>
          <a:p>
            <a:pPr marL="164592" indent="0" algn="ctr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Again, we can specify the specific location and branch to “pull” from.</a:t>
            </a:r>
          </a:p>
          <a:p>
            <a:pPr marL="164592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9810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Now that we have created our own GitHub project repository we need to explore how to contribute to another users project.</a:t>
            </a:r>
          </a:p>
          <a:p>
            <a:pPr lvl="1"/>
            <a:r>
              <a:rPr lang="en-US" dirty="0"/>
              <a:t>This process is known as forking.</a:t>
            </a:r>
          </a:p>
          <a:p>
            <a:pPr lvl="1"/>
            <a:endParaRPr lang="en-US" dirty="0"/>
          </a:p>
          <a:p>
            <a:r>
              <a:rPr lang="en-US" dirty="0"/>
              <a:t>A </a:t>
            </a:r>
            <a:r>
              <a:rPr lang="en-US" b="1" u="sng" dirty="0"/>
              <a:t>fork</a:t>
            </a:r>
            <a:r>
              <a:rPr lang="en-US" dirty="0"/>
              <a:t> is producing a personal copy of someone else’s project.</a:t>
            </a:r>
          </a:p>
          <a:p>
            <a:pPr lvl="1"/>
            <a:r>
              <a:rPr lang="en-US" dirty="0"/>
              <a:t>Allows for multiple people to contribute actively to the same project.</a:t>
            </a:r>
          </a:p>
        </p:txBody>
      </p:sp>
    </p:spTree>
    <p:extLst>
      <p:ext uri="{BB962C8B-B14F-4D97-AF65-F5344CB8AC3E}">
        <p14:creationId xmlns:p14="http://schemas.microsoft.com/office/powerpoint/2010/main" val="14850140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6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018" y="1600200"/>
            <a:ext cx="4525963" cy="4525963"/>
          </a:xfrm>
        </p:spPr>
      </p:pic>
    </p:spTree>
    <p:extLst>
      <p:ext uri="{BB962C8B-B14F-4D97-AF65-F5344CB8AC3E}">
        <p14:creationId xmlns:p14="http://schemas.microsoft.com/office/powerpoint/2010/main" val="13837224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start by attempting to fork an existing repository – “spoon”</a:t>
            </a:r>
          </a:p>
          <a:p>
            <a:pPr lvl="1"/>
            <a:r>
              <a:rPr lang="en-US" dirty="0"/>
              <a:t>Don’t worry, my jokes get even better as the semester goes along.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This will allow us to make a copy of the original repository without impacting the original project.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376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clone the repository as follows: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clone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https://github.butler.edu/&lt;&lt;username&gt;&gt;/spoon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Once we have “forked” the repository – we need to go back to Step 3 to clone it down to our local machine.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95682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we want to clone the fork not the original repository.</a:t>
            </a:r>
          </a:p>
          <a:p>
            <a:endParaRPr lang="en-US" dirty="0"/>
          </a:p>
          <a:p>
            <a:r>
              <a:rPr lang="en-US" dirty="0"/>
              <a:t>Now we are ready to Commit and Push our changes back to the original project.</a:t>
            </a:r>
          </a:p>
          <a:p>
            <a:pPr lvl="1"/>
            <a:r>
              <a:rPr lang="en-US" dirty="0"/>
              <a:t>This process is very similar to that found in Step 4 – there is just one small change…actually it is a pretty big change…</a:t>
            </a:r>
          </a:p>
        </p:txBody>
      </p:sp>
    </p:spTree>
    <p:extLst>
      <p:ext uri="{BB962C8B-B14F-4D97-AF65-F5344CB8AC3E}">
        <p14:creationId xmlns:p14="http://schemas.microsoft.com/office/powerpoint/2010/main" val="14580670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first need to Add (Step 4 – Part I) – this will </a:t>
            </a:r>
          </a:p>
          <a:p>
            <a:endParaRPr lang="en-US" dirty="0"/>
          </a:p>
          <a:p>
            <a:r>
              <a:rPr lang="en-US" dirty="0"/>
              <a:t>Add Command:</a:t>
            </a:r>
          </a:p>
          <a:p>
            <a:endParaRPr lang="en-US" dirty="0"/>
          </a:p>
          <a:p>
            <a:pPr marL="0" indent="0" algn="ctr">
              <a:buNone/>
            </a:pP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remote add upstream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  <a:hlinkClick r:id="rId2"/>
              </a:rPr>
              <a:t>https://github.butler.edu/rrybarcz/spoon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Now we can go ahead and Push, right!?</a:t>
            </a:r>
          </a:p>
          <a:p>
            <a:pPr lvl="1"/>
            <a:r>
              <a:rPr lang="en-US" dirty="0"/>
              <a:t>No!</a:t>
            </a:r>
          </a:p>
        </p:txBody>
      </p:sp>
    </p:spTree>
    <p:extLst>
      <p:ext uri="{BB962C8B-B14F-4D97-AF65-F5344CB8AC3E}">
        <p14:creationId xmlns:p14="http://schemas.microsoft.com/office/powerpoint/2010/main" val="130099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9 (Part 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Branches!</a:t>
            </a:r>
          </a:p>
          <a:p>
            <a:pPr lvl="1"/>
            <a:r>
              <a:rPr lang="en-US" dirty="0"/>
              <a:t>Branches allow us to create solutions to a project without negatively impacting the progress overall.</a:t>
            </a:r>
          </a:p>
          <a:p>
            <a:pPr lvl="1"/>
            <a:endParaRPr lang="en-US" dirty="0"/>
          </a:p>
          <a:p>
            <a:pPr marL="0" indent="0" algn="ctr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checkout -b &lt;new branch name&gt;</a:t>
            </a:r>
          </a:p>
        </p:txBody>
      </p:sp>
    </p:spTree>
    <p:extLst>
      <p:ext uri="{BB962C8B-B14F-4D97-AF65-F5344CB8AC3E}">
        <p14:creationId xmlns:p14="http://schemas.microsoft.com/office/powerpoint/2010/main" val="6171872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9 (Part 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let’s go ahead and Push our change that we made to this branch back.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push origin &lt;new branch name&gt;</a:t>
            </a:r>
          </a:p>
          <a:p>
            <a:pPr marL="0" indent="0" algn="ctr">
              <a:buNone/>
            </a:pPr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Here we assume you have already added and committed your changes to your local copy.</a:t>
            </a:r>
          </a:p>
        </p:txBody>
      </p:sp>
    </p:spTree>
    <p:extLst>
      <p:ext uri="{BB962C8B-B14F-4D97-AF65-F5344CB8AC3E}">
        <p14:creationId xmlns:p14="http://schemas.microsoft.com/office/powerpoint/2010/main" val="33624908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Step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Pull Request</a:t>
            </a:r>
          </a:p>
          <a:p>
            <a:pPr lvl="1"/>
            <a:r>
              <a:rPr lang="en-US" dirty="0"/>
              <a:t>We need some way to “merge” our changes back into the original project.</a:t>
            </a:r>
          </a:p>
          <a:p>
            <a:pPr lvl="1"/>
            <a:endParaRPr lang="en-US" dirty="0"/>
          </a:p>
          <a:p>
            <a:r>
              <a:rPr lang="en-US" dirty="0"/>
              <a:t>We first need to compare that what we have done has not interfered with anyone else's work.</a:t>
            </a:r>
          </a:p>
          <a:p>
            <a:pPr lvl="1"/>
            <a:r>
              <a:rPr lang="en-US" dirty="0"/>
              <a:t>Compare and Pull Request</a:t>
            </a:r>
          </a:p>
          <a:p>
            <a:pPr lvl="2"/>
            <a:r>
              <a:rPr lang="en-US" b="1" u="sng" dirty="0"/>
              <a:t>Note:</a:t>
            </a:r>
            <a:r>
              <a:rPr lang="en-US" dirty="0"/>
              <a:t> The owner of the project does </a:t>
            </a:r>
            <a:r>
              <a:rPr lang="en-US" b="1" dirty="0"/>
              <a:t>not</a:t>
            </a:r>
            <a:r>
              <a:rPr lang="en-US" dirty="0"/>
              <a:t> have to accept your request.</a:t>
            </a:r>
          </a:p>
        </p:txBody>
      </p:sp>
    </p:spTree>
    <p:extLst>
      <p:ext uri="{BB962C8B-B14F-4D97-AF65-F5344CB8AC3E}">
        <p14:creationId xmlns:p14="http://schemas.microsoft.com/office/powerpoint/2010/main" val="39770708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– Success!!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this point we have been able to successfully Fork an existing project – create a branch for the project – make changes – commit and push those changes – and ultimately issue a Pull Request back to the project we are trying to commit to.</a:t>
            </a:r>
          </a:p>
          <a:p>
            <a:pPr lvl="1"/>
            <a:r>
              <a:rPr lang="en-US" dirty="0"/>
              <a:t>This will be the basis for every single assignment this semester.</a:t>
            </a:r>
          </a:p>
        </p:txBody>
      </p:sp>
    </p:spTree>
    <p:extLst>
      <p:ext uri="{BB962C8B-B14F-4D97-AF65-F5344CB8AC3E}">
        <p14:creationId xmlns:p14="http://schemas.microsoft.com/office/powerpoint/2010/main" val="318620053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81000" y="2971800"/>
            <a:ext cx="8077200" cy="1673352"/>
          </a:xfrm>
        </p:spPr>
        <p:txBody>
          <a:bodyPr/>
          <a:lstStyle/>
          <a:p>
            <a:pPr algn="ctr"/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432031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Every time we want to compile something in C, C++, or Java we have to run the respective command for that languages compiler.</a:t>
            </a:r>
          </a:p>
          <a:p>
            <a:endParaRPr lang="en-US" dirty="0"/>
          </a:p>
          <a:p>
            <a:r>
              <a:rPr lang="en-US" dirty="0"/>
              <a:t>This is a trivial task for single file assignments – what happens when we have multiple files?</a:t>
            </a:r>
          </a:p>
          <a:p>
            <a:pPr lvl="1"/>
            <a:r>
              <a:rPr lang="en-US" dirty="0"/>
              <a:t>This quickly becomes a pain, and what is worse is that we introduce the possibility of a typo.</a:t>
            </a:r>
          </a:p>
          <a:p>
            <a:pPr lvl="1"/>
            <a:endParaRPr lang="en-US" dirty="0"/>
          </a:p>
          <a:p>
            <a:r>
              <a:rPr lang="en-US" dirty="0"/>
              <a:t>There has to be something better…right!?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7843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is a utility in Unix that was designed as one of the original tools of the operating system in 1977 by Bell Labs.</a:t>
            </a:r>
          </a:p>
          <a:p>
            <a:pPr lvl="1"/>
            <a:r>
              <a:rPr lang="en-US" dirty="0"/>
              <a:t>In the subsequent years many different versions of </a:t>
            </a:r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have been developed.</a:t>
            </a:r>
          </a:p>
          <a:p>
            <a:pPr lvl="1"/>
            <a:endParaRPr lang="en-US" dirty="0"/>
          </a:p>
          <a:p>
            <a:r>
              <a:rPr lang="en-US" dirty="0"/>
              <a:t>What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A tool designed to allow programmers to efficiently compile large complex programs with many components easily. </a:t>
            </a:r>
          </a:p>
        </p:txBody>
      </p:sp>
    </p:spTree>
    <p:extLst>
      <p:ext uri="{BB962C8B-B14F-4D97-AF65-F5344CB8AC3E}">
        <p14:creationId xmlns:p14="http://schemas.microsoft.com/office/powerpoint/2010/main" val="308407858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Features:</a:t>
            </a:r>
          </a:p>
          <a:p>
            <a:pPr lvl="1"/>
            <a:r>
              <a:rPr lang="en-US" sz="3200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will actually look at and only compile those files that have changed (and their dependencies). </a:t>
            </a:r>
          </a:p>
          <a:p>
            <a:pPr lvl="1"/>
            <a:r>
              <a:rPr lang="en-US" dirty="0"/>
              <a:t>This eliminates wasteful overhead, in terms of time, related to compilation and ultimately execution of our program.</a:t>
            </a:r>
          </a:p>
          <a:p>
            <a:pPr lvl="1"/>
            <a:endParaRPr lang="en-US" dirty="0"/>
          </a:p>
          <a:p>
            <a:r>
              <a:rPr lang="en-US" dirty="0"/>
              <a:t>It provides a single (universal) way for us to compile our code to form software systems.</a:t>
            </a:r>
          </a:p>
        </p:txBody>
      </p:sp>
    </p:spTree>
    <p:extLst>
      <p:ext uri="{BB962C8B-B14F-4D97-AF65-F5344CB8AC3E}">
        <p14:creationId xmlns:p14="http://schemas.microsoft.com/office/powerpoint/2010/main" val="30604666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  <a:p>
            <a:pPr lvl="1"/>
            <a:r>
              <a:rPr lang="en-US" dirty="0"/>
              <a:t>When you type the command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” the operating system looks for a file called either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makefile</a:t>
            </a:r>
            <a:r>
              <a:rPr lang="en-US" dirty="0"/>
              <a:t>” or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Makefile</a:t>
            </a:r>
            <a:r>
              <a:rPr lang="en-US" dirty="0"/>
              <a:t>”. </a:t>
            </a:r>
          </a:p>
          <a:p>
            <a:pPr lvl="2"/>
            <a:r>
              <a:rPr lang="en-US" dirty="0"/>
              <a:t>Note: There is no extension to this file – it simply “is” a file.</a:t>
            </a:r>
          </a:p>
          <a:p>
            <a:pPr lvl="3"/>
            <a:r>
              <a:rPr lang="en-US" dirty="0"/>
              <a:t>You can create </a:t>
            </a:r>
            <a:r>
              <a:rPr lang="en-US" dirty="0" err="1"/>
              <a:t>makefiles</a:t>
            </a:r>
            <a:r>
              <a:rPr lang="en-US" dirty="0"/>
              <a:t> with an extension – but you have to do a little more work in order to “use” them.</a:t>
            </a:r>
          </a:p>
          <a:p>
            <a:pPr lvl="1"/>
            <a:r>
              <a:rPr lang="en-US" dirty="0"/>
              <a:t>You need to type the following command:</a:t>
            </a:r>
          </a:p>
          <a:p>
            <a:pPr marL="210312" indent="0" algn="ctr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make –f &lt;filename&gt;.&lt;extension&gt;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5735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This file contains a series of directives that tell the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” utility how to compile your program and in what order. </a:t>
            </a:r>
          </a:p>
          <a:p>
            <a:endParaRPr lang="en-US" dirty="0"/>
          </a:p>
          <a:p>
            <a:r>
              <a:rPr lang="en-US" dirty="0"/>
              <a:t>Each file will be associated with a list of other files by which it is dependent. </a:t>
            </a:r>
          </a:p>
          <a:p>
            <a:pPr lvl="1"/>
            <a:r>
              <a:rPr lang="en-US" dirty="0"/>
              <a:t>This is called a dependency line. </a:t>
            </a:r>
          </a:p>
          <a:p>
            <a:endParaRPr lang="en-US" dirty="0"/>
          </a:p>
          <a:p>
            <a:r>
              <a:rPr lang="en-US" dirty="0"/>
              <a:t>If any of the associated files have been recently modified, the make utility will execute a directive command just below the dependency line.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027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” utility is recursive.  </a:t>
            </a:r>
          </a:p>
          <a:p>
            <a:pPr lvl="1"/>
            <a:r>
              <a:rPr lang="en-US" dirty="0"/>
              <a:t>For instance, if a very low level utility is the only thing changed, it could cause all of the modules within a program to be re-compiled – depending on the relationship between the utility and the other files/components.</a:t>
            </a:r>
          </a:p>
          <a:p>
            <a:endParaRPr lang="en-US" dirty="0"/>
          </a:p>
          <a:p>
            <a:r>
              <a:rPr lang="en-US" dirty="0"/>
              <a:t>After the utility finishes the file, it goes through and checks all of the dependencies again to make sure all are up to date.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047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 Example:</a:t>
            </a:r>
          </a:p>
          <a:p>
            <a:pPr marL="118872" indent="0">
              <a:buNone/>
            </a:pPr>
            <a:endParaRPr lang="en-US" dirty="0"/>
          </a:p>
          <a:p>
            <a:pPr>
              <a:buNone/>
            </a:pP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HelloWorld.o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: HelloWorld.cpp </a:t>
            </a:r>
          </a:p>
          <a:p>
            <a:pPr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	g++ -c HelloWorld.cpp </a:t>
            </a:r>
          </a:p>
          <a:p>
            <a:pPr>
              <a:buNone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clean: </a:t>
            </a:r>
          </a:p>
          <a:p>
            <a:pPr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rm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-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rf</a:t>
            </a:r>
            <a:r>
              <a:rPr lang="en-US" altLang="en-US">
                <a:latin typeface="Courier New" pitchFamily="49" charset="0"/>
                <a:cs typeface="Courier New" pitchFamily="49" charset="0"/>
              </a:rPr>
              <a:t> *.o 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HelloWorld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954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is the makeup of a traditional </a:t>
            </a:r>
            <a:r>
              <a:rPr lang="en-US" dirty="0" err="1"/>
              <a:t>Makefile</a:t>
            </a:r>
            <a:r>
              <a:rPr lang="en-US" dirty="0"/>
              <a:t>?</a:t>
            </a:r>
          </a:p>
          <a:p>
            <a:endParaRPr lang="en-US" dirty="0"/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Comments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Rules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Dependency Lines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Shell Lines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Macros</a:t>
            </a:r>
          </a:p>
          <a:p>
            <a:pPr marL="633222" indent="-514350">
              <a:buFont typeface="+mj-lt"/>
              <a:buAutoNum type="arabicPeriod"/>
            </a:pPr>
            <a:r>
              <a:rPr lang="en-US" dirty="0"/>
              <a:t>Inference Rules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1499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u="sng" dirty="0"/>
              <a:t>comment</a:t>
            </a:r>
            <a:r>
              <a:rPr lang="en-US" dirty="0"/>
              <a:t> is indicated by the character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dirty="0"/>
              <a:t>”.  </a:t>
            </a:r>
          </a:p>
          <a:p>
            <a:pPr lvl="1"/>
            <a:r>
              <a:rPr lang="en-US" dirty="0"/>
              <a:t>All text that appears after it will be ignored by the make utility until the end of line is detected. </a:t>
            </a:r>
          </a:p>
          <a:p>
            <a:endParaRPr lang="en-US" dirty="0"/>
          </a:p>
          <a:p>
            <a:r>
              <a:rPr lang="en-US" dirty="0"/>
              <a:t>Comments can start anywhere.  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 This is a comment</a:t>
            </a:r>
          </a:p>
          <a:p>
            <a:pPr marL="457200" lvl="1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g++ HelloWorld.cpp # This is also a valid comment.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1094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u="sng" dirty="0"/>
              <a:t>Rules</a:t>
            </a:r>
            <a:r>
              <a:rPr lang="en-US" dirty="0"/>
              <a:t> tell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when and how to make a file.  </a:t>
            </a:r>
          </a:p>
          <a:p>
            <a:pPr lvl="1"/>
            <a:r>
              <a:rPr lang="en-US" dirty="0"/>
              <a:t>The format is as follows:</a:t>
            </a:r>
          </a:p>
          <a:p>
            <a:pPr lvl="2"/>
            <a:r>
              <a:rPr lang="en-US" dirty="0"/>
              <a:t>A rule must have a dependency line and may have an action or shell line after it.  The action line is executed if the dependency line is out of date. 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HelloWorld.cpp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g++ -c HelloWorld.cpp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681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8872" indent="0">
              <a:buNone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 HelloWorld.cpp </a:t>
            </a:r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g++ -c HelloWorld.cpp </a:t>
            </a:r>
          </a:p>
          <a:p>
            <a:pPr marL="118872" indent="0">
              <a:buNone/>
            </a:pPr>
            <a:endParaRPr lang="en-US" dirty="0"/>
          </a:p>
          <a:p>
            <a:r>
              <a:rPr lang="en-US" dirty="0"/>
              <a:t>This shows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hello.o</a:t>
            </a:r>
            <a:r>
              <a:rPr lang="en-US" dirty="0"/>
              <a:t>  as a module that requires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hello.cpp</a:t>
            </a:r>
            <a:r>
              <a:rPr lang="en-US" dirty="0"/>
              <a:t> as a dependency.  If the last modified date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HelloWorld.cpp</a:t>
            </a:r>
            <a:r>
              <a:rPr lang="en-US" dirty="0"/>
              <a:t> is newer than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hello.o</a:t>
            </a:r>
            <a:r>
              <a:rPr lang="en-US" dirty="0"/>
              <a:t>, than the next line (shell line) is executed. </a:t>
            </a:r>
          </a:p>
          <a:p>
            <a:pPr lvl="1"/>
            <a:r>
              <a:rPr lang="en-US" dirty="0"/>
              <a:t>Together, these two lines form a rule.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339746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lines with a “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dirty="0"/>
              <a:t>” are called </a:t>
            </a:r>
            <a:r>
              <a:rPr lang="en-US" b="1" u="sng" dirty="0"/>
              <a:t>dependency lines</a:t>
            </a:r>
            <a:r>
              <a:rPr lang="en-US" dirty="0"/>
              <a:t>.  </a:t>
            </a:r>
          </a:p>
          <a:p>
            <a:pPr lvl="1"/>
            <a:r>
              <a:rPr lang="en-US" dirty="0"/>
              <a:t>To the left of the colon are the dependencies</a:t>
            </a:r>
          </a:p>
          <a:p>
            <a:pPr lvl="1"/>
            <a:r>
              <a:rPr lang="en-US" dirty="0"/>
              <a:t>To the right are the sources needed to make the dependency. </a:t>
            </a:r>
          </a:p>
          <a:p>
            <a:endParaRPr lang="en-US" dirty="0"/>
          </a:p>
          <a:p>
            <a:r>
              <a:rPr lang="en-US" dirty="0"/>
              <a:t>At the running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utility, the time and date when the executable was last built are compared to the dates when dependencies were built.  </a:t>
            </a:r>
          </a:p>
        </p:txBody>
      </p:sp>
    </p:spTree>
    <p:extLst>
      <p:ext uri="{BB962C8B-B14F-4D97-AF65-F5344CB8AC3E}">
        <p14:creationId xmlns:p14="http://schemas.microsoft.com/office/powerpoint/2010/main" val="4419784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Dependency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make process is </a:t>
            </a:r>
            <a:r>
              <a:rPr lang="en-US" i="1" dirty="0"/>
              <a:t>recursive</a:t>
            </a:r>
            <a:r>
              <a:rPr lang="en-US" dirty="0"/>
              <a:t> in that it will check all dependencies to make sure they are not out of date before completing the build process. </a:t>
            </a:r>
          </a:p>
          <a:p>
            <a:pPr lvl="1"/>
            <a:r>
              <a:rPr lang="en-US" dirty="0"/>
              <a:t>Note: It is important that all dependencies be placed in a descending order in the file. </a:t>
            </a:r>
          </a:p>
          <a:p>
            <a:endParaRPr lang="en-US" dirty="0"/>
          </a:p>
          <a:p>
            <a:r>
              <a:rPr lang="en-US" dirty="0"/>
              <a:t>Some files may have the same dependencies. </a:t>
            </a:r>
          </a:p>
        </p:txBody>
      </p:sp>
    </p:spTree>
    <p:extLst>
      <p:ext uri="{BB962C8B-B14F-4D97-AF65-F5344CB8AC3E}">
        <p14:creationId xmlns:p14="http://schemas.microsoft.com/office/powerpoint/2010/main" val="21709836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Shell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indented lines (</a:t>
            </a:r>
            <a:r>
              <a:rPr lang="en-US" b="1" u="sng" dirty="0"/>
              <a:t>must</a:t>
            </a:r>
            <a:r>
              <a:rPr lang="en-US" dirty="0"/>
              <a:t> have tab) that follow each dependency line are called </a:t>
            </a:r>
            <a:r>
              <a:rPr lang="en-US" b="1" u="sng" dirty="0"/>
              <a:t>shell lines</a:t>
            </a:r>
            <a:r>
              <a:rPr lang="en-US" dirty="0"/>
              <a:t>.  </a:t>
            </a:r>
          </a:p>
          <a:p>
            <a:endParaRPr lang="en-US" dirty="0"/>
          </a:p>
          <a:p>
            <a:r>
              <a:rPr lang="en-US" dirty="0"/>
              <a:t>Shell lines tell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how to build the target. </a:t>
            </a:r>
          </a:p>
          <a:p>
            <a:pPr lvl="1"/>
            <a:r>
              <a:rPr lang="en-US" dirty="0"/>
              <a:t>A target can have more than one shell line.  Each line must be preceded by a tab. </a:t>
            </a:r>
          </a:p>
          <a:p>
            <a:endParaRPr lang="en-US" dirty="0"/>
          </a:p>
          <a:p>
            <a:r>
              <a:rPr lang="en-US" dirty="0"/>
              <a:t>After each shell is executed,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make</a:t>
            </a:r>
            <a:r>
              <a:rPr lang="en-US" dirty="0"/>
              <a:t> checks to see if it was completed without error.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153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 </a:t>
            </a:r>
            <a:r>
              <a:rPr lang="en-US" b="1" u="sng" dirty="0"/>
              <a:t>macro</a:t>
            </a:r>
            <a:r>
              <a:rPr lang="en-US" dirty="0"/>
              <a:t> is a shorthand, or alias, used in the </a:t>
            </a:r>
            <a:r>
              <a:rPr lang="en-US" dirty="0" err="1"/>
              <a:t>makefile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 string is associated with another usually larger string.</a:t>
            </a:r>
          </a:p>
          <a:p>
            <a:endParaRPr lang="en-US" dirty="0"/>
          </a:p>
          <a:p>
            <a:r>
              <a:rPr lang="en-US" dirty="0"/>
              <a:t>Inside the file, to expand a macro, you have to place the string inside of:  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$(    )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marL="118872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HOME = /home/fall2020/cs341</a:t>
            </a:r>
          </a:p>
          <a:p>
            <a:pPr marL="118872" indent="0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CPP = $(HOME)/</a:t>
            </a:r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cpp</a:t>
            </a:r>
            <a:endParaRPr lang="en-US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89224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b="1" u="sng" dirty="0"/>
              <a:t>Inference rules</a:t>
            </a:r>
            <a:r>
              <a:rPr lang="en-US" altLang="en-US" dirty="0"/>
              <a:t> are a method of generalizing the build process.  </a:t>
            </a:r>
          </a:p>
          <a:p>
            <a:pPr lvl="1"/>
            <a:r>
              <a:rPr lang="en-US" altLang="en-US" dirty="0"/>
              <a:t>Wildcards </a:t>
            </a:r>
          </a:p>
          <a:p>
            <a:endParaRPr lang="en-US" altLang="en-US" dirty="0"/>
          </a:p>
          <a:p>
            <a:r>
              <a:rPr lang="en-US" altLang="en-US" dirty="0"/>
              <a:t>The “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</a:t>
            </a:r>
            <a:r>
              <a:rPr lang="en-US" altLang="en-US" dirty="0"/>
              <a:t>” is used to indicate a wild card. </a:t>
            </a:r>
          </a:p>
          <a:p>
            <a:endParaRPr lang="en-US" altLang="en-US" dirty="0"/>
          </a:p>
          <a:p>
            <a:r>
              <a:rPr lang="en-US" altLang="en-US" dirty="0"/>
              <a:t>Examples:</a:t>
            </a:r>
          </a:p>
          <a:p>
            <a:pPr lvl="1"/>
            <a:r>
              <a:rPr lang="en-US" altLang="en-US" dirty="0"/>
              <a:t>The following will look at all .o and .</a:t>
            </a:r>
            <a:r>
              <a:rPr lang="en-US" altLang="en-US" dirty="0" err="1"/>
              <a:t>cpp</a:t>
            </a:r>
            <a:r>
              <a:rPr lang="en-US" altLang="en-US" dirty="0"/>
              <a:t> files</a:t>
            </a:r>
          </a:p>
          <a:p>
            <a:pPr marL="118872" indent="0" algn="ctr">
              <a:buNone/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%.o : %.cpp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9432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r>
              <a:rPr lang="en-US" dirty="0"/>
              <a:t> Example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In-Class Exercise</a:t>
            </a:r>
          </a:p>
        </p:txBody>
      </p:sp>
    </p:spTree>
    <p:extLst>
      <p:ext uri="{BB962C8B-B14F-4D97-AF65-F5344CB8AC3E}">
        <p14:creationId xmlns:p14="http://schemas.microsoft.com/office/powerpoint/2010/main" val="171393456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r>
              <a:rPr lang="en-US" dirty="0"/>
              <a:t>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TestMe.exe: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g++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-o TestMe.exe</a:t>
            </a:r>
          </a:p>
          <a:p>
            <a:pPr marL="118872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Driver.cpp	</a:t>
            </a: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g++ -c Driver.cpp -o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: Rectangle.cpp	</a:t>
            </a: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g++ -c Rectangle.cpp -o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clean:	</a:t>
            </a:r>
          </a:p>
          <a:p>
            <a:pPr marL="118872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-f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Driver.o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Rectangle.o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TestMe.exe</a:t>
            </a:r>
          </a:p>
        </p:txBody>
      </p:sp>
    </p:spTree>
    <p:extLst>
      <p:ext uri="{BB962C8B-B14F-4D97-AF65-F5344CB8AC3E}">
        <p14:creationId xmlns:p14="http://schemas.microsoft.com/office/powerpoint/2010/main" val="28943412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Makefiles</a:t>
            </a:r>
            <a:r>
              <a:rPr lang="en-US" dirty="0"/>
              <a:t>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will be using </a:t>
            </a:r>
            <a:r>
              <a:rPr lang="en-US" dirty="0" err="1"/>
              <a:t>Makefiles</a:t>
            </a:r>
            <a:r>
              <a:rPr lang="en-US" dirty="0"/>
              <a:t> for the remainder of the semester.</a:t>
            </a:r>
          </a:p>
          <a:p>
            <a:pPr lvl="1"/>
            <a:r>
              <a:rPr lang="en-US" dirty="0"/>
              <a:t>We will also,  if time allows, look at a tool that will help us automatically create </a:t>
            </a:r>
            <a:r>
              <a:rPr lang="en-US" dirty="0" err="1"/>
              <a:t>Makefiles</a:t>
            </a:r>
            <a:r>
              <a:rPr lang="en-US" dirty="0"/>
              <a:t> to further reduce some of the unneeded complexity.</a:t>
            </a:r>
          </a:p>
          <a:p>
            <a:pPr lvl="2"/>
            <a:r>
              <a:rPr lang="en-US" dirty="0"/>
              <a:t>MPC</a:t>
            </a:r>
          </a:p>
          <a:p>
            <a:pPr lvl="2"/>
            <a:endParaRPr lang="en-US" dirty="0"/>
          </a:p>
          <a:p>
            <a:r>
              <a:rPr lang="en-US" dirty="0" err="1"/>
              <a:t>Makefiles</a:t>
            </a:r>
            <a:r>
              <a:rPr lang="en-US" dirty="0"/>
              <a:t> are not just for C/C++ but they are most commonly found with these two languages due to the build process.</a:t>
            </a:r>
          </a:p>
        </p:txBody>
      </p:sp>
    </p:spTree>
    <p:extLst>
      <p:ext uri="{BB962C8B-B14F-4D97-AF65-F5344CB8AC3E}">
        <p14:creationId xmlns:p14="http://schemas.microsoft.com/office/powerpoint/2010/main" val="372375967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282825"/>
            <a:ext cx="7772400" cy="1470025"/>
          </a:xfrm>
        </p:spPr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4038600"/>
            <a:ext cx="6400800" cy="1752600"/>
          </a:xfrm>
        </p:spPr>
        <p:txBody>
          <a:bodyPr/>
          <a:lstStyle/>
          <a:p>
            <a:r>
              <a:rPr lang="en-US" dirty="0"/>
              <a:t>C++ Review</a:t>
            </a:r>
          </a:p>
        </p:txBody>
      </p:sp>
    </p:spTree>
    <p:extLst>
      <p:ext uri="{BB962C8B-B14F-4D97-AF65-F5344CB8AC3E}">
        <p14:creationId xmlns:p14="http://schemas.microsoft.com/office/powerpoint/2010/main" val="14294499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Input File Stream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r>
              <a:rPr lang="en-US" dirty="0"/>
              <a:t>Output File Stream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dirty="0"/>
          </a:p>
          <a:p>
            <a:r>
              <a:rPr lang="en-US" dirty="0"/>
              <a:t>These are similar in nature to the traditional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/>
              <a:t> we have been using.</a:t>
            </a:r>
          </a:p>
        </p:txBody>
      </p:sp>
    </p:spTree>
    <p:extLst>
      <p:ext uri="{BB962C8B-B14F-4D97-AF65-F5344CB8AC3E}">
        <p14:creationId xmlns:p14="http://schemas.microsoft.com/office/powerpoint/2010/main" val="38961012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In order to use these streams we need to first include the proper library – in this case it is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/>
              <a:t> library.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 algn="ctr">
              <a:buNone/>
            </a:pPr>
            <a:endParaRPr lang="en-US" dirty="0"/>
          </a:p>
          <a:p>
            <a:r>
              <a:rPr lang="en-US" dirty="0"/>
              <a:t>Once we have done that we need to declare the stream we wish to use, we do this through the following command(s):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4803914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output we want to write the contents to a file rather than the terminal (console) window.</a:t>
            </a:r>
          </a:p>
          <a:p>
            <a:endParaRPr lang="en-US" dirty="0"/>
          </a:p>
          <a:p>
            <a:r>
              <a:rPr lang="en-US" dirty="0"/>
              <a:t>In order to create an instance of an output stream we use the following C++ syntax: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(“output.txt”);</a:t>
            </a:r>
          </a:p>
        </p:txBody>
      </p:sp>
    </p:spTree>
    <p:extLst>
      <p:ext uri="{BB962C8B-B14F-4D97-AF65-F5344CB8AC3E}">
        <p14:creationId xmlns:p14="http://schemas.microsoft.com/office/powerpoint/2010/main" val="26252956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take a look at how we can write out the contents of our program (say one integer) to a file and then save and close that file.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(0);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looks nearly identical to what we did when we used: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</a:p>
        </p:txBody>
      </p:sp>
    </p:spTree>
    <p:extLst>
      <p:ext uri="{BB962C8B-B14F-4D97-AF65-F5344CB8AC3E}">
        <p14:creationId xmlns:p14="http://schemas.microsoft.com/office/powerpoint/2010/main" val="22650912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Once we have created our input stream we need to do something with it.</a:t>
            </a:r>
          </a:p>
          <a:p>
            <a:pPr lvl="1"/>
            <a:r>
              <a:rPr lang="en-US" dirty="0"/>
              <a:t>In order to read a book we must first open it, right?</a:t>
            </a:r>
          </a:p>
          <a:p>
            <a:pPr lvl="1"/>
            <a:endParaRPr lang="en-US" dirty="0"/>
          </a:p>
          <a:p>
            <a:r>
              <a:rPr lang="en-US" dirty="0"/>
              <a:t>We need to open our file using our stream. We accomplish this through the following syntax: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(“myFile.txt”);</a:t>
            </a:r>
          </a:p>
        </p:txBody>
      </p:sp>
    </p:spTree>
    <p:extLst>
      <p:ext uri="{BB962C8B-B14F-4D97-AF65-F5344CB8AC3E}">
        <p14:creationId xmlns:p14="http://schemas.microsoft.com/office/powerpoint/2010/main" val="61087893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We can also combine the opening of our file with the declaring of our instance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/>
              <a:t> through the following C++ syntax: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(“myFile.txt”);</a:t>
            </a:r>
          </a:p>
          <a:p>
            <a:pPr marL="0" indent="0" algn="ctr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Once we have opened our file we are ready to begin the process of reading in its contents into our program.</a:t>
            </a:r>
          </a:p>
        </p:txBody>
      </p:sp>
    </p:spTree>
    <p:extLst>
      <p:ext uri="{BB962C8B-B14F-4D97-AF65-F5344CB8AC3E}">
        <p14:creationId xmlns:p14="http://schemas.microsoft.com/office/powerpoint/2010/main" val="11550083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take a look at how we could read in the contents (say one integer) and store it in an integer variable within our program: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This looks nearly identical to what we did when we used: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&gt;&gt;</a:t>
            </a:r>
          </a:p>
        </p:txBody>
      </p:sp>
    </p:spTree>
    <p:extLst>
      <p:ext uri="{BB962C8B-B14F-4D97-AF65-F5344CB8AC3E}">
        <p14:creationId xmlns:p14="http://schemas.microsoft.com/office/powerpoint/2010/main" val="187256089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output we want to write the contents to a file rather than the terminal (console) window.</a:t>
            </a:r>
          </a:p>
          <a:p>
            <a:endParaRPr lang="en-US" dirty="0"/>
          </a:p>
          <a:p>
            <a:r>
              <a:rPr lang="en-US" dirty="0"/>
              <a:t>In order to create an instance of an output stream we use the following C++ syntax: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(“output.txt”);</a:t>
            </a:r>
          </a:p>
        </p:txBody>
      </p:sp>
    </p:spTree>
    <p:extLst>
      <p:ext uri="{BB962C8B-B14F-4D97-AF65-F5344CB8AC3E}">
        <p14:creationId xmlns:p14="http://schemas.microsoft.com/office/powerpoint/2010/main" val="310977935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Let’s take a look at how we can write out the contents of our program (say one integer) to a file and then save and close that file.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(0);</a:t>
            </a: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myNumber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This looks nearly identical to what we did when we used: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</a:t>
            </a:r>
          </a:p>
        </p:txBody>
      </p:sp>
    </p:spTree>
    <p:extLst>
      <p:ext uri="{BB962C8B-B14F-4D97-AF65-F5344CB8AC3E}">
        <p14:creationId xmlns:p14="http://schemas.microsoft.com/office/powerpoint/2010/main" val="7173942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Every file should be closed when you finish working with it.</a:t>
            </a:r>
          </a:p>
          <a:p>
            <a:pPr lvl="1"/>
            <a:r>
              <a:rPr lang="en-US" dirty="0"/>
              <a:t>This goes for both reading and writing.</a:t>
            </a:r>
          </a:p>
          <a:p>
            <a:pPr lvl="1"/>
            <a:endParaRPr lang="en-US" dirty="0"/>
          </a:p>
          <a:p>
            <a:r>
              <a:rPr lang="en-US" dirty="0"/>
              <a:t>This is </a:t>
            </a:r>
            <a:r>
              <a:rPr lang="en-US" b="1" u="sng" dirty="0"/>
              <a:t>vitally</a:t>
            </a:r>
            <a:r>
              <a:rPr lang="en-US" dirty="0"/>
              <a:t> important to avoid data corruption.</a:t>
            </a:r>
          </a:p>
          <a:p>
            <a:endParaRPr lang="en-US" dirty="0"/>
          </a:p>
          <a:p>
            <a:r>
              <a:rPr lang="en-US" dirty="0"/>
              <a:t>This can be done with the following C++ syntax: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inStream.close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outStream.close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79323703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40000" lnSpcReduction="20000"/>
          </a:bodyPr>
          <a:lstStyle/>
          <a:p>
            <a:r>
              <a:rPr lang="en-US" sz="8600" dirty="0"/>
              <a:t>Let’s begin by writing to a file – as that tends to be easier…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18872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 ()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Creates a new instance of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Creates/Opens the file.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("example.txt");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"Prints/Writes" the contents to the file.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"Writing to file.\n";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// Always be sure to close your stream…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myfile.close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4782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 fontScale="32500" lnSpcReduction="20000"/>
          </a:bodyPr>
          <a:lstStyle/>
          <a:p>
            <a:r>
              <a:rPr lang="en-US" sz="8600" dirty="0"/>
              <a:t>More complex reading…</a:t>
            </a:r>
          </a:p>
          <a:p>
            <a:pPr marL="0" indent="0">
              <a:buNone/>
            </a:pPr>
            <a:endParaRPr lang="en-US" sz="8600" dirty="0"/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&lt;string&gt;</a:t>
            </a:r>
          </a:p>
          <a:p>
            <a:pPr marL="118872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 ()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::string line;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("example.txt");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inputFile.is_open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inputFile,line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line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inputFile.close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"Unable to open file"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13567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we check to see if we have reached the end of our file?</a:t>
            </a:r>
          </a:p>
          <a:p>
            <a:pPr lvl="1"/>
            <a:r>
              <a:rPr lang="en-US" dirty="0"/>
              <a:t>We need to check to see if there is anything else to read-in.</a:t>
            </a:r>
          </a:p>
          <a:p>
            <a:pPr lvl="1"/>
            <a:endParaRPr lang="en-US" dirty="0"/>
          </a:p>
          <a:p>
            <a:pPr marL="514350" indent="-457200"/>
            <a:r>
              <a:rPr lang="en-US" dirty="0"/>
              <a:t>We can achieve this in C++ through the following method:</a:t>
            </a:r>
          </a:p>
          <a:p>
            <a:pPr marL="5715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inputFile.eof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4907313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method checks to see if the end of file (</a:t>
            </a:r>
            <a:r>
              <a:rPr lang="en-US" dirty="0" err="1"/>
              <a:t>eof</a:t>
            </a:r>
            <a:r>
              <a:rPr lang="en-US" dirty="0"/>
              <a:t>) has been reached.</a:t>
            </a:r>
          </a:p>
          <a:p>
            <a:pPr lvl="1"/>
            <a:r>
              <a:rPr lang="en-US" dirty="0"/>
              <a:t>It returns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US" dirty="0"/>
              <a:t> if the end of file has been reached otherwise it returns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dirty="0"/>
              <a:t>This will allow us to loop and read-in, line-by-line, the contents of the file and use our wonderful File I/O skills in C++ to retrieve and store the data.</a:t>
            </a:r>
          </a:p>
        </p:txBody>
      </p:sp>
    </p:spTree>
    <p:extLst>
      <p:ext uri="{BB962C8B-B14F-4D97-AF65-F5344CB8AC3E}">
        <p14:creationId xmlns:p14="http://schemas.microsoft.com/office/powerpoint/2010/main" val="4343735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What if we want to open a file that the user has specified?</a:t>
            </a:r>
          </a:p>
          <a:p>
            <a:pPr lvl="1"/>
            <a:r>
              <a:rPr lang="en-US" dirty="0"/>
              <a:t>Up until now all we have done is give it a string (“testFile.txt”) and let it do its thing.</a:t>
            </a:r>
          </a:p>
          <a:p>
            <a:pPr lvl="1"/>
            <a:endParaRPr lang="en-US" dirty="0"/>
          </a:p>
          <a:p>
            <a:r>
              <a:rPr lang="en-US" dirty="0"/>
              <a:t>If I want to collect input from the user and store it in a string variable I am left with an error message as C++ doesn’t know how to treat that user entered string.</a:t>
            </a:r>
          </a:p>
          <a:p>
            <a:pPr lvl="1"/>
            <a:r>
              <a:rPr lang="en-US" dirty="0"/>
              <a:t>We need to take an additional step…</a:t>
            </a:r>
          </a:p>
        </p:txBody>
      </p:sp>
    </p:spTree>
    <p:extLst>
      <p:ext uri="{BB962C8B-B14F-4D97-AF65-F5344CB8AC3E}">
        <p14:creationId xmlns:p14="http://schemas.microsoft.com/office/powerpoint/2010/main" val="12658909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 order to allow C++ to be “ok” with our filename we have to take an additional step to help it out.</a:t>
            </a:r>
          </a:p>
          <a:p>
            <a:pPr marL="0" indent="0" algn="ctr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fileName.c_str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0" indent="0" algn="ctr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This will allow the language to let us use the string (or file name) that the user has typed in and specified at the console command prompt.</a:t>
            </a:r>
          </a:p>
          <a:p>
            <a:pPr marL="0" indent="0" algn="ctr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59987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What happens if something goes wrong when opening the file?</a:t>
            </a:r>
          </a:p>
          <a:p>
            <a:pPr lvl="1"/>
            <a:r>
              <a:rPr lang="en-US" dirty="0"/>
              <a:t>We need to check to ensure that we can open the file.</a:t>
            </a:r>
          </a:p>
          <a:p>
            <a:pPr lvl="2"/>
            <a:r>
              <a:rPr lang="en-US" dirty="0"/>
              <a:t>If we can’t open the file – we can’t much read the contents of the file, can we?</a:t>
            </a:r>
          </a:p>
          <a:p>
            <a:pPr lvl="1"/>
            <a:endParaRPr lang="en-US" dirty="0"/>
          </a:p>
          <a:p>
            <a:r>
              <a:rPr lang="en-US" dirty="0"/>
              <a:t>We can achieve this through the inclusion of another library: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cstdlib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90178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I/O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cstdlib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main()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inStream.open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("noSuchFile.txt");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inStream.fail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"Input file opening failed" &lt;&lt;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exit(1);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30203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about parsing the data once we have read it in?</a:t>
            </a:r>
          </a:p>
          <a:p>
            <a:pPr lvl="1"/>
            <a:r>
              <a:rPr lang="en-US" dirty="0"/>
              <a:t>Commas, Space, Delimiters, Oh My!</a:t>
            </a:r>
          </a:p>
          <a:p>
            <a:pPr lvl="1"/>
            <a:endParaRPr lang="en-US" dirty="0"/>
          </a:p>
          <a:p>
            <a:r>
              <a:rPr lang="en-US" dirty="0"/>
              <a:t>We can use our traditional File I/O approaches – using the 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&gt;&gt;</a:t>
            </a:r>
            <a:r>
              <a:rPr lang="en-US" dirty="0"/>
              <a:t> operator.</a:t>
            </a:r>
          </a:p>
          <a:p>
            <a:pPr lvl="1"/>
            <a:r>
              <a:rPr lang="en-US" dirty="0"/>
              <a:t>This will help us out most of the time but may not be an efficient solution when it comes to delimiters or other complex files</a:t>
            </a:r>
          </a:p>
        </p:txBody>
      </p:sp>
    </p:spTree>
    <p:extLst>
      <p:ext uri="{BB962C8B-B14F-4D97-AF65-F5344CB8AC3E}">
        <p14:creationId xmlns:p14="http://schemas.microsoft.com/office/powerpoint/2010/main" val="278923668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r>
              <a:rPr lang="en-US" dirty="0"/>
              <a:t> Class is extremely useful in parsing input.</a:t>
            </a:r>
          </a:p>
          <a:p>
            <a:pPr lvl="1"/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sstream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</a:p>
          <a:p>
            <a:pPr lvl="1"/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We can actually use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r>
              <a:rPr lang="en-US" dirty="0">
                <a:cs typeface="Courier New" panose="02070309020205020404" pitchFamily="49" charset="0"/>
              </a:rPr>
              <a:t> for more than just files.</a:t>
            </a:r>
          </a:p>
          <a:p>
            <a:pPr lvl="1"/>
            <a:r>
              <a:rPr lang="en-US" dirty="0">
                <a:cs typeface="Courier New" panose="02070309020205020404" pitchFamily="49" charset="0"/>
              </a:rPr>
              <a:t>All that is required is that we provide (through a parameter) the type of “input” that we wish to parse.</a:t>
            </a:r>
          </a:p>
        </p:txBody>
      </p:sp>
    </p:spTree>
    <p:extLst>
      <p:ext uri="{BB962C8B-B14F-4D97-AF65-F5344CB8AC3E}">
        <p14:creationId xmlns:p14="http://schemas.microsoft.com/office/powerpoint/2010/main" val="159388805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following are the key functions that we are interested in (on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r>
              <a:rPr lang="en-US" dirty="0"/>
              <a:t> class) in your most typical cases.</a:t>
            </a:r>
          </a:p>
          <a:p>
            <a:pPr lvl="1"/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clear()</a:t>
            </a:r>
          </a:p>
          <a:p>
            <a:pPr lvl="2"/>
            <a:r>
              <a:rPr lang="en-US" dirty="0"/>
              <a:t>Clears the </a:t>
            </a:r>
            <a:r>
              <a:rPr lang="en-US" dirty="0" err="1"/>
              <a:t>stringstream</a:t>
            </a:r>
            <a:r>
              <a:rPr lang="en-US" dirty="0"/>
              <a:t> out – we should always do this to ensure we have a clean </a:t>
            </a:r>
            <a:r>
              <a:rPr lang="en-US" dirty="0" err="1"/>
              <a:t>stringstream</a:t>
            </a:r>
            <a:r>
              <a:rPr lang="en-US" dirty="0"/>
              <a:t> to work with.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-US" dirty="0"/>
              <a:t>Returns the string associated with the </a:t>
            </a:r>
            <a:r>
              <a:rPr lang="en-US" dirty="0" err="1"/>
              <a:t>stringstream</a:t>
            </a:r>
            <a:r>
              <a:rPr lang="en-US" dirty="0"/>
              <a:t> object.</a:t>
            </a:r>
          </a:p>
          <a:p>
            <a:pPr lvl="1"/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(s)</a:t>
            </a:r>
          </a:p>
          <a:p>
            <a:pPr lvl="2"/>
            <a:r>
              <a:rPr lang="en-US" dirty="0"/>
              <a:t>Associates a string to the </a:t>
            </a:r>
            <a:r>
              <a:rPr lang="en-US" dirty="0" err="1"/>
              <a:t>stringstream</a:t>
            </a:r>
            <a:r>
              <a:rPr lang="en-US" dirty="0"/>
              <a:t> object.</a:t>
            </a:r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317677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first step we need to take is to clear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</a:t>
            </a:r>
            <a:r>
              <a:rPr lang="en-US" dirty="0"/>
              <a:t> object and to get it ready for our application:</a:t>
            </a:r>
          </a:p>
          <a:p>
            <a:pPr marL="118872" indent="0">
              <a:buNone/>
            </a:pPr>
            <a:endParaRPr lang="en-US" dirty="0"/>
          </a:p>
          <a:p>
            <a:pPr marL="118872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Clears the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stringstreams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ss.clear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ss.str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</p:txBody>
      </p:sp>
    </p:spTree>
    <p:extLst>
      <p:ext uri="{BB962C8B-B14F-4D97-AF65-F5344CB8AC3E}">
        <p14:creationId xmlns:p14="http://schemas.microsoft.com/office/powerpoint/2010/main" val="377771142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next step of the process is the parsing or “tokenization” based upon the delimiter.</a:t>
            </a:r>
          </a:p>
          <a:p>
            <a:pPr lvl="1"/>
            <a:r>
              <a:rPr lang="en-US" dirty="0"/>
              <a:t>This will allow us to parse the data file and pull out the individual pieces of data.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Read in the line from the file.</a:t>
            </a:r>
          </a:p>
          <a:p>
            <a:pPr marL="457200" lvl="1" indent="0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Specify a comma delimiter</a:t>
            </a:r>
          </a:p>
          <a:p>
            <a:pPr marL="457200" lvl="1" indent="0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number, ',');</a:t>
            </a:r>
          </a:p>
        </p:txBody>
      </p:sp>
    </p:spTree>
    <p:extLst>
      <p:ext uri="{BB962C8B-B14F-4D97-AF65-F5344CB8AC3E}">
        <p14:creationId xmlns:p14="http://schemas.microsoft.com/office/powerpoint/2010/main" val="19212033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32500" lnSpcReduction="20000"/>
          </a:bodyPr>
          <a:lstStyle/>
          <a:p>
            <a:pPr marL="118872" indent="0">
              <a:buNone/>
            </a:pP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 ()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number;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::string line;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("example.txt");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inputFile.is_open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inputFile,line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118872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Read in the line from the file.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Specify a comma delimiter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number, ',');</a:t>
            </a:r>
          </a:p>
          <a:p>
            <a:pPr marL="118872" indent="0">
              <a:buNone/>
            </a:pPr>
            <a:endParaRPr lang="en-US" sz="37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number &lt;&lt;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inputFile.close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"Unable to open file“ &lt;&lt;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55996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What went wrong here?</a:t>
            </a:r>
          </a:p>
          <a:p>
            <a:pPr lvl="1"/>
            <a:r>
              <a:rPr lang="en-US" dirty="0"/>
              <a:t>Why did we get the “function not found” error when we tried to compile.</a:t>
            </a:r>
          </a:p>
          <a:p>
            <a:pPr lvl="2"/>
            <a:r>
              <a:rPr lang="en-US" dirty="0"/>
              <a:t>If we use ‘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</a:t>
            </a:r>
            <a:r>
              <a:rPr lang="en-US" dirty="0"/>
              <a:t>’ we can simply store the contents into an integer variable.</a:t>
            </a:r>
          </a:p>
          <a:p>
            <a:pPr lvl="2"/>
            <a:endParaRPr lang="en-US" dirty="0"/>
          </a:p>
          <a:p>
            <a:r>
              <a:rPr lang="en-US" dirty="0"/>
              <a:t>When it is read-in from a file using this approach the information is stored as a string.</a:t>
            </a:r>
          </a:p>
          <a:p>
            <a:pPr lvl="1"/>
            <a:r>
              <a:rPr lang="en-US" dirty="0"/>
              <a:t>We need to convert the string to an integer.</a:t>
            </a:r>
          </a:p>
          <a:p>
            <a:pPr lvl="2"/>
            <a:r>
              <a:rPr lang="en-US" dirty="0"/>
              <a:t>How can we achieve this?</a:t>
            </a:r>
          </a:p>
        </p:txBody>
      </p:sp>
    </p:spTree>
    <p:extLst>
      <p:ext uri="{BB962C8B-B14F-4D97-AF65-F5344CB8AC3E}">
        <p14:creationId xmlns:p14="http://schemas.microsoft.com/office/powerpoint/2010/main" val="383495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 fontScale="32500" lnSpcReduction="20000"/>
          </a:bodyPr>
          <a:lstStyle/>
          <a:p>
            <a:pPr marL="118872" indent="0">
              <a:buNone/>
            </a:pP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main ()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::string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string_number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ifstream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("example.txt");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inputFile.is_open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while 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inputFile,line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118872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Read in the line from the file.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// Specify a comma delimiter</a:t>
            </a:r>
          </a:p>
          <a:p>
            <a:pPr marL="941832" lvl="3" indent="0">
              <a:buNone/>
            </a:pP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getline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ss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43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string_number</a:t>
            </a:r>
            <a:r>
              <a:rPr lang="en-US" sz="43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',');</a:t>
            </a:r>
          </a:p>
          <a:p>
            <a:pPr marL="118872" indent="0">
              <a:buNone/>
            </a:pPr>
            <a:endParaRPr lang="en-US" sz="37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number &lt;&lt;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inputFile.close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else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&lt;&lt; "Unable to open file“ &lt;&lt; 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37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 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</a:p>
          <a:p>
            <a:pPr marL="118872" indent="0">
              <a:buNone/>
            </a:pPr>
            <a:r>
              <a:rPr lang="en-US" sz="37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416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We can use the </a:t>
            </a:r>
            <a:r>
              <a:rPr lang="en-US" dirty="0" err="1"/>
              <a:t>stringstream</a:t>
            </a:r>
            <a:r>
              <a:rPr lang="en-US" dirty="0"/>
              <a:t> to continue to parse our data and perform this conversion automatically, if possible, for us.</a:t>
            </a:r>
          </a:p>
          <a:p>
            <a:endParaRPr lang="en-US" dirty="0"/>
          </a:p>
          <a:p>
            <a:r>
              <a:rPr lang="en-US" dirty="0"/>
              <a:t>We need to create a new instance of a </a:t>
            </a:r>
            <a:r>
              <a:rPr lang="en-US" dirty="0" err="1"/>
              <a:t>stringstream</a:t>
            </a:r>
            <a:r>
              <a:rPr lang="en-US" dirty="0"/>
              <a:t> so that we can allow it to automatically, if possible, convert my string to the appropriate type.</a:t>
            </a:r>
          </a:p>
          <a:p>
            <a:pPr marL="118872" indent="0">
              <a:buNone/>
            </a:pPr>
            <a:endParaRPr lang="en-US" dirty="0"/>
          </a:p>
          <a:p>
            <a:pPr marL="118872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converter.clear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marL="118872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converter.str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("");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65336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Then we need to provide this string to the </a:t>
            </a:r>
            <a:r>
              <a:rPr lang="en-US" dirty="0" err="1"/>
              <a:t>stringstream</a:t>
            </a:r>
            <a:r>
              <a:rPr lang="en-US" dirty="0"/>
              <a:t> for conversion…</a:t>
            </a:r>
          </a:p>
          <a:p>
            <a:endParaRPr lang="en-US" dirty="0"/>
          </a:p>
          <a:p>
            <a:pPr marL="118872" indent="0" algn="ctr">
              <a:buNone/>
            </a:pP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converter &lt;&lt; </a:t>
            </a:r>
            <a:r>
              <a:rPr lang="en-US" sz="24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string_number</a:t>
            </a:r>
            <a:r>
              <a:rPr lang="en-US" sz="2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118872" indent="0">
              <a:buNone/>
            </a:pPr>
            <a:endParaRPr lang="en-US" dirty="0"/>
          </a:p>
          <a:p>
            <a:r>
              <a:rPr lang="en-US" dirty="0"/>
              <a:t>This looks very similar to the same syntax that we saw when we used the ‘</a:t>
            </a: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/>
              <a:t>’ command.</a:t>
            </a:r>
          </a:p>
          <a:p>
            <a:pPr lvl="1"/>
            <a:r>
              <a:rPr lang="en-US" dirty="0"/>
              <a:t>Here instead of outputting something to the console we are outputting it to the </a:t>
            </a:r>
            <a:r>
              <a:rPr lang="en-US" dirty="0" err="1"/>
              <a:t>stringstream</a:t>
            </a:r>
            <a:r>
              <a:rPr lang="en-US" dirty="0"/>
              <a:t> object.</a:t>
            </a:r>
          </a:p>
        </p:txBody>
      </p:sp>
    </p:spTree>
    <p:extLst>
      <p:ext uri="{BB962C8B-B14F-4D97-AF65-F5344CB8AC3E}">
        <p14:creationId xmlns:p14="http://schemas.microsoft.com/office/powerpoint/2010/main" val="411059686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Once the </a:t>
            </a:r>
            <a:r>
              <a:rPr lang="en-US" dirty="0" err="1"/>
              <a:t>stringstream</a:t>
            </a:r>
            <a:r>
              <a:rPr lang="en-US" dirty="0"/>
              <a:t> object has our string value that we have read-in we can allow it to do the heavy lifting for us – in terms of conversion.</a:t>
            </a:r>
          </a:p>
          <a:p>
            <a:pPr lvl="1"/>
            <a:r>
              <a:rPr lang="en-US" dirty="0"/>
              <a:t>Again, this is only if it is possible…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 algn="ctr">
              <a:buNone/>
            </a:pPr>
            <a:r>
              <a:rPr lang="en-US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number;</a:t>
            </a:r>
          </a:p>
          <a:p>
            <a:pPr marL="457200" lvl="1" indent="0" algn="ctr">
              <a:buNone/>
            </a:pPr>
            <a:r>
              <a:rPr lang="en-US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converter &gt;&gt; number;</a:t>
            </a:r>
          </a:p>
          <a:p>
            <a:pPr marL="457200" lvl="1" indent="0">
              <a:buNone/>
            </a:pPr>
            <a:endParaRPr lang="en-US" dirty="0"/>
          </a:p>
          <a:p>
            <a:pPr marL="118872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72559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File I/O Tutorial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Stringstream</a:t>
            </a:r>
            <a:r>
              <a:rPr lang="en-US" dirty="0"/>
              <a:t> is a very powerful class/library in C++.</a:t>
            </a:r>
          </a:p>
          <a:p>
            <a:pPr lvl="1"/>
            <a:r>
              <a:rPr lang="en-US" dirty="0"/>
              <a:t>It allows for robust string manipulation.</a:t>
            </a:r>
          </a:p>
          <a:p>
            <a:pPr lvl="1"/>
            <a:endParaRPr lang="en-US" dirty="0"/>
          </a:p>
          <a:p>
            <a:r>
              <a:rPr lang="en-US" dirty="0"/>
              <a:t>We must remember how strings are stored and maintained in C++.</a:t>
            </a:r>
          </a:p>
          <a:p>
            <a:pPr lvl="1"/>
            <a:r>
              <a:rPr lang="en-US" dirty="0"/>
              <a:t>But we don’t really know this fundamentally yet – we just know they aren’t primitives.</a:t>
            </a:r>
          </a:p>
          <a:p>
            <a:endParaRPr lang="en-US" dirty="0"/>
          </a:p>
          <a:p>
            <a:r>
              <a:rPr lang="en-US" dirty="0"/>
              <a:t>String manipulation is something we have done since our very first C++ program – we just now better understand the semantics.</a:t>
            </a:r>
          </a:p>
        </p:txBody>
      </p:sp>
    </p:spTree>
    <p:extLst>
      <p:ext uri="{BB962C8B-B14F-4D97-AF65-F5344CB8AC3E}">
        <p14:creationId xmlns:p14="http://schemas.microsoft.com/office/powerpoint/2010/main" val="16900483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5C009-B189-4362-B3B7-7EA766D0D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42118"/>
            <a:ext cx="8229600" cy="5973763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96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6873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4392</TotalTime>
  <Words>5471</Words>
  <Application>Microsoft Office PowerPoint</Application>
  <PresentationFormat>On-screen Show (4:3)</PresentationFormat>
  <Paragraphs>776</Paragraphs>
  <Slides>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96</vt:i4>
      </vt:variant>
    </vt:vector>
  </HeadingPairs>
  <TitlesOfParts>
    <vt:vector size="100" baseType="lpstr">
      <vt:lpstr>Arial</vt:lpstr>
      <vt:lpstr>Calibri</vt:lpstr>
      <vt:lpstr>Courier New</vt:lpstr>
      <vt:lpstr>Office Theme</vt:lpstr>
      <vt:lpstr>Lecture – 9/3/2025</vt:lpstr>
      <vt:lpstr>Assignment #1</vt:lpstr>
      <vt:lpstr>Assignment #1</vt:lpstr>
      <vt:lpstr>Honor Pledge</vt:lpstr>
      <vt:lpstr>Honor Pledge</vt:lpstr>
      <vt:lpstr>C++ Review</vt:lpstr>
      <vt:lpstr>C++ Review</vt:lpstr>
      <vt:lpstr>C++ Review</vt:lpstr>
      <vt:lpstr>Object-Oriented Programming</vt:lpstr>
      <vt:lpstr>C++ Review</vt:lpstr>
      <vt:lpstr>C++ Review</vt:lpstr>
      <vt:lpstr>Object-Oriented Programming</vt:lpstr>
      <vt:lpstr>Object-Oriented Programming</vt:lpstr>
      <vt:lpstr>C++ Header File (.h)</vt:lpstr>
      <vt:lpstr>C++ Source File (.cpp)</vt:lpstr>
      <vt:lpstr>C++ Source File (.cpp)</vt:lpstr>
      <vt:lpstr>Driver File</vt:lpstr>
      <vt:lpstr>C++ Review: Destructor</vt:lpstr>
      <vt:lpstr>C++ Review: Destructor</vt:lpstr>
      <vt:lpstr>C++ Review: Destructor</vt:lpstr>
      <vt:lpstr>C++ Review</vt:lpstr>
      <vt:lpstr>GIT Overview</vt:lpstr>
      <vt:lpstr>GIT</vt:lpstr>
      <vt:lpstr>GitHub Introduction</vt:lpstr>
      <vt:lpstr>GitHub</vt:lpstr>
      <vt:lpstr>PowerPoint Presentation</vt:lpstr>
      <vt:lpstr>GitHub Exercise</vt:lpstr>
      <vt:lpstr>GitHub – Step 1</vt:lpstr>
      <vt:lpstr>GitHub – Step 2</vt:lpstr>
      <vt:lpstr>GitHub – Step 3</vt:lpstr>
      <vt:lpstr>GitHub – Step 4 (Part I)</vt:lpstr>
      <vt:lpstr>GitHub – Step 4 (Part II)</vt:lpstr>
      <vt:lpstr>GitHub – Step 5 (Part I)</vt:lpstr>
      <vt:lpstr>GitHub – Step 5 (Part II)</vt:lpstr>
      <vt:lpstr>GitHub – Step 6</vt:lpstr>
      <vt:lpstr>GitHub – Step 6</vt:lpstr>
      <vt:lpstr>GitHub – Step 6</vt:lpstr>
      <vt:lpstr>GitHub – Step 7</vt:lpstr>
      <vt:lpstr>GitHub – Step 7</vt:lpstr>
      <vt:lpstr>GitHub – Step 8</vt:lpstr>
      <vt:lpstr>GitHub – Step 9 (Part I)</vt:lpstr>
      <vt:lpstr>GitHub – Step 9 (Part II)</vt:lpstr>
      <vt:lpstr>GitHub – Step 10</vt:lpstr>
      <vt:lpstr>GitHub – Success!!</vt:lpstr>
      <vt:lpstr>Makefiles</vt:lpstr>
      <vt:lpstr>Makefiles</vt:lpstr>
      <vt:lpstr>Makefiles</vt:lpstr>
      <vt:lpstr>Makefiles</vt:lpstr>
      <vt:lpstr>Makefiles</vt:lpstr>
      <vt:lpstr>Makefiles</vt:lpstr>
      <vt:lpstr>Makefiles</vt:lpstr>
      <vt:lpstr>Makefiles</vt:lpstr>
      <vt:lpstr>Makefiles</vt:lpstr>
      <vt:lpstr>Comments</vt:lpstr>
      <vt:lpstr>Rules</vt:lpstr>
      <vt:lpstr>Rules</vt:lpstr>
      <vt:lpstr>Dependency Lines</vt:lpstr>
      <vt:lpstr>Dependency Lines</vt:lpstr>
      <vt:lpstr>Shell Lines</vt:lpstr>
      <vt:lpstr>Macros</vt:lpstr>
      <vt:lpstr>Inference Rules</vt:lpstr>
      <vt:lpstr>Makefile Example</vt:lpstr>
      <vt:lpstr>Makefile Example</vt:lpstr>
      <vt:lpstr>Makefiles Review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File I/O</vt:lpstr>
      <vt:lpstr>C++ File I/O Tutorial</vt:lpstr>
      <vt:lpstr>C++ File I/O Tutorial</vt:lpstr>
      <vt:lpstr>C++ File I/O</vt:lpstr>
      <vt:lpstr>C++ File I/O Tutorial</vt:lpstr>
      <vt:lpstr>File I/O</vt:lpstr>
      <vt:lpstr>File I/O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</vt:lpstr>
      <vt:lpstr>C++ File I/O Tutorial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 Rybarczyk</dc:creator>
  <cp:lastModifiedBy>Ryan Rybarczyk</cp:lastModifiedBy>
  <cp:revision>398</cp:revision>
  <dcterms:created xsi:type="dcterms:W3CDTF">2011-07-22T18:36:28Z</dcterms:created>
  <dcterms:modified xsi:type="dcterms:W3CDTF">2025-08-27T17:19:30Z</dcterms:modified>
</cp:coreProperties>
</file>