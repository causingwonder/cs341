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314" r:id="rId2"/>
    <p:sldId id="607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38" r:id="rId20"/>
    <p:sldId id="339" r:id="rId21"/>
    <p:sldId id="60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10/8/2025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#3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23149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33400" y="2644775"/>
            <a:ext cx="7772400" cy="1470025"/>
          </a:xfrm>
        </p:spPr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169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Vectors are another way to hold data items of the same type.</a:t>
            </a:r>
          </a:p>
          <a:p>
            <a:pPr lvl="1"/>
            <a:r>
              <a:rPr lang="en-US" dirty="0"/>
              <a:t>Array</a:t>
            </a:r>
          </a:p>
          <a:p>
            <a:pPr lvl="1"/>
            <a:endParaRPr lang="en-US" dirty="0"/>
          </a:p>
          <a:p>
            <a:r>
              <a:rPr lang="en-US" dirty="0"/>
              <a:t>Let’s start off with a common problem that we teachers face with grades:</a:t>
            </a:r>
          </a:p>
          <a:p>
            <a:pPr lvl="1"/>
            <a:r>
              <a:rPr lang="en-US" dirty="0"/>
              <a:t>Assume we have a file that contains each student (name) and their score. If we wanted to write a program that computes the overall average score and then prints out the students name with their distance from the average – how would we do it?</a:t>
            </a:r>
          </a:p>
        </p:txBody>
      </p:sp>
    </p:spTree>
    <p:extLst>
      <p:ext uri="{BB962C8B-B14F-4D97-AF65-F5344CB8AC3E}">
        <p14:creationId xmlns:p14="http://schemas.microsoft.com/office/powerpoint/2010/main" val="133772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have to process the scores twice!</a:t>
            </a:r>
          </a:p>
          <a:p>
            <a:pPr lvl="1"/>
            <a:r>
              <a:rPr lang="en-US" dirty="0"/>
              <a:t>We need to find the overall average.</a:t>
            </a:r>
          </a:p>
          <a:p>
            <a:pPr lvl="1"/>
            <a:r>
              <a:rPr lang="en-US" dirty="0"/>
              <a:t>Then we need to compute the offset.</a:t>
            </a:r>
          </a:p>
          <a:p>
            <a:pPr lvl="1"/>
            <a:endParaRPr lang="en-US" dirty="0"/>
          </a:p>
          <a:p>
            <a:r>
              <a:rPr lang="en-US" dirty="0"/>
              <a:t>So…</a:t>
            </a:r>
          </a:p>
          <a:p>
            <a:pPr lvl="1"/>
            <a:r>
              <a:rPr lang="en-US" dirty="0"/>
              <a:t>We need to read in all of the scores from the file and compute the average – then do the process again to compute the offset.</a:t>
            </a:r>
          </a:p>
          <a:p>
            <a:pPr lvl="2"/>
            <a:r>
              <a:rPr lang="en-US" dirty="0"/>
              <a:t>This is costly as File I/O is expensive and in this case we are “reading” unnecessary” information in the form of the Students’ name.</a:t>
            </a:r>
          </a:p>
        </p:txBody>
      </p:sp>
    </p:spTree>
    <p:extLst>
      <p:ext uri="{BB962C8B-B14F-4D97-AF65-F5344CB8AC3E}">
        <p14:creationId xmlns:p14="http://schemas.microsoft.com/office/powerpoint/2010/main" val="268436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better solution would be to use a container.</a:t>
            </a:r>
          </a:p>
          <a:p>
            <a:pPr lvl="1"/>
            <a:r>
              <a:rPr lang="en-US" dirty="0"/>
              <a:t>We can store the sequence of Names in one container.</a:t>
            </a:r>
          </a:p>
          <a:p>
            <a:pPr lvl="1"/>
            <a:r>
              <a:rPr lang="en-US" dirty="0"/>
              <a:t>We can store the sequence of Scores in another container.</a:t>
            </a:r>
          </a:p>
          <a:p>
            <a:pPr lvl="1"/>
            <a:endParaRPr lang="en-US" dirty="0"/>
          </a:p>
          <a:p>
            <a:r>
              <a:rPr lang="en-US" dirty="0"/>
              <a:t>In this method we don’t need to iterate through the Names unnecessarily and thus can minimize our cost.</a:t>
            </a:r>
          </a:p>
        </p:txBody>
      </p:sp>
    </p:spTree>
    <p:extLst>
      <p:ext uri="{BB962C8B-B14F-4D97-AF65-F5344CB8AC3E}">
        <p14:creationId xmlns:p14="http://schemas.microsoft.com/office/powerpoint/2010/main" val="48529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know of one type of container – an Array.</a:t>
            </a:r>
          </a:p>
          <a:p>
            <a:pPr lvl="1"/>
            <a:r>
              <a:rPr lang="en-US" dirty="0"/>
              <a:t>We also know about Lists…but let’s use the Array as our point of comparison here.</a:t>
            </a:r>
          </a:p>
          <a:p>
            <a:pPr lvl="1"/>
            <a:endParaRPr lang="en-US" dirty="0"/>
          </a:p>
          <a:p>
            <a:r>
              <a:rPr lang="en-US" dirty="0"/>
              <a:t>What are the limitation(s) of an Array?</a:t>
            </a:r>
          </a:p>
          <a:p>
            <a:pPr lvl="1"/>
            <a:r>
              <a:rPr lang="en-US" dirty="0"/>
              <a:t>Homogeneous in nature.</a:t>
            </a:r>
          </a:p>
          <a:p>
            <a:pPr lvl="1"/>
            <a:r>
              <a:rPr lang="en-US" dirty="0"/>
              <a:t>It cannot grow once we declare it – it is what it is.</a:t>
            </a:r>
          </a:p>
        </p:txBody>
      </p:sp>
    </p:spTree>
    <p:extLst>
      <p:ext uri="{BB962C8B-B14F-4D97-AF65-F5344CB8AC3E}">
        <p14:creationId xmlns:p14="http://schemas.microsoft.com/office/powerpoint/2010/main" val="114476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Vectors</a:t>
            </a:r>
          </a:p>
          <a:p>
            <a:pPr lvl="1"/>
            <a:r>
              <a:rPr lang="en-US" dirty="0"/>
              <a:t>Predefined Operations</a:t>
            </a:r>
          </a:p>
          <a:p>
            <a:pPr lvl="1"/>
            <a:r>
              <a:rPr lang="en-US" dirty="0"/>
              <a:t>Can Grow</a:t>
            </a:r>
          </a:p>
          <a:p>
            <a:pPr lvl="1"/>
            <a:r>
              <a:rPr lang="en-US" dirty="0"/>
              <a:t>Elements can be of ANY type</a:t>
            </a:r>
          </a:p>
          <a:p>
            <a:pPr marL="457200" lvl="1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The focus here is memory and how we use it – both storing and accessing the memory locations allocated to us.</a:t>
            </a:r>
          </a:p>
        </p:txBody>
      </p:sp>
    </p:spTree>
    <p:extLst>
      <p:ext uri="{BB962C8B-B14F-4D97-AF65-F5344CB8AC3E}">
        <p14:creationId xmlns:p14="http://schemas.microsoft.com/office/powerpoint/2010/main" val="751724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Vectors are same as a dynamic array</a:t>
            </a:r>
          </a:p>
          <a:p>
            <a:pPr lvl="1"/>
            <a:r>
              <a:rPr lang="en-US" dirty="0"/>
              <a:t>Provides the ability to resize itself automatically when an element is inserted or deleted.</a:t>
            </a:r>
          </a:p>
          <a:p>
            <a:pPr lvl="1"/>
            <a:endParaRPr lang="en-US" dirty="0"/>
          </a:p>
          <a:p>
            <a:r>
              <a:rPr lang="en-US" dirty="0"/>
              <a:t>Elements are placed in </a:t>
            </a:r>
            <a:r>
              <a:rPr lang="en-US" b="1" u="sng" dirty="0"/>
              <a:t>contiguous storage</a:t>
            </a:r>
            <a:endParaRPr lang="en-US" dirty="0"/>
          </a:p>
          <a:p>
            <a:pPr lvl="1"/>
            <a:r>
              <a:rPr lang="en-US" dirty="0"/>
              <a:t>They can be accessed and traversed using iterators.</a:t>
            </a:r>
          </a:p>
          <a:p>
            <a:pPr lvl="1"/>
            <a:endParaRPr lang="en-US" dirty="0"/>
          </a:p>
          <a:p>
            <a:r>
              <a:rPr lang="en-US" dirty="0"/>
              <a:t>Insertions are handled at the end</a:t>
            </a:r>
          </a:p>
        </p:txBody>
      </p:sp>
    </p:spTree>
    <p:extLst>
      <p:ext uri="{BB962C8B-B14F-4D97-AF65-F5344CB8AC3E}">
        <p14:creationId xmlns:p14="http://schemas.microsoft.com/office/powerpoint/2010/main" val="294668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do we use Vectors in C++?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&lt;vector&gt;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Part of the Standard Template Library (STL)</a:t>
            </a:r>
          </a:p>
          <a:p>
            <a:pPr lvl="1"/>
            <a:r>
              <a:rPr lang="en-US" dirty="0"/>
              <a:t>Oh boy! Templates. </a:t>
            </a:r>
            <a:r>
              <a:rPr lang="en-US" dirty="0">
                <a:sym typeface="Wingdings" panose="05000000000000000000" pitchFamily="2" charset="2"/>
              </a:rPr>
              <a:t>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To create an instance of an integer Vector we would use the following syntax:</a:t>
            </a:r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::vector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&gt; v1;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82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begin our exploration of Vectors in C++ by first comparing a static Array with a dynamic Array within the language: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myArray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[15];</a:t>
            </a:r>
          </a:p>
          <a:p>
            <a:pPr marL="0" indent="0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10;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myDynamicArray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[size];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3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static array we do not have to manage our own memory because that item is placed on the Stack but the trade off is that it is statically sized.</a:t>
            </a:r>
          </a:p>
          <a:p>
            <a:endParaRPr lang="en-US" dirty="0"/>
          </a:p>
          <a:p>
            <a:r>
              <a:rPr lang="en-US" dirty="0"/>
              <a:t>In the dynamic array we do have to manage our own memory but the trade off is that our array can be dynamically sized.</a:t>
            </a:r>
          </a:p>
        </p:txBody>
      </p:sp>
    </p:spTree>
    <p:extLst>
      <p:ext uri="{BB962C8B-B14F-4D97-AF65-F5344CB8AC3E}">
        <p14:creationId xmlns:p14="http://schemas.microsoft.com/office/powerpoint/2010/main" val="75235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now do the same thing using a vector that we started creating earlier:</a:t>
            </a:r>
          </a:p>
          <a:p>
            <a:endParaRPr lang="en-US" dirty="0"/>
          </a:p>
          <a:p>
            <a:pPr marL="0" indent="0" fontAlgn="base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size = 15;</a:t>
            </a:r>
          </a:p>
          <a:p>
            <a:pPr marL="0" indent="0" fontAlgn="base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::vector&lt;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v1(size);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need to manage our memory – that is taken care of for us – the vector is dynamically sized.</a:t>
            </a:r>
          </a:p>
          <a:p>
            <a:pPr marL="0" indent="0" algn="ctr">
              <a:buNone/>
            </a:pPr>
            <a:r>
              <a:rPr lang="en-US" dirty="0"/>
              <a:t>Best of both worlds!</a:t>
            </a:r>
          </a:p>
        </p:txBody>
      </p:sp>
    </p:spTree>
    <p:extLst>
      <p:ext uri="{BB962C8B-B14F-4D97-AF65-F5344CB8AC3E}">
        <p14:creationId xmlns:p14="http://schemas.microsoft.com/office/powerpoint/2010/main" val="3639862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can even access our vector in a similar syntax as if it were an array in C++: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v1[10];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The [] operator is present on the vector Class.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3200" dirty="0"/>
              <a:t>It also provides the method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at()</a:t>
            </a:r>
            <a:r>
              <a:rPr lang="en-US" sz="3200" dirty="0"/>
              <a:t>which provides the same functionality with the additional exception thrown if it is out of range (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out_of_range</a:t>
            </a:r>
            <a:r>
              <a:rPr lang="en-US" sz="3200" i="1" dirty="0"/>
              <a:t>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79337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accomplish our goal of storing both the names and the scores we will need to create two different vectors.</a:t>
            </a:r>
          </a:p>
          <a:p>
            <a:pPr lvl="1"/>
            <a:r>
              <a:rPr lang="en-US" dirty="0"/>
              <a:t>Remember vectors are a templated class.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::vector&lt;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::string&gt; names;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::vector&lt;double&gt; scores;</a:t>
            </a:r>
          </a:p>
        </p:txBody>
      </p:sp>
    </p:spTree>
    <p:extLst>
      <p:ext uri="{BB962C8B-B14F-4D97-AF65-F5344CB8AC3E}">
        <p14:creationId xmlns:p14="http://schemas.microsoft.com/office/powerpoint/2010/main" val="2283791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Step(s):</a:t>
            </a:r>
          </a:p>
          <a:p>
            <a:pPr lvl="1"/>
            <a:r>
              <a:rPr lang="en-US" dirty="0"/>
              <a:t>We need to fill each of these vectors with their respective data.</a:t>
            </a:r>
          </a:p>
          <a:p>
            <a:pPr lvl="2"/>
            <a:r>
              <a:rPr lang="en-US" dirty="0"/>
              <a:t>Compute the Average of the scores in the scores vector.</a:t>
            </a:r>
          </a:p>
          <a:p>
            <a:pPr lvl="2"/>
            <a:r>
              <a:rPr lang="en-US" dirty="0"/>
              <a:t>Display the names that we have placed into the names vector.</a:t>
            </a:r>
          </a:p>
          <a:p>
            <a:pPr lvl="2"/>
            <a:r>
              <a:rPr lang="en-US" dirty="0"/>
              <a:t>Display the scores that we have placed in the scores vector.</a:t>
            </a:r>
          </a:p>
          <a:p>
            <a:pPr lvl="2"/>
            <a:r>
              <a:rPr lang="en-US" dirty="0"/>
              <a:t>Display the differences between the scores and the overall class average.</a:t>
            </a:r>
          </a:p>
        </p:txBody>
      </p:sp>
    </p:spTree>
    <p:extLst>
      <p:ext uri="{BB962C8B-B14F-4D97-AF65-F5344CB8AC3E}">
        <p14:creationId xmlns:p14="http://schemas.microsoft.com/office/powerpoint/2010/main" val="27705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“fill” a vector?</a:t>
            </a:r>
          </a:p>
          <a:p>
            <a:pPr lvl="1"/>
            <a:r>
              <a:rPr lang="en-US" dirty="0"/>
              <a:t>We need to write a method that will read in the data and then populate the fields of the vector.</a:t>
            </a:r>
          </a:p>
          <a:p>
            <a:pPr lvl="1"/>
            <a:endParaRPr lang="en-US" dirty="0"/>
          </a:p>
          <a:p>
            <a:r>
              <a:rPr lang="en-US" dirty="0"/>
              <a:t>We will need two parameters – the references to the vectors that we have created.</a:t>
            </a:r>
          </a:p>
          <a:p>
            <a:pPr lvl="1"/>
            <a:r>
              <a:rPr lang="en-US" dirty="0"/>
              <a:t>In essence we could treat these and declare these both as pointers if we wanted to and use the new operator…memory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496896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Vector Class has a built-in method that allows for you to append an element to the end of the vector.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vectorName.push_back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(value);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allows us to add to our vector in much the way we “wished” an Array worked.</a:t>
            </a:r>
          </a:p>
        </p:txBody>
      </p:sp>
    </p:spTree>
    <p:extLst>
      <p:ext uri="{BB962C8B-B14F-4D97-AF65-F5344CB8AC3E}">
        <p14:creationId xmlns:p14="http://schemas.microsoft.com/office/powerpoint/2010/main" val="1234607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199077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program that can find the duplicate letters in the following string: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butler bulldogs</a:t>
            </a:r>
            <a:r>
              <a:rPr lang="en-US" dirty="0"/>
              <a:t>”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3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24662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5835</TotalTime>
  <Words>911</Words>
  <Application>Microsoft Office PowerPoint</Application>
  <PresentationFormat>On-screen Show (4:3)</PresentationFormat>
  <Paragraphs>115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Lecture – 10/8/2025</vt:lpstr>
      <vt:lpstr>Assignment #3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Vectors</vt:lpstr>
      <vt:lpstr>Bitwise Operations</vt:lpstr>
      <vt:lpstr>Bitwise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</cp:lastModifiedBy>
  <cp:revision>503</cp:revision>
  <dcterms:created xsi:type="dcterms:W3CDTF">2011-07-22T18:36:28Z</dcterms:created>
  <dcterms:modified xsi:type="dcterms:W3CDTF">2025-10-06T15:00:40Z</dcterms:modified>
</cp:coreProperties>
</file>