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314" r:id="rId2"/>
    <p:sldId id="412" r:id="rId3"/>
    <p:sldId id="549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0" r:id="rId15"/>
    <p:sldId id="561" r:id="rId16"/>
    <p:sldId id="54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9/24/2025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49423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ADT’s</a:t>
            </a:r>
          </a:p>
        </p:txBody>
      </p:sp>
    </p:spTree>
    <p:extLst>
      <p:ext uri="{BB962C8B-B14F-4D97-AF65-F5344CB8AC3E}">
        <p14:creationId xmlns:p14="http://schemas.microsoft.com/office/powerpoint/2010/main" val="2609629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How do we use our data?</a:t>
            </a:r>
          </a:p>
          <a:p>
            <a:endParaRPr lang="en-US" altLang="en-US" dirty="0"/>
          </a:p>
          <a:p>
            <a:r>
              <a:rPr lang="en-US" altLang="en-US" dirty="0"/>
              <a:t>Typical operations on data:</a:t>
            </a:r>
          </a:p>
          <a:p>
            <a:pPr lvl="1"/>
            <a:r>
              <a:rPr lang="en-US" altLang="en-US" dirty="0"/>
              <a:t>Add data to a data collection.</a:t>
            </a:r>
          </a:p>
          <a:p>
            <a:pPr lvl="1"/>
            <a:r>
              <a:rPr lang="en-US" altLang="en-US" dirty="0"/>
              <a:t>Remove data from a data collection.</a:t>
            </a:r>
          </a:p>
          <a:p>
            <a:pPr lvl="1"/>
            <a:r>
              <a:rPr lang="en-US" altLang="en-US" dirty="0"/>
              <a:t>Ask questions about the data in a data collection.</a:t>
            </a:r>
          </a:p>
          <a:p>
            <a:pPr lvl="2"/>
            <a:r>
              <a:rPr lang="en-US" altLang="en-US" dirty="0"/>
              <a:t>Think of a database query…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0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Abstract Data Type (ADT)</a:t>
            </a:r>
          </a:p>
          <a:p>
            <a:pPr lvl="1"/>
            <a:r>
              <a:rPr lang="en-US" altLang="en-US" dirty="0"/>
              <a:t>A collection of data </a:t>
            </a:r>
            <a:r>
              <a:rPr lang="en-US" altLang="en-US" b="1" i="1" u="sng" dirty="0"/>
              <a:t>and</a:t>
            </a:r>
            <a:r>
              <a:rPr lang="en-US" altLang="en-US" dirty="0"/>
              <a:t> a set of operations on data.</a:t>
            </a:r>
          </a:p>
          <a:p>
            <a:endParaRPr lang="en-US" altLang="en-US" dirty="0"/>
          </a:p>
          <a:p>
            <a:r>
              <a:rPr lang="en-US" altLang="en-US" dirty="0"/>
              <a:t>Data Structure</a:t>
            </a:r>
          </a:p>
          <a:p>
            <a:pPr lvl="1"/>
            <a:r>
              <a:rPr lang="en-US" altLang="en-US" dirty="0"/>
              <a:t>An implementation of an ADT within a programming language.</a:t>
            </a:r>
          </a:p>
          <a:p>
            <a:pPr lvl="2"/>
            <a:r>
              <a:rPr lang="en-US" altLang="en-US" dirty="0"/>
              <a:t>We are going to focus on various data structures in order to fully realize the concept of Abstraction.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00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Separates the purpose of a module from its implementation.</a:t>
            </a:r>
          </a:p>
          <a:p>
            <a:pPr lvl="1"/>
            <a:r>
              <a:rPr lang="en-US" dirty="0"/>
              <a:t>Function = Black Box</a:t>
            </a:r>
          </a:p>
          <a:p>
            <a:pPr lvl="1"/>
            <a:endParaRPr lang="en-US" dirty="0"/>
          </a:p>
          <a:p>
            <a:r>
              <a:rPr lang="en-US" dirty="0"/>
              <a:t>Abstraction Types:</a:t>
            </a:r>
          </a:p>
          <a:p>
            <a:pPr lvl="1"/>
            <a:r>
              <a:rPr lang="en-US" dirty="0"/>
              <a:t>Functional (Procedural)</a:t>
            </a:r>
          </a:p>
          <a:p>
            <a:pPr lvl="1"/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08801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Separating the purpose of a module from its implementation.</a:t>
            </a:r>
          </a:p>
          <a:p>
            <a:endParaRPr lang="en-US" dirty="0"/>
          </a:p>
          <a:p>
            <a:r>
              <a:rPr lang="en-US" dirty="0"/>
              <a:t>You don’t need to know the internal workings of the “thing” – just that it will satisfy your requirements.</a:t>
            </a:r>
          </a:p>
          <a:p>
            <a:pPr lvl="1"/>
            <a:r>
              <a:rPr lang="en-US" dirty="0"/>
              <a:t>Car/Engine</a:t>
            </a:r>
          </a:p>
        </p:txBody>
      </p:sp>
    </p:spTree>
    <p:extLst>
      <p:ext uri="{BB962C8B-B14F-4D97-AF65-F5344CB8AC3E}">
        <p14:creationId xmlns:p14="http://schemas.microsoft.com/office/powerpoint/2010/main" val="78743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operations do with the collection of data.</a:t>
            </a:r>
          </a:p>
          <a:p>
            <a:endParaRPr lang="en-US" dirty="0"/>
          </a:p>
          <a:p>
            <a:r>
              <a:rPr lang="en-US" dirty="0"/>
              <a:t>Know </a:t>
            </a:r>
            <a:r>
              <a:rPr lang="en-US" i="1" dirty="0"/>
              <a:t>what</a:t>
            </a:r>
            <a:r>
              <a:rPr lang="en-US" dirty="0"/>
              <a:t> operations can be performed, but do not know </a:t>
            </a:r>
            <a:r>
              <a:rPr lang="en-US" i="1" dirty="0"/>
              <a:t>how</a:t>
            </a:r>
            <a:r>
              <a:rPr lang="en-US" dirty="0"/>
              <a:t> the data is stored or </a:t>
            </a:r>
            <a:r>
              <a:rPr lang="en-US" i="1" dirty="0"/>
              <a:t>how</a:t>
            </a:r>
            <a:r>
              <a:rPr lang="en-US" dirty="0"/>
              <a:t> the operations are performed.</a:t>
            </a:r>
          </a:p>
          <a:p>
            <a:pPr lvl="1"/>
            <a:r>
              <a:rPr lang="en-US" dirty="0"/>
              <a:t>Array Example</a:t>
            </a:r>
          </a:p>
        </p:txBody>
      </p:sp>
    </p:spTree>
    <p:extLst>
      <p:ext uri="{BB962C8B-B14F-4D97-AF65-F5344CB8AC3E}">
        <p14:creationId xmlns:p14="http://schemas.microsoft.com/office/powerpoint/2010/main" val="286707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Ask – What not How</a:t>
            </a:r>
          </a:p>
        </p:txBody>
      </p:sp>
    </p:spTree>
    <p:extLst>
      <p:ext uri="{BB962C8B-B14F-4D97-AF65-F5344CB8AC3E}">
        <p14:creationId xmlns:p14="http://schemas.microsoft.com/office/powerpoint/2010/main" val="281760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369817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This allows you to specify that a pointer is essentially pointing at nothing.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cstddef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If we initialize a pointer and then “null” it we have a memory leak.</a:t>
            </a:r>
          </a:p>
          <a:p>
            <a:pPr lvl="1"/>
            <a:r>
              <a:rPr lang="en-US" b="1" i="1" dirty="0">
                <a:cs typeface="Courier New" panose="02070309020205020404" pitchFamily="49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12503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Abstract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ADT Lifecycle: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Construction: </a:t>
            </a:r>
            <a:r>
              <a:rPr lang="en-US" dirty="0"/>
              <a:t>The ADT is created.</a:t>
            </a:r>
          </a:p>
          <a:p>
            <a:pPr marL="1236726" lvl="2" indent="-514350"/>
            <a:r>
              <a:rPr lang="en-US" dirty="0"/>
              <a:t>Locally on the stack.</a:t>
            </a:r>
          </a:p>
          <a:p>
            <a:pPr marL="1236726" lvl="2" indent="-514350"/>
            <a:r>
              <a:rPr lang="en-US" dirty="0"/>
              <a:t>Dynamically on the heap.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Initialization</a:t>
            </a:r>
            <a:r>
              <a:rPr lang="en-US" dirty="0"/>
              <a:t>: The variables of the ADT are set to their initial value.</a:t>
            </a:r>
          </a:p>
          <a:p>
            <a:pPr lvl="2"/>
            <a:r>
              <a:rPr lang="en-US" dirty="0"/>
              <a:t>Set the ADT’s initial state.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Usage</a:t>
            </a:r>
            <a:r>
              <a:rPr lang="en-US" dirty="0"/>
              <a:t>: The ADT is now ready for use in program.</a:t>
            </a:r>
          </a:p>
          <a:p>
            <a:pPr lvl="2"/>
            <a:r>
              <a:rPr lang="en-US" dirty="0"/>
              <a:t>Invokes its member functions.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Destruction</a:t>
            </a:r>
            <a:r>
              <a:rPr lang="en-US" dirty="0"/>
              <a:t>: The ADT and it’s memory is no longer usable.</a:t>
            </a:r>
          </a:p>
          <a:p>
            <a:pPr lvl="2"/>
            <a:r>
              <a:rPr lang="en-US" dirty="0"/>
              <a:t>Removed from the local stack. </a:t>
            </a:r>
          </a:p>
          <a:p>
            <a:pPr lvl="2"/>
            <a:r>
              <a:rPr lang="en-US" dirty="0"/>
              <a:t>Memory released back to heap.</a:t>
            </a:r>
          </a:p>
        </p:txBody>
      </p:sp>
    </p:spTree>
    <p:extLst>
      <p:ext uri="{BB962C8B-B14F-4D97-AF65-F5344CB8AC3E}">
        <p14:creationId xmlns:p14="http://schemas.microsoft.com/office/powerpoint/2010/main" val="105300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Scope &amp; Lifetime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Scope</a:t>
            </a:r>
          </a:p>
          <a:p>
            <a:pPr lvl="1"/>
            <a:r>
              <a:rPr lang="en-US" dirty="0"/>
              <a:t>Textual or Spatial</a:t>
            </a:r>
          </a:p>
          <a:p>
            <a:pPr lvl="1"/>
            <a:endParaRPr lang="en-US" dirty="0"/>
          </a:p>
          <a:p>
            <a:r>
              <a:rPr lang="en-US" b="1" dirty="0"/>
              <a:t>Lifetime</a:t>
            </a:r>
          </a:p>
          <a:p>
            <a:pPr lvl="1"/>
            <a:r>
              <a:rPr lang="en-US" dirty="0"/>
              <a:t>Temporal concept</a:t>
            </a:r>
          </a:p>
          <a:p>
            <a:pPr lvl="1"/>
            <a:endParaRPr lang="en-US" dirty="0"/>
          </a:p>
          <a:p>
            <a:r>
              <a:rPr lang="en-US" dirty="0"/>
              <a:t>C++</a:t>
            </a:r>
          </a:p>
          <a:p>
            <a:pPr lvl="1"/>
            <a:r>
              <a:rPr lang="en-US" dirty="0"/>
              <a:t>Let us consider a variable that is declared in a function using the specifier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dirty="0"/>
              <a:t> – it is statically bound to the scope of that function and is also statically bound to storage.</a:t>
            </a:r>
          </a:p>
          <a:p>
            <a:pPr lvl="2"/>
            <a:r>
              <a:rPr lang="en-US" dirty="0"/>
              <a:t>Scope is static and local to the function – Lifetime extends over the entire execution of the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902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Scope &amp; Lifetime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char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[])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Array * a1 = new Array ();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do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Array a2;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// some random code...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 while (0);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// some more code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  <a:p>
            <a:r>
              <a:rPr lang="en-US" sz="5900" dirty="0"/>
              <a:t>Here the destructor for </a:t>
            </a: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5900" dirty="0"/>
              <a:t> is called when we leave the body of the loop. </a:t>
            </a:r>
          </a:p>
          <a:p>
            <a:endParaRPr lang="en-US" sz="5900" dirty="0"/>
          </a:p>
          <a:p>
            <a:r>
              <a:rPr lang="en-US" sz="5900" dirty="0"/>
              <a:t>What is missing from the sample code?</a:t>
            </a:r>
          </a:p>
          <a:p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363735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Scope &amp; Lifetime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didn’t manually call the destructor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dirty="0"/>
              <a:t> when we exited the function.</a:t>
            </a:r>
          </a:p>
          <a:p>
            <a:pPr lvl="1"/>
            <a:endParaRPr lang="en-US" dirty="0"/>
          </a:p>
          <a:p>
            <a:r>
              <a:rPr lang="en-US" dirty="0"/>
              <a:t>Why is this important?</a:t>
            </a:r>
          </a:p>
          <a:p>
            <a:pPr lvl="1"/>
            <a:r>
              <a:rPr lang="en-US" dirty="0"/>
              <a:t>We need to ensure that we “clean-up” after our code.</a:t>
            </a:r>
          </a:p>
          <a:p>
            <a:pPr lvl="2"/>
            <a:r>
              <a:rPr lang="en-US" dirty="0"/>
              <a:t>This helps to prevent any unwanted data access issues and/or memory leaks.</a:t>
            </a:r>
          </a:p>
          <a:p>
            <a:pPr lvl="2"/>
            <a:r>
              <a:rPr lang="en-US" dirty="0"/>
              <a:t>Otherwise, the memory location allocated on the heap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dirty="0"/>
              <a:t> will still exist.</a:t>
            </a:r>
          </a:p>
          <a:p>
            <a:pPr lvl="3"/>
            <a:r>
              <a:rPr lang="en-US" dirty="0"/>
              <a:t>Potential dangers?</a:t>
            </a:r>
          </a:p>
        </p:txBody>
      </p:sp>
    </p:spTree>
    <p:extLst>
      <p:ext uri="{BB962C8B-B14F-4D97-AF65-F5344CB8AC3E}">
        <p14:creationId xmlns:p14="http://schemas.microsoft.com/office/powerpoint/2010/main" val="642205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102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5618</TotalTime>
  <Words>579</Words>
  <Application>Microsoft Office PowerPoint</Application>
  <PresentationFormat>On-screen Show (4:3)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Lecture – 9/24/2025</vt:lpstr>
      <vt:lpstr>Assignment #2</vt:lpstr>
      <vt:lpstr>Abstract Data Types</vt:lpstr>
      <vt:lpstr>Abstract Data Types</vt:lpstr>
      <vt:lpstr>Abstract Data Types</vt:lpstr>
      <vt:lpstr>Abstraction</vt:lpstr>
      <vt:lpstr>Functional Abstraction</vt:lpstr>
      <vt:lpstr>Data Abstraction</vt:lpstr>
      <vt:lpstr>Abstraction</vt:lpstr>
      <vt:lpstr>C++ Review</vt:lpstr>
      <vt:lpstr>C++ Pointers</vt:lpstr>
      <vt:lpstr>C++ Review: Abstract Data Types</vt:lpstr>
      <vt:lpstr>C++ Review: Scope &amp; Lifetime</vt:lpstr>
      <vt:lpstr>C++ Review: Scope &amp; Lifetime</vt:lpstr>
      <vt:lpstr>C++ Review: Scope &amp; Lifetime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455</cp:revision>
  <dcterms:created xsi:type="dcterms:W3CDTF">2011-07-22T18:36:28Z</dcterms:created>
  <dcterms:modified xsi:type="dcterms:W3CDTF">2025-09-24T17:16:01Z</dcterms:modified>
</cp:coreProperties>
</file>