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35"/>
  </p:notesMasterIdLst>
  <p:sldIdLst>
    <p:sldId id="314" r:id="rId2"/>
    <p:sldId id="546" r:id="rId3"/>
    <p:sldId id="497" r:id="rId4"/>
    <p:sldId id="498" r:id="rId5"/>
    <p:sldId id="499" r:id="rId6"/>
    <p:sldId id="500" r:id="rId7"/>
    <p:sldId id="501" r:id="rId8"/>
    <p:sldId id="502" r:id="rId9"/>
    <p:sldId id="503" r:id="rId10"/>
    <p:sldId id="504" r:id="rId11"/>
    <p:sldId id="505" r:id="rId12"/>
    <p:sldId id="506" r:id="rId13"/>
    <p:sldId id="507" r:id="rId14"/>
    <p:sldId id="508" r:id="rId15"/>
    <p:sldId id="509" r:id="rId16"/>
    <p:sldId id="510" r:id="rId17"/>
    <p:sldId id="511" r:id="rId18"/>
    <p:sldId id="512" r:id="rId19"/>
    <p:sldId id="513" r:id="rId20"/>
    <p:sldId id="514" r:id="rId21"/>
    <p:sldId id="515" r:id="rId22"/>
    <p:sldId id="518" r:id="rId23"/>
    <p:sldId id="519" r:id="rId24"/>
    <p:sldId id="520" r:id="rId25"/>
    <p:sldId id="521" r:id="rId26"/>
    <p:sldId id="522" r:id="rId27"/>
    <p:sldId id="523" r:id="rId28"/>
    <p:sldId id="516" r:id="rId29"/>
    <p:sldId id="517" r:id="rId30"/>
    <p:sldId id="425" r:id="rId31"/>
    <p:sldId id="426" r:id="rId32"/>
    <p:sldId id="427" r:id="rId33"/>
    <p:sldId id="545" r:id="rId34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79" d="100"/>
          <a:sy n="79" d="100"/>
        </p:scale>
        <p:origin x="1498" y="77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bleStyles" Target="tableStyle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4ADA500-0D83-4472-8117-89698D861692}" type="datetimeFigureOut">
              <a:rPr lang="en-US" smtClean="0"/>
              <a:t>9/17/2025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0E50DD3-B5D8-4C49-8686-233E18939E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26042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686DDC-0F8A-4B0B-AEF9-E2022025D4DD}" type="datetimeFigureOut">
              <a:rPr lang="en-US" smtClean="0"/>
              <a:t>9/17/2025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7E6EC6-BFEA-44CE-9216-D8ABB5D450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656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686DDC-0F8A-4B0B-AEF9-E2022025D4DD}" type="datetimeFigureOut">
              <a:rPr lang="en-US" smtClean="0"/>
              <a:t>9/17/2025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7E6EC6-BFEA-44CE-9216-D8ABB5D450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76153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686DDC-0F8A-4B0B-AEF9-E2022025D4DD}" type="datetimeFigureOut">
              <a:rPr lang="en-US" smtClean="0"/>
              <a:t>9/17/2025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7E6EC6-BFEA-44CE-9216-D8ABB5D450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28669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686DDC-0F8A-4B0B-AEF9-E2022025D4DD}" type="datetimeFigureOut">
              <a:rPr lang="en-US" smtClean="0"/>
              <a:t>9/17/2025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7E6EC6-BFEA-44CE-9216-D8ABB5D450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88303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686DDC-0F8A-4B0B-AEF9-E2022025D4DD}" type="datetimeFigureOut">
              <a:rPr lang="en-US" smtClean="0"/>
              <a:t>9/17/2025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7E6EC6-BFEA-44CE-9216-D8ABB5D450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0021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686DDC-0F8A-4B0B-AEF9-E2022025D4DD}" type="datetimeFigureOut">
              <a:rPr lang="en-US" smtClean="0"/>
              <a:t>9/17/2025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7E6EC6-BFEA-44CE-9216-D8ABB5D450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80037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686DDC-0F8A-4B0B-AEF9-E2022025D4DD}" type="datetimeFigureOut">
              <a:rPr lang="en-US" smtClean="0"/>
              <a:t>9/17/2025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7E6EC6-BFEA-44CE-9216-D8ABB5D450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90545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686DDC-0F8A-4B0B-AEF9-E2022025D4DD}" type="datetimeFigureOut">
              <a:rPr lang="en-US" smtClean="0"/>
              <a:t>9/17/2025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7E6EC6-BFEA-44CE-9216-D8ABB5D450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39469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686DDC-0F8A-4B0B-AEF9-E2022025D4DD}" type="datetimeFigureOut">
              <a:rPr lang="en-US" smtClean="0"/>
              <a:t>9/17/2025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7E6EC6-BFEA-44CE-9216-D8ABB5D450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5049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686DDC-0F8A-4B0B-AEF9-E2022025D4DD}" type="datetimeFigureOut">
              <a:rPr lang="en-US" smtClean="0"/>
              <a:t>9/17/2025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7E6EC6-BFEA-44CE-9216-D8ABB5D450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89003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686DDC-0F8A-4B0B-AEF9-E2022025D4DD}" type="datetimeFigureOut">
              <a:rPr lang="en-US" smtClean="0"/>
              <a:t>9/17/2025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7E6EC6-BFEA-44CE-9216-D8ABB5D450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44751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686DDC-0F8A-4B0B-AEF9-E2022025D4DD}" type="datetimeFigureOut">
              <a:rPr lang="en-US" smtClean="0"/>
              <a:t>9/17/2025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A7E6EC6-BFEA-44CE-9216-D8ABB5D450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57301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hyperlink" Target="http://valgrind.org/downloads/" TargetMode="Externa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hyperlink" Target="http://valgrind.org/docs/" TargetMode="Externa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09600" y="5184648"/>
            <a:ext cx="8077200" cy="1673352"/>
          </a:xfrm>
        </p:spPr>
        <p:txBody>
          <a:bodyPr anchor="ctr"/>
          <a:lstStyle/>
          <a:p>
            <a:pPr algn="ctr"/>
            <a:r>
              <a:rPr lang="en-US" dirty="0"/>
              <a:t>Lecture </a:t>
            </a:r>
            <a:r>
              <a:rPr lang="en-US"/>
              <a:t>– 9/17/2025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28600" y="3910584"/>
            <a:ext cx="8458200" cy="1499616"/>
          </a:xfrm>
        </p:spPr>
        <p:txBody>
          <a:bodyPr>
            <a:normAutofit/>
          </a:bodyPr>
          <a:lstStyle/>
          <a:p>
            <a:pPr algn="ctr"/>
            <a:r>
              <a:rPr lang="en-US" sz="3200" b="1" dirty="0"/>
              <a:t>CS 341 – Advanced Data Structures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90800" y="228600"/>
            <a:ext cx="3810000" cy="381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135684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45BFE32E-C31A-B313-DCF3-785C4808E17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Assignment #2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289FC6BE-9C3E-4EB1-9B05-14807F5C7A7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/>
              <a:t>Q/A</a:t>
            </a:r>
          </a:p>
        </p:txBody>
      </p:sp>
    </p:spTree>
    <p:extLst>
      <p:ext uri="{BB962C8B-B14F-4D97-AF65-F5344CB8AC3E}">
        <p14:creationId xmlns:p14="http://schemas.microsoft.com/office/powerpoint/2010/main" val="337200612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ctrTitle"/>
          </p:nvPr>
        </p:nvSpPr>
        <p:spPr>
          <a:xfrm>
            <a:off x="381000" y="2971800"/>
            <a:ext cx="8077200" cy="1673352"/>
          </a:xfrm>
        </p:spPr>
        <p:txBody>
          <a:bodyPr/>
          <a:lstStyle/>
          <a:p>
            <a:pPr algn="ctr"/>
            <a:r>
              <a:rPr lang="en-US" dirty="0"/>
              <a:t>Polymorphism</a:t>
            </a:r>
          </a:p>
        </p:txBody>
      </p:sp>
      <p:sp>
        <p:nvSpPr>
          <p:cNvPr id="7" name="Subtitle 6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401494255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2041" y="0"/>
            <a:ext cx="6995159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67827899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Polymorphism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Polymorphism</a:t>
            </a:r>
          </a:p>
          <a:p>
            <a:pPr lvl="1"/>
            <a:r>
              <a:rPr lang="en-US" dirty="0"/>
              <a:t>Definition: </a:t>
            </a:r>
          </a:p>
          <a:p>
            <a:pPr lvl="2"/>
            <a:r>
              <a:rPr lang="en-US" dirty="0"/>
              <a:t>“The condition of occurring in several different forms.”</a:t>
            </a:r>
          </a:p>
          <a:p>
            <a:pPr lvl="2"/>
            <a:endParaRPr lang="en-US" dirty="0"/>
          </a:p>
          <a:p>
            <a:r>
              <a:rPr lang="en-US" dirty="0"/>
              <a:t>Allows for the creation of a generic software interface such that concrete collections of different objects may be manipulated uniformly.</a:t>
            </a:r>
          </a:p>
          <a:p>
            <a:pPr lvl="1"/>
            <a:r>
              <a:rPr lang="en-US" dirty="0"/>
              <a:t>Mammal Example</a:t>
            </a:r>
          </a:p>
        </p:txBody>
      </p:sp>
    </p:spTree>
    <p:extLst>
      <p:ext uri="{BB962C8B-B14F-4D97-AF65-F5344CB8AC3E}">
        <p14:creationId xmlns:p14="http://schemas.microsoft.com/office/powerpoint/2010/main" val="331788098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C++ Review: Polymorphism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Lets take a look at a use of polymorphism using pointers with polygons:</a:t>
            </a:r>
          </a:p>
          <a:p>
            <a:pPr marL="118872" indent="0">
              <a:buNone/>
            </a:pPr>
            <a:endParaRPr lang="en-US" i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118872" indent="0">
              <a:buNone/>
            </a:pPr>
            <a:r>
              <a:rPr lang="en-US" sz="2600" i="1" dirty="0">
                <a:latin typeface="Courier New" panose="02070309020205020404" pitchFamily="49" charset="0"/>
                <a:cs typeface="Courier New" panose="02070309020205020404" pitchFamily="49" charset="0"/>
              </a:rPr>
              <a:t>class</a:t>
            </a:r>
            <a:r>
              <a:rPr lang="en-US" sz="2600" dirty="0">
                <a:latin typeface="Courier New" panose="02070309020205020404" pitchFamily="49" charset="0"/>
                <a:cs typeface="Courier New" panose="02070309020205020404" pitchFamily="49" charset="0"/>
              </a:rPr>
              <a:t> Polygon { </a:t>
            </a:r>
          </a:p>
          <a:p>
            <a:pPr marL="118872" indent="0">
              <a:buNone/>
            </a:pPr>
            <a:r>
              <a:rPr lang="en-US" sz="2600" i="1" dirty="0">
                <a:latin typeface="Courier New" panose="02070309020205020404" pitchFamily="49" charset="0"/>
                <a:cs typeface="Courier New" panose="02070309020205020404" pitchFamily="49" charset="0"/>
              </a:rPr>
              <a:t>	protected</a:t>
            </a:r>
            <a:r>
              <a:rPr lang="en-US" sz="2600" dirty="0">
                <a:latin typeface="Courier New" panose="02070309020205020404" pitchFamily="49" charset="0"/>
                <a:cs typeface="Courier New" panose="02070309020205020404" pitchFamily="49" charset="0"/>
              </a:rPr>
              <a:t>: </a:t>
            </a:r>
          </a:p>
          <a:p>
            <a:pPr marL="118872" indent="0">
              <a:buNone/>
            </a:pPr>
            <a:r>
              <a:rPr lang="en-US" sz="2600" i="1" dirty="0">
                <a:latin typeface="Courier New" panose="02070309020205020404" pitchFamily="49" charset="0"/>
                <a:cs typeface="Courier New" panose="02070309020205020404" pitchFamily="49" charset="0"/>
              </a:rPr>
              <a:t>		</a:t>
            </a:r>
            <a:r>
              <a:rPr lang="en-US" sz="2600" i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sz="2600" dirty="0">
                <a:latin typeface="Courier New" panose="02070309020205020404" pitchFamily="49" charset="0"/>
                <a:cs typeface="Courier New" panose="02070309020205020404" pitchFamily="49" charset="0"/>
              </a:rPr>
              <a:t> width, height; 	</a:t>
            </a:r>
          </a:p>
          <a:p>
            <a:pPr marL="118872" indent="0">
              <a:buNone/>
            </a:pPr>
            <a:r>
              <a:rPr lang="en-US" sz="2600" i="1" dirty="0">
                <a:latin typeface="Courier New" panose="02070309020205020404" pitchFamily="49" charset="0"/>
                <a:cs typeface="Courier New" panose="02070309020205020404" pitchFamily="49" charset="0"/>
              </a:rPr>
              <a:t>	public</a:t>
            </a:r>
            <a:r>
              <a:rPr lang="en-US" sz="2600" dirty="0">
                <a:latin typeface="Courier New" panose="02070309020205020404" pitchFamily="49" charset="0"/>
                <a:cs typeface="Courier New" panose="02070309020205020404" pitchFamily="49" charset="0"/>
              </a:rPr>
              <a:t>: </a:t>
            </a:r>
          </a:p>
          <a:p>
            <a:pPr marL="118872" indent="0">
              <a:buNone/>
            </a:pPr>
            <a:r>
              <a:rPr lang="en-US" sz="2600" i="1" dirty="0">
                <a:latin typeface="Courier New" panose="02070309020205020404" pitchFamily="49" charset="0"/>
                <a:cs typeface="Courier New" panose="02070309020205020404" pitchFamily="49" charset="0"/>
              </a:rPr>
              <a:t>		void</a:t>
            </a:r>
            <a:r>
              <a:rPr lang="en-US" sz="26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set_values</a:t>
            </a:r>
            <a:r>
              <a:rPr lang="en-US" sz="2600" dirty="0">
                <a:latin typeface="Courier New" panose="02070309020205020404" pitchFamily="49" charset="0"/>
                <a:cs typeface="Courier New" panose="02070309020205020404" pitchFamily="49" charset="0"/>
              </a:rPr>
              <a:t> (</a:t>
            </a:r>
            <a:r>
              <a:rPr lang="en-US" sz="2600" i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sz="2600" dirty="0">
                <a:latin typeface="Courier New" panose="02070309020205020404" pitchFamily="49" charset="0"/>
                <a:cs typeface="Courier New" panose="02070309020205020404" pitchFamily="49" charset="0"/>
              </a:rPr>
              <a:t> a, </a:t>
            </a:r>
            <a:r>
              <a:rPr lang="en-US" sz="2600" i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sz="2600" dirty="0">
                <a:latin typeface="Courier New" panose="02070309020205020404" pitchFamily="49" charset="0"/>
                <a:cs typeface="Courier New" panose="02070309020205020404" pitchFamily="49" charset="0"/>
              </a:rPr>
              <a:t> b) </a:t>
            </a:r>
          </a:p>
          <a:p>
            <a:pPr marL="118872" indent="0">
              <a:buNone/>
            </a:pPr>
            <a:r>
              <a:rPr lang="en-US" sz="2600" dirty="0">
                <a:latin typeface="Courier New" panose="02070309020205020404" pitchFamily="49" charset="0"/>
                <a:cs typeface="Courier New" panose="02070309020205020404" pitchFamily="49" charset="0"/>
              </a:rPr>
              <a:t>			{ width=a; height=b; } </a:t>
            </a:r>
          </a:p>
          <a:p>
            <a:pPr marL="118872" indent="0">
              <a:buNone/>
            </a:pPr>
            <a:r>
              <a:rPr lang="en-US" sz="2600" dirty="0">
                <a:latin typeface="Courier New" panose="02070309020205020404" pitchFamily="49" charset="0"/>
                <a:cs typeface="Courier New" panose="02070309020205020404" pitchFamily="49" charset="0"/>
              </a:rPr>
              <a:t>};</a:t>
            </a:r>
          </a:p>
        </p:txBody>
      </p:sp>
    </p:spTree>
    <p:extLst>
      <p:ext uri="{BB962C8B-B14F-4D97-AF65-F5344CB8AC3E}">
        <p14:creationId xmlns:p14="http://schemas.microsoft.com/office/powerpoint/2010/main" val="156282587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C++ Review: Polymorphism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118872" indent="0">
              <a:buNone/>
            </a:pPr>
            <a:r>
              <a:rPr lang="en-US" sz="2500" i="1" dirty="0">
                <a:latin typeface="Courier New" panose="02070309020205020404" pitchFamily="49" charset="0"/>
                <a:cs typeface="Courier New" panose="02070309020205020404" pitchFamily="49" charset="0"/>
              </a:rPr>
              <a:t>class</a:t>
            </a:r>
            <a:r>
              <a:rPr lang="en-US" sz="2500" dirty="0">
                <a:latin typeface="Courier New" panose="02070309020205020404" pitchFamily="49" charset="0"/>
                <a:cs typeface="Courier New" panose="02070309020205020404" pitchFamily="49" charset="0"/>
              </a:rPr>
              <a:t> Rectangle: </a:t>
            </a:r>
            <a:r>
              <a:rPr lang="en-US" sz="2500" i="1" dirty="0">
                <a:latin typeface="Courier New" panose="02070309020205020404" pitchFamily="49" charset="0"/>
                <a:cs typeface="Courier New" panose="02070309020205020404" pitchFamily="49" charset="0"/>
              </a:rPr>
              <a:t>public</a:t>
            </a:r>
            <a:r>
              <a:rPr lang="en-US" sz="2500" dirty="0">
                <a:latin typeface="Courier New" panose="02070309020205020404" pitchFamily="49" charset="0"/>
                <a:cs typeface="Courier New" panose="02070309020205020404" pitchFamily="49" charset="0"/>
              </a:rPr>
              <a:t> Polygon { </a:t>
            </a:r>
          </a:p>
          <a:p>
            <a:pPr marL="118872" indent="0">
              <a:buNone/>
            </a:pPr>
            <a:r>
              <a:rPr lang="en-US" sz="2500" i="1" dirty="0">
                <a:latin typeface="Courier New" panose="02070309020205020404" pitchFamily="49" charset="0"/>
                <a:cs typeface="Courier New" panose="02070309020205020404" pitchFamily="49" charset="0"/>
              </a:rPr>
              <a:t>	public</a:t>
            </a:r>
            <a:r>
              <a:rPr lang="en-US" sz="2500" dirty="0">
                <a:latin typeface="Courier New" panose="02070309020205020404" pitchFamily="49" charset="0"/>
                <a:cs typeface="Courier New" panose="02070309020205020404" pitchFamily="49" charset="0"/>
              </a:rPr>
              <a:t>: </a:t>
            </a:r>
          </a:p>
          <a:p>
            <a:pPr marL="118872" indent="0">
              <a:buNone/>
            </a:pPr>
            <a:r>
              <a:rPr lang="en-US" sz="2500" i="1" dirty="0">
                <a:latin typeface="Courier New" panose="02070309020205020404" pitchFamily="49" charset="0"/>
                <a:cs typeface="Courier New" panose="02070309020205020404" pitchFamily="49" charset="0"/>
              </a:rPr>
              <a:t>		</a:t>
            </a:r>
            <a:r>
              <a:rPr lang="en-US" sz="2500" i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sz="2500" dirty="0">
                <a:latin typeface="Courier New" panose="02070309020205020404" pitchFamily="49" charset="0"/>
                <a:cs typeface="Courier New" panose="02070309020205020404" pitchFamily="49" charset="0"/>
              </a:rPr>
              <a:t> area() </a:t>
            </a:r>
          </a:p>
          <a:p>
            <a:pPr marL="118872" indent="0">
              <a:buNone/>
            </a:pPr>
            <a:r>
              <a:rPr lang="en-US" sz="2500" dirty="0">
                <a:latin typeface="Courier New" panose="02070309020205020404" pitchFamily="49" charset="0"/>
                <a:cs typeface="Courier New" panose="02070309020205020404" pitchFamily="49" charset="0"/>
              </a:rPr>
              <a:t>			{ </a:t>
            </a:r>
            <a:r>
              <a:rPr lang="en-US" sz="2500" i="1" dirty="0">
                <a:latin typeface="Courier New" panose="02070309020205020404" pitchFamily="49" charset="0"/>
                <a:cs typeface="Courier New" panose="02070309020205020404" pitchFamily="49" charset="0"/>
              </a:rPr>
              <a:t>return</a:t>
            </a:r>
            <a:r>
              <a:rPr lang="en-US" sz="2500" dirty="0">
                <a:latin typeface="Courier New" panose="02070309020205020404" pitchFamily="49" charset="0"/>
                <a:cs typeface="Courier New" panose="02070309020205020404" pitchFamily="49" charset="0"/>
              </a:rPr>
              <a:t> width*height; } </a:t>
            </a:r>
          </a:p>
          <a:p>
            <a:pPr marL="118872" indent="0">
              <a:buNone/>
            </a:pPr>
            <a:r>
              <a:rPr lang="en-US" sz="2500" dirty="0">
                <a:latin typeface="Courier New" panose="02070309020205020404" pitchFamily="49" charset="0"/>
                <a:cs typeface="Courier New" panose="02070309020205020404" pitchFamily="49" charset="0"/>
              </a:rPr>
              <a:t>};</a:t>
            </a:r>
          </a:p>
          <a:p>
            <a:pPr marL="118872" indent="0">
              <a:buNone/>
            </a:pPr>
            <a:endParaRPr lang="en-US" sz="25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118872" indent="0">
              <a:buNone/>
            </a:pPr>
            <a:r>
              <a:rPr lang="en-US" sz="2500" i="1" dirty="0">
                <a:latin typeface="Courier New" panose="02070309020205020404" pitchFamily="49" charset="0"/>
                <a:cs typeface="Courier New" panose="02070309020205020404" pitchFamily="49" charset="0"/>
              </a:rPr>
              <a:t>class</a:t>
            </a:r>
            <a:r>
              <a:rPr lang="en-US" sz="2500" dirty="0">
                <a:latin typeface="Courier New" panose="02070309020205020404" pitchFamily="49" charset="0"/>
                <a:cs typeface="Courier New" panose="02070309020205020404" pitchFamily="49" charset="0"/>
              </a:rPr>
              <a:t> Triangle: </a:t>
            </a:r>
            <a:r>
              <a:rPr lang="en-US" sz="2500" i="1" dirty="0">
                <a:latin typeface="Courier New" panose="02070309020205020404" pitchFamily="49" charset="0"/>
                <a:cs typeface="Courier New" panose="02070309020205020404" pitchFamily="49" charset="0"/>
              </a:rPr>
              <a:t>public</a:t>
            </a:r>
            <a:r>
              <a:rPr lang="en-US" sz="2500" dirty="0">
                <a:latin typeface="Courier New" panose="02070309020205020404" pitchFamily="49" charset="0"/>
                <a:cs typeface="Courier New" panose="02070309020205020404" pitchFamily="49" charset="0"/>
              </a:rPr>
              <a:t> Polygon { </a:t>
            </a:r>
          </a:p>
          <a:p>
            <a:pPr marL="118872" indent="0">
              <a:buNone/>
            </a:pPr>
            <a:r>
              <a:rPr lang="en-US" sz="2500" i="1" dirty="0">
                <a:latin typeface="Courier New" panose="02070309020205020404" pitchFamily="49" charset="0"/>
                <a:cs typeface="Courier New" panose="02070309020205020404" pitchFamily="49" charset="0"/>
              </a:rPr>
              <a:t>	public</a:t>
            </a:r>
            <a:r>
              <a:rPr lang="en-US" sz="2500" dirty="0">
                <a:latin typeface="Courier New" panose="02070309020205020404" pitchFamily="49" charset="0"/>
                <a:cs typeface="Courier New" panose="02070309020205020404" pitchFamily="49" charset="0"/>
              </a:rPr>
              <a:t>: </a:t>
            </a:r>
          </a:p>
          <a:p>
            <a:pPr marL="118872" indent="0">
              <a:buNone/>
            </a:pPr>
            <a:r>
              <a:rPr lang="en-US" sz="2500" i="1" dirty="0">
                <a:latin typeface="Courier New" panose="02070309020205020404" pitchFamily="49" charset="0"/>
                <a:cs typeface="Courier New" panose="02070309020205020404" pitchFamily="49" charset="0"/>
              </a:rPr>
              <a:t>		</a:t>
            </a:r>
            <a:r>
              <a:rPr lang="en-US" sz="2500" i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sz="2500" dirty="0">
                <a:latin typeface="Courier New" panose="02070309020205020404" pitchFamily="49" charset="0"/>
                <a:cs typeface="Courier New" panose="02070309020205020404" pitchFamily="49" charset="0"/>
              </a:rPr>
              <a:t> area() </a:t>
            </a:r>
          </a:p>
          <a:p>
            <a:pPr marL="118872" indent="0">
              <a:buNone/>
            </a:pPr>
            <a:r>
              <a:rPr lang="en-US" sz="2500" dirty="0">
                <a:latin typeface="Courier New" panose="02070309020205020404" pitchFamily="49" charset="0"/>
                <a:cs typeface="Courier New" panose="02070309020205020404" pitchFamily="49" charset="0"/>
              </a:rPr>
              <a:t>			{ </a:t>
            </a:r>
            <a:r>
              <a:rPr lang="en-US" sz="2500" i="1" dirty="0">
                <a:latin typeface="Courier New" panose="02070309020205020404" pitchFamily="49" charset="0"/>
                <a:cs typeface="Courier New" panose="02070309020205020404" pitchFamily="49" charset="0"/>
              </a:rPr>
              <a:t>return</a:t>
            </a:r>
            <a:r>
              <a:rPr lang="en-US" sz="2500" dirty="0">
                <a:latin typeface="Courier New" panose="02070309020205020404" pitchFamily="49" charset="0"/>
                <a:cs typeface="Courier New" panose="02070309020205020404" pitchFamily="49" charset="0"/>
              </a:rPr>
              <a:t> (width*height)/2; } </a:t>
            </a:r>
          </a:p>
          <a:p>
            <a:pPr marL="118872" indent="0">
              <a:buNone/>
            </a:pPr>
            <a:r>
              <a:rPr lang="en-US" sz="2500" dirty="0">
                <a:latin typeface="Courier New" panose="02070309020205020404" pitchFamily="49" charset="0"/>
                <a:cs typeface="Courier New" panose="02070309020205020404" pitchFamily="49" charset="0"/>
              </a:rPr>
              <a:t>};</a:t>
            </a:r>
          </a:p>
          <a:p>
            <a:pPr marL="118872" indent="0">
              <a:buNone/>
            </a:pP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118872" indent="0">
              <a:buNone/>
            </a:pP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7649595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C++ Review: Polymorphism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pPr marL="118872" indent="0">
              <a:buNone/>
            </a:pP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main () {</a:t>
            </a:r>
          </a:p>
          <a:p>
            <a:pPr marL="118872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Rectangle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rect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 marL="118872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Triangle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trgl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 marL="118872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</a:p>
          <a:p>
            <a:pPr marL="118872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Polygon * ppoly1 = &amp;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rect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 marL="118872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Polygon * ppoly2 = &amp;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trgl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 marL="118872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</a:p>
          <a:p>
            <a:pPr marL="118872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ppoly1-&gt;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set_values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(4,5);</a:t>
            </a:r>
          </a:p>
          <a:p>
            <a:pPr marL="118872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ppoly2-&gt;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set_values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(4,5);</a:t>
            </a:r>
          </a:p>
          <a:p>
            <a:pPr marL="118872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</a:p>
          <a:p>
            <a:pPr marL="118872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cout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&lt;&lt; ppoly1-&gt;area() &lt;&lt; '\n';</a:t>
            </a:r>
          </a:p>
          <a:p>
            <a:pPr marL="118872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cout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&lt;&lt; ppoly2-&gt;area() &lt;&lt; '\n';</a:t>
            </a:r>
          </a:p>
          <a:p>
            <a:pPr marL="118872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return 0;</a:t>
            </a:r>
          </a:p>
          <a:p>
            <a:pPr marL="118872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75331861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C++ Review: Polymorphism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What is the output of the previous execution of code?</a:t>
            </a:r>
          </a:p>
          <a:p>
            <a:pPr lvl="1"/>
            <a:r>
              <a:rPr lang="en-US" dirty="0"/>
              <a:t>Two pointers declared (ppoly1, ppoly2)</a:t>
            </a:r>
          </a:p>
          <a:p>
            <a:pPr lvl="2"/>
            <a:r>
              <a:rPr lang="en-US" dirty="0"/>
              <a:t>Assignment valid due to the fact that both Rectangle and Triangle are derived from the base class Polygon.</a:t>
            </a:r>
          </a:p>
          <a:p>
            <a:pPr lvl="1"/>
            <a:r>
              <a:rPr lang="en-US" dirty="0"/>
              <a:t>The pointers have no access to the derived classes methods – therefore we cannot have the following:</a:t>
            </a:r>
          </a:p>
          <a:p>
            <a:pPr lvl="2"/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ppoly1-&gt;area();</a:t>
            </a:r>
            <a:endParaRPr lang="en-US" dirty="0"/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40801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C++ Review: Polymorphism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Three types of polymorphism found:</a:t>
            </a:r>
          </a:p>
          <a:p>
            <a:pPr lvl="1"/>
            <a:r>
              <a:rPr lang="en-US" b="1" dirty="0"/>
              <a:t>Virtual Members</a:t>
            </a:r>
          </a:p>
          <a:p>
            <a:pPr lvl="2"/>
            <a:r>
              <a:rPr lang="en-US" dirty="0"/>
              <a:t>A method in a class begins with the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virtual</a:t>
            </a:r>
            <a:r>
              <a:rPr lang="en-US" dirty="0"/>
              <a:t> identifier.</a:t>
            </a:r>
          </a:p>
          <a:p>
            <a:pPr lvl="1"/>
            <a:r>
              <a:rPr lang="en-US" b="1" dirty="0"/>
              <a:t>Name Overloading</a:t>
            </a:r>
          </a:p>
          <a:p>
            <a:pPr lvl="2"/>
            <a:r>
              <a:rPr lang="en-US" dirty="0"/>
              <a:t>Same name as another entity but with a different set of parameters.</a:t>
            </a:r>
          </a:p>
          <a:p>
            <a:pPr lvl="1"/>
            <a:r>
              <a:rPr lang="en-US" b="1" dirty="0"/>
              <a:t>Operator Overloading</a:t>
            </a:r>
          </a:p>
          <a:p>
            <a:pPr lvl="2"/>
            <a:r>
              <a:rPr lang="en-US" dirty="0"/>
              <a:t>When an operator has a different implementation based upon its arguments.</a:t>
            </a:r>
          </a:p>
        </p:txBody>
      </p:sp>
    </p:spTree>
    <p:extLst>
      <p:ext uri="{BB962C8B-B14F-4D97-AF65-F5344CB8AC3E}">
        <p14:creationId xmlns:p14="http://schemas.microsoft.com/office/powerpoint/2010/main" val="395880639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C++ Review: Polymorphism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Virtual Members:</a:t>
            </a:r>
          </a:p>
          <a:p>
            <a:pPr lvl="1"/>
            <a:r>
              <a:rPr lang="en-US" dirty="0"/>
              <a:t>A member function that can be redefined in a derived class.</a:t>
            </a:r>
          </a:p>
          <a:p>
            <a:pPr lvl="2"/>
            <a:r>
              <a:rPr lang="en-US" dirty="0"/>
              <a:t>It can achieve this through references.</a:t>
            </a:r>
          </a:p>
          <a:p>
            <a:pPr lvl="2"/>
            <a:endParaRPr lang="en-US" dirty="0"/>
          </a:p>
          <a:p>
            <a:r>
              <a:rPr lang="en-US" dirty="0"/>
              <a:t>How could we modify the Polygon example to provide the access via the pointer instead of the direct derived class access?</a:t>
            </a:r>
          </a:p>
          <a:p>
            <a:pPr lvl="1"/>
            <a:endParaRPr lang="en-US" dirty="0"/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1127795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C++ Review: Polymorphism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US" dirty="0"/>
              <a:t>Name Overloading:</a:t>
            </a:r>
          </a:p>
          <a:p>
            <a:pPr lvl="1"/>
            <a:r>
              <a:rPr lang="en-US" dirty="0"/>
              <a:t>The same name for the function is used – only the parameter list differs. </a:t>
            </a:r>
          </a:p>
          <a:p>
            <a:pPr lvl="2"/>
            <a:r>
              <a:rPr lang="en-US" dirty="0"/>
              <a:t>Distinguished by the identity of the associated parameters.</a:t>
            </a:r>
          </a:p>
          <a:p>
            <a:pPr lvl="2"/>
            <a:endParaRPr lang="en-US" dirty="0"/>
          </a:p>
          <a:p>
            <a:r>
              <a:rPr lang="en-US" dirty="0"/>
              <a:t>Example:</a:t>
            </a:r>
          </a:p>
          <a:p>
            <a:pPr lvl="1"/>
            <a:r>
              <a:rPr lang="en-US" dirty="0"/>
              <a:t>Method:</a:t>
            </a:r>
          </a:p>
          <a:p>
            <a:pPr lvl="2"/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// function name overloading</a:t>
            </a:r>
          </a:p>
          <a:p>
            <a:pPr lvl="2"/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void print (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</a:p>
          <a:p>
            <a:pPr lvl="2"/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void print (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const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Foo &amp;);</a:t>
            </a:r>
          </a:p>
        </p:txBody>
      </p:sp>
    </p:spTree>
    <p:extLst>
      <p:ext uri="{BB962C8B-B14F-4D97-AF65-F5344CB8AC3E}">
        <p14:creationId xmlns:p14="http://schemas.microsoft.com/office/powerpoint/2010/main" val="66983803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C++ Review: Polymorphism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Operator Overloading:</a:t>
            </a:r>
          </a:p>
          <a:p>
            <a:pPr lvl="1"/>
            <a:r>
              <a:rPr lang="en-US" dirty="0"/>
              <a:t>This is less common (for most students) than the first two examples…or is it?</a:t>
            </a:r>
          </a:p>
          <a:p>
            <a:pPr lvl="2"/>
            <a:r>
              <a:rPr lang="en-US" dirty="0"/>
              <a:t>We frequently use this type of polymorphism and don’t even realize it.</a:t>
            </a:r>
          </a:p>
          <a:p>
            <a:pPr lvl="3"/>
            <a:r>
              <a:rPr lang="en-US" dirty="0"/>
              <a:t>x = 5;</a:t>
            </a:r>
          </a:p>
          <a:p>
            <a:pPr lvl="3"/>
            <a:r>
              <a:rPr lang="en-US" dirty="0"/>
              <a:t>x = “Ryan”;</a:t>
            </a:r>
          </a:p>
          <a:p>
            <a:pPr lvl="3"/>
            <a:r>
              <a:rPr lang="en-US" dirty="0"/>
              <a:t>2+4; 2.0 + 4;</a:t>
            </a:r>
          </a:p>
          <a:p>
            <a:pPr lvl="3"/>
            <a:endParaRPr lang="en-US" dirty="0"/>
          </a:p>
          <a:p>
            <a:r>
              <a:rPr lang="en-US" dirty="0"/>
              <a:t>User can also define specific operations for overloading.</a:t>
            </a:r>
          </a:p>
          <a:p>
            <a:pPr lvl="1"/>
            <a:r>
              <a:rPr lang="en-US" dirty="0"/>
              <a:t>Dangers of user defined overloading?</a:t>
            </a:r>
          </a:p>
        </p:txBody>
      </p:sp>
    </p:spTree>
    <p:extLst>
      <p:ext uri="{BB962C8B-B14F-4D97-AF65-F5344CB8AC3E}">
        <p14:creationId xmlns:p14="http://schemas.microsoft.com/office/powerpoint/2010/main" val="119182064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C++ Review: Polymorphism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Notes:</a:t>
            </a:r>
          </a:p>
          <a:p>
            <a:pPr lvl="1"/>
            <a:r>
              <a:rPr lang="en-US" dirty="0"/>
              <a:t>Making a virtual method makes the method a candidate for polymorphic behavior.</a:t>
            </a:r>
          </a:p>
          <a:p>
            <a:pPr lvl="1"/>
            <a:r>
              <a:rPr lang="en-US" dirty="0"/>
              <a:t>You are </a:t>
            </a:r>
            <a:r>
              <a:rPr lang="en-US" b="1" u="sng" dirty="0"/>
              <a:t>not required</a:t>
            </a:r>
            <a:r>
              <a:rPr lang="en-US" dirty="0"/>
              <a:t> to implement a virtual method.</a:t>
            </a:r>
          </a:p>
          <a:p>
            <a:pPr lvl="2"/>
            <a:r>
              <a:rPr lang="en-US" dirty="0"/>
              <a:t>If you do not implement a virtual method you will simply inherit the behavior from the closest base class.</a:t>
            </a:r>
          </a:p>
          <a:p>
            <a:pPr lvl="3"/>
            <a:r>
              <a:rPr lang="en-US" dirty="0"/>
              <a:t>What do we mean by closest???</a:t>
            </a:r>
          </a:p>
          <a:p>
            <a:pPr lvl="1"/>
            <a:r>
              <a:rPr lang="en-US" dirty="0"/>
              <a:t>…but what if we want to ensure that you are required to implement a virtual method? </a:t>
            </a:r>
          </a:p>
        </p:txBody>
      </p:sp>
    </p:spTree>
    <p:extLst>
      <p:ext uri="{BB962C8B-B14F-4D97-AF65-F5344CB8AC3E}">
        <p14:creationId xmlns:p14="http://schemas.microsoft.com/office/powerpoint/2010/main" val="80125070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C++ Review: Polymorphism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Pure Virtual Method:</a:t>
            </a:r>
          </a:p>
          <a:p>
            <a:pPr lvl="1"/>
            <a:r>
              <a:rPr lang="en-US" dirty="0"/>
              <a:t>A way to ensure that the method </a:t>
            </a:r>
            <a:r>
              <a:rPr lang="en-US" b="1" u="sng" dirty="0"/>
              <a:t>must</a:t>
            </a:r>
            <a:r>
              <a:rPr lang="en-US" dirty="0"/>
              <a:t> be implemented by the derived class.</a:t>
            </a:r>
          </a:p>
          <a:p>
            <a:pPr lvl="2"/>
            <a:r>
              <a:rPr lang="en-US" dirty="0"/>
              <a:t>An abstract class</a:t>
            </a:r>
          </a:p>
          <a:p>
            <a:pPr lvl="2"/>
            <a:endParaRPr lang="en-US" dirty="0"/>
          </a:p>
          <a:p>
            <a:r>
              <a:rPr lang="en-US" dirty="0"/>
              <a:t>How do we force this occurrence?</a:t>
            </a:r>
          </a:p>
          <a:p>
            <a:pPr lvl="1"/>
            <a:r>
              <a:rPr lang="en-US" dirty="0"/>
              <a:t>A Pure Virtual Method is indicated by the presence of “= 0” at the end:</a:t>
            </a:r>
          </a:p>
          <a:p>
            <a:pPr lvl="2"/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virtual void walk (void) = 0;</a:t>
            </a:r>
          </a:p>
        </p:txBody>
      </p:sp>
    </p:spTree>
    <p:extLst>
      <p:ext uri="{BB962C8B-B14F-4D97-AF65-F5344CB8AC3E}">
        <p14:creationId xmlns:p14="http://schemas.microsoft.com/office/powerpoint/2010/main" val="79047547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C++ Review: Abstract Classes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</a:t>
            </a:r>
            <a:r>
              <a:rPr lang="en-US" b="1" u="sng" dirty="0"/>
              <a:t>Pure Abstract Class</a:t>
            </a:r>
            <a:r>
              <a:rPr lang="en-US" dirty="0"/>
              <a:t> is a class that contains all pure virtual methods.</a:t>
            </a:r>
          </a:p>
          <a:p>
            <a:pPr lvl="1"/>
            <a:r>
              <a:rPr lang="en-US" dirty="0"/>
              <a:t>This is what we would typically refer to as an interface.</a:t>
            </a:r>
          </a:p>
          <a:p>
            <a:pPr lvl="1"/>
            <a:endParaRPr lang="en-US" dirty="0"/>
          </a:p>
          <a:p>
            <a:r>
              <a:rPr lang="en-US" dirty="0"/>
              <a:t>What would happen if we do not implement a pure virtual function from a base class in a derived class?</a:t>
            </a:r>
          </a:p>
        </p:txBody>
      </p:sp>
    </p:spTree>
    <p:extLst>
      <p:ext uri="{BB962C8B-B14F-4D97-AF65-F5344CB8AC3E}">
        <p14:creationId xmlns:p14="http://schemas.microsoft.com/office/powerpoint/2010/main" val="262929953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Polymorphism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/>
              <a:t>What about Constructors and Destructors in our code when it comes to Polymorphism?</a:t>
            </a:r>
          </a:p>
          <a:p>
            <a:pPr lvl="1"/>
            <a:r>
              <a:rPr lang="en-US" dirty="0"/>
              <a:t>What about Inheritance?</a:t>
            </a:r>
          </a:p>
          <a:p>
            <a:endParaRPr lang="en-US" dirty="0"/>
          </a:p>
          <a:p>
            <a:r>
              <a:rPr lang="en-US" dirty="0"/>
              <a:t>If we don’t clean up after our selves we leave our code open to memory leaks…</a:t>
            </a:r>
          </a:p>
          <a:p>
            <a:pPr lvl="1"/>
            <a:r>
              <a:rPr lang="en-US" dirty="0"/>
              <a:t>…and lost points.</a:t>
            </a:r>
          </a:p>
          <a:p>
            <a:pPr lvl="1"/>
            <a:endParaRPr lang="en-US" dirty="0"/>
          </a:p>
          <a:p>
            <a:r>
              <a:rPr lang="en-US" dirty="0"/>
              <a:t>We understand how Destructors work in practice but what role does Polymorphism play in their use?</a:t>
            </a:r>
          </a:p>
          <a:p>
            <a:pPr lvl="1"/>
            <a:r>
              <a:rPr lang="en-US" dirty="0"/>
              <a:t>Inheritance?</a:t>
            </a:r>
          </a:p>
        </p:txBody>
      </p:sp>
    </p:spTree>
    <p:extLst>
      <p:ext uri="{BB962C8B-B14F-4D97-AF65-F5344CB8AC3E}">
        <p14:creationId xmlns:p14="http://schemas.microsoft.com/office/powerpoint/2010/main" val="26623998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Polymorphism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If a Derived class object with a non-virtual destructor is destroyed explicitly by applying the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delete</a:t>
            </a:r>
            <a:r>
              <a:rPr lang="en-US" dirty="0"/>
              <a:t> operator to a Base class pointer to the object, the C++ standard specifies that the behavior is </a:t>
            </a:r>
            <a:r>
              <a:rPr lang="en-US" b="1" u="sng" dirty="0"/>
              <a:t>undefined</a:t>
            </a:r>
            <a:r>
              <a:rPr lang="en-US" dirty="0"/>
              <a:t>.</a:t>
            </a:r>
          </a:p>
          <a:p>
            <a:pPr lvl="1"/>
            <a:r>
              <a:rPr lang="en-US" dirty="0"/>
              <a:t>This creates an undesirable situation.</a:t>
            </a:r>
          </a:p>
          <a:p>
            <a:pPr lvl="2"/>
            <a:r>
              <a:rPr lang="en-US" dirty="0"/>
              <a:t>We want to delete the corresponding object from the Heap but how can we do so if we have created a dynamic approach?</a:t>
            </a:r>
          </a:p>
        </p:txBody>
      </p:sp>
    </p:spTree>
    <p:extLst>
      <p:ext uri="{BB962C8B-B14F-4D97-AF65-F5344CB8AC3E}">
        <p14:creationId xmlns:p14="http://schemas.microsoft.com/office/powerpoint/2010/main" val="188283613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Polymorphism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 marL="118872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class Base </a:t>
            </a:r>
          </a:p>
          <a:p>
            <a:pPr marL="118872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{ </a:t>
            </a:r>
          </a:p>
          <a:p>
            <a:pPr marL="118872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	~Base() { … }</a:t>
            </a:r>
          </a:p>
          <a:p>
            <a:pPr marL="118872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};</a:t>
            </a:r>
          </a:p>
          <a:p>
            <a:pPr marL="118872" indent="0">
              <a:buNone/>
            </a:pP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118872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class Derived : public Base </a:t>
            </a:r>
          </a:p>
          <a:p>
            <a:pPr marL="118872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pPr marL="118872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	 ~Derived() { … }</a:t>
            </a:r>
          </a:p>
          <a:p>
            <a:pPr marL="118872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};</a:t>
            </a:r>
          </a:p>
          <a:p>
            <a:pPr marL="118872" indent="0">
              <a:buNone/>
            </a:pP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118872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Base * base = new Derived();</a:t>
            </a:r>
          </a:p>
          <a:p>
            <a:pPr marL="118872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delete base; </a:t>
            </a:r>
          </a:p>
        </p:txBody>
      </p:sp>
    </p:spTree>
    <p:extLst>
      <p:ext uri="{BB962C8B-B14F-4D97-AF65-F5344CB8AC3E}">
        <p14:creationId xmlns:p14="http://schemas.microsoft.com/office/powerpoint/2010/main" val="108734869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Polymorphism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Solution:</a:t>
            </a:r>
          </a:p>
          <a:p>
            <a:pPr lvl="1"/>
            <a:r>
              <a:rPr lang="en-US" dirty="0"/>
              <a:t>Create a virtual destructor!</a:t>
            </a:r>
          </a:p>
          <a:p>
            <a:pPr lvl="1"/>
            <a:endParaRPr lang="en-US" dirty="0"/>
          </a:p>
          <a:p>
            <a:r>
              <a:rPr lang="en-US" dirty="0"/>
              <a:t>How?</a:t>
            </a:r>
          </a:p>
          <a:p>
            <a:pPr lvl="1"/>
            <a:r>
              <a:rPr lang="en-US" dirty="0"/>
              <a:t>We simply create a destructor with the keyword virtual.</a:t>
            </a:r>
          </a:p>
          <a:p>
            <a:pPr marL="457200" lvl="1" indent="0" algn="ctr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virtual ~Base() { … }</a:t>
            </a:r>
          </a:p>
          <a:p>
            <a:pPr marL="457200" lvl="1" indent="0" algn="ctr">
              <a:buNone/>
            </a:pPr>
            <a:endParaRPr lang="en-US" dirty="0"/>
          </a:p>
          <a:p>
            <a:pPr marL="621792" indent="-457200"/>
            <a:r>
              <a:rPr lang="en-US" dirty="0"/>
              <a:t>If you have a virtual function in your class, you should </a:t>
            </a:r>
            <a:r>
              <a:rPr lang="en-US" b="1" u="sng" dirty="0"/>
              <a:t>ALWAYS</a:t>
            </a:r>
            <a:r>
              <a:rPr lang="en-US" dirty="0"/>
              <a:t> add a virtual destructor. </a:t>
            </a:r>
          </a:p>
        </p:txBody>
      </p:sp>
    </p:spTree>
    <p:extLst>
      <p:ext uri="{BB962C8B-B14F-4D97-AF65-F5344CB8AC3E}">
        <p14:creationId xmlns:p14="http://schemas.microsoft.com/office/powerpoint/2010/main" val="279266513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Polymorphism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What about Constructors – should I also create a virtual constructor?</a:t>
            </a:r>
          </a:p>
          <a:p>
            <a:pPr lvl="1"/>
            <a:r>
              <a:rPr lang="en-US" dirty="0"/>
              <a:t>No!</a:t>
            </a:r>
          </a:p>
          <a:p>
            <a:pPr lvl="1"/>
            <a:endParaRPr lang="en-US" dirty="0"/>
          </a:p>
          <a:p>
            <a:r>
              <a:rPr lang="en-US" dirty="0"/>
              <a:t>Constructors cannot be virtual – if you attempt this the compiler will throw an error.</a:t>
            </a:r>
          </a:p>
          <a:p>
            <a:pPr lvl="1"/>
            <a:r>
              <a:rPr lang="en-US" dirty="0"/>
              <a:t>Remember the relationship hierarchy to explore why this is not necessary.</a:t>
            </a:r>
          </a:p>
        </p:txBody>
      </p:sp>
    </p:spTree>
    <p:extLst>
      <p:ext uri="{BB962C8B-B14F-4D97-AF65-F5344CB8AC3E}">
        <p14:creationId xmlns:p14="http://schemas.microsoft.com/office/powerpoint/2010/main" val="347364005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ctrTitle"/>
          </p:nvPr>
        </p:nvSpPr>
        <p:spPr>
          <a:xfrm>
            <a:off x="533400" y="2895600"/>
            <a:ext cx="8077200" cy="1673352"/>
          </a:xfrm>
        </p:spPr>
        <p:txBody>
          <a:bodyPr/>
          <a:lstStyle/>
          <a:p>
            <a:pPr algn="ctr"/>
            <a:r>
              <a:rPr lang="en-US" dirty="0" err="1"/>
              <a:t>Valgrind</a:t>
            </a:r>
            <a:r>
              <a:rPr lang="en-US" dirty="0"/>
              <a:t> Introduction</a:t>
            </a:r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413776065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Valgrind</a:t>
            </a:r>
            <a:r>
              <a:rPr lang="en-US" dirty="0"/>
              <a:t> 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dirty="0" err="1"/>
              <a:t>Valgrind</a:t>
            </a:r>
            <a:r>
              <a:rPr lang="en-US" dirty="0"/>
              <a:t> is an instrumentation framework for building dynamic analysis tools. </a:t>
            </a:r>
          </a:p>
          <a:p>
            <a:endParaRPr lang="en-US" dirty="0"/>
          </a:p>
          <a:p>
            <a:r>
              <a:rPr lang="en-US" dirty="0"/>
              <a:t>This toolset can allow for the ability to automatically detect many memory management and threading bugs, and profile your programs in detail.</a:t>
            </a:r>
          </a:p>
          <a:p>
            <a:endParaRPr lang="en-US" dirty="0"/>
          </a:p>
          <a:p>
            <a:r>
              <a:rPr lang="en-US" dirty="0"/>
              <a:t>We will realize the full power of this tool when we analyze our codes performance.</a:t>
            </a:r>
          </a:p>
          <a:p>
            <a:pPr lvl="1"/>
            <a:r>
              <a:rPr lang="en-US" dirty="0"/>
              <a:t>Start off small and simple.</a:t>
            </a:r>
          </a:p>
        </p:txBody>
      </p:sp>
      <p:pic>
        <p:nvPicPr>
          <p:cNvPr id="1027" name="Picture 3"/>
          <p:cNvPicPr>
            <a:picLocks noGrp="1" noChangeAspect="1" noChangeArrowheads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648200" y="2702807"/>
            <a:ext cx="4038600" cy="23207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64858211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Valgrind</a:t>
            </a:r>
            <a:r>
              <a:rPr lang="en-US" dirty="0"/>
              <a:t> Introduction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/>
              <a:t>What does it do?</a:t>
            </a:r>
          </a:p>
          <a:p>
            <a:pPr lvl="1"/>
            <a:r>
              <a:rPr lang="en-US" dirty="0"/>
              <a:t>It can find the following:</a:t>
            </a:r>
          </a:p>
          <a:p>
            <a:pPr lvl="2"/>
            <a:r>
              <a:rPr lang="en-US" dirty="0"/>
              <a:t>Uses Of Uninitialized Memory</a:t>
            </a:r>
          </a:p>
          <a:p>
            <a:pPr lvl="2"/>
            <a:r>
              <a:rPr lang="en-US" dirty="0"/>
              <a:t>Memory Leaks</a:t>
            </a:r>
          </a:p>
          <a:p>
            <a:pPr lvl="2"/>
            <a:r>
              <a:rPr lang="en-US" dirty="0"/>
              <a:t>Illegal Memory Access</a:t>
            </a:r>
          </a:p>
          <a:p>
            <a:pPr lvl="2"/>
            <a:r>
              <a:rPr lang="en-US" dirty="0"/>
              <a:t>Etc.</a:t>
            </a:r>
          </a:p>
          <a:p>
            <a:pPr lvl="2"/>
            <a:endParaRPr lang="en-US" dirty="0"/>
          </a:p>
          <a:p>
            <a:r>
              <a:rPr lang="en-US" dirty="0"/>
              <a:t>Why use </a:t>
            </a:r>
            <a:r>
              <a:rPr lang="en-US" dirty="0" err="1"/>
              <a:t>Valgrind</a:t>
            </a:r>
            <a:r>
              <a:rPr lang="en-US" dirty="0"/>
              <a:t>?</a:t>
            </a:r>
          </a:p>
          <a:p>
            <a:pPr lvl="1"/>
            <a:r>
              <a:rPr lang="en-US" dirty="0"/>
              <a:t>Your program seems to leak memory…</a:t>
            </a:r>
          </a:p>
          <a:p>
            <a:pPr lvl="1"/>
            <a:r>
              <a:rPr lang="en-US" dirty="0"/>
              <a:t>Your program crashes in a seemingly random fashion…</a:t>
            </a:r>
          </a:p>
          <a:p>
            <a:pPr lvl="1"/>
            <a:r>
              <a:rPr lang="en-US" dirty="0"/>
              <a:t>Your program is difficult to trace or non-deterministic in its execution…</a:t>
            </a:r>
          </a:p>
          <a:p>
            <a:pPr lvl="1"/>
            <a:endParaRPr lang="en-US" dirty="0"/>
          </a:p>
          <a:p>
            <a:pPr lvl="2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997776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Valgrind</a:t>
            </a:r>
            <a:r>
              <a:rPr lang="en-US"/>
              <a:t> Introduction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How do we obtain </a:t>
            </a:r>
            <a:r>
              <a:rPr lang="en-US" dirty="0" err="1"/>
              <a:t>Valgrind</a:t>
            </a:r>
            <a:r>
              <a:rPr lang="en-US" dirty="0"/>
              <a:t>?</a:t>
            </a:r>
          </a:p>
          <a:p>
            <a:pPr lvl="1"/>
            <a:r>
              <a:rPr lang="en-US" dirty="0"/>
              <a:t>It is out on Thomas…or…</a:t>
            </a:r>
          </a:p>
          <a:p>
            <a:pPr lvl="1"/>
            <a:r>
              <a:rPr lang="en-US" dirty="0"/>
              <a:t>You can download the source code from the following URL:</a:t>
            </a:r>
          </a:p>
          <a:p>
            <a:pPr lvl="2"/>
            <a:r>
              <a:rPr lang="en-US" dirty="0">
                <a:hlinkClick r:id="rId2"/>
              </a:rPr>
              <a:t>http://valgrind.org/downloads/</a:t>
            </a:r>
            <a:endParaRPr lang="en-US" dirty="0"/>
          </a:p>
          <a:p>
            <a:pPr lvl="2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7609064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Valgrind</a:t>
            </a:r>
            <a:r>
              <a:rPr lang="en-US" dirty="0"/>
              <a:t> 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Once you have used the MPC tool to generate your </a:t>
            </a:r>
            <a:r>
              <a:rPr lang="en-US" dirty="0" err="1"/>
              <a:t>Makefile</a:t>
            </a:r>
            <a:r>
              <a:rPr lang="en-US" dirty="0"/>
              <a:t> you can now run make to generate your executable.</a:t>
            </a:r>
          </a:p>
          <a:p>
            <a:endParaRPr lang="en-US" dirty="0"/>
          </a:p>
          <a:p>
            <a:r>
              <a:rPr lang="en-US" dirty="0"/>
              <a:t>Once we have the executable we can run </a:t>
            </a:r>
            <a:r>
              <a:rPr lang="en-US" dirty="0" err="1"/>
              <a:t>Valgrind</a:t>
            </a:r>
            <a:r>
              <a:rPr lang="en-US" dirty="0"/>
              <a:t> to analyze the performance. We can do this through the following command:</a:t>
            </a:r>
          </a:p>
          <a:p>
            <a:pPr marL="118872" indent="0">
              <a:buNone/>
            </a:pPr>
            <a:endParaRPr lang="en-US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118872" indent="0" algn="ctr">
              <a:buNone/>
            </a:pPr>
            <a:r>
              <a:rPr lang="en-US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valgrind</a:t>
            </a: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--log-file=Valgrind.txt Test.exe</a:t>
            </a:r>
          </a:p>
          <a:p>
            <a:pPr marL="118872" indent="0">
              <a:buNone/>
            </a:pPr>
            <a:endParaRPr lang="en-US" dirty="0"/>
          </a:p>
          <a:p>
            <a:pPr marL="118872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6544017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Valgrind</a:t>
            </a:r>
            <a:r>
              <a:rPr lang="en-US" dirty="0"/>
              <a:t> 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Similar to the MPC tool, </a:t>
            </a:r>
            <a:r>
              <a:rPr lang="en-US" dirty="0" err="1"/>
              <a:t>Valgrind</a:t>
            </a:r>
            <a:r>
              <a:rPr lang="en-US" dirty="0"/>
              <a:t> has many options and subcomponents that make it a very valuable and exciting tool to use!</a:t>
            </a:r>
          </a:p>
          <a:p>
            <a:pPr lvl="1"/>
            <a:r>
              <a:rPr lang="en-US" dirty="0"/>
              <a:t>You can find more about the different options through online documentation:</a:t>
            </a:r>
          </a:p>
          <a:p>
            <a:pPr lvl="2"/>
            <a:r>
              <a:rPr lang="en-US" dirty="0">
                <a:hlinkClick r:id="rId2"/>
              </a:rPr>
              <a:t>http://valgrind.org/docs/</a:t>
            </a:r>
            <a:endParaRPr lang="en-US" dirty="0"/>
          </a:p>
          <a:p>
            <a:pPr lvl="2"/>
            <a:endParaRPr lang="en-US" dirty="0"/>
          </a:p>
          <a:p>
            <a:r>
              <a:rPr lang="en-US" dirty="0"/>
              <a:t>We will explore this tool more and more as the semester goes along – please make sure you take some time to play around with this on your own.</a:t>
            </a:r>
          </a:p>
        </p:txBody>
      </p:sp>
    </p:spTree>
    <p:extLst>
      <p:ext uri="{BB962C8B-B14F-4D97-AF65-F5344CB8AC3E}">
        <p14:creationId xmlns:p14="http://schemas.microsoft.com/office/powerpoint/2010/main" val="149057910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ctrTitle"/>
          </p:nvPr>
        </p:nvSpPr>
        <p:spPr>
          <a:xfrm>
            <a:off x="381000" y="1981200"/>
            <a:ext cx="8077200" cy="3581400"/>
          </a:xfrm>
        </p:spPr>
        <p:txBody>
          <a:bodyPr>
            <a:normAutofit/>
          </a:bodyPr>
          <a:lstStyle/>
          <a:p>
            <a:pPr algn="ctr"/>
            <a:r>
              <a:rPr lang="en-US" dirty="0"/>
              <a:t>Polymorphism</a:t>
            </a:r>
            <a:br>
              <a:rPr lang="en-US" dirty="0"/>
            </a:br>
            <a:br>
              <a:rPr lang="en-US" dirty="0"/>
            </a:br>
            <a:r>
              <a:rPr lang="en-US" sz="4000" dirty="0"/>
              <a:t>Review</a:t>
            </a:r>
          </a:p>
        </p:txBody>
      </p:sp>
      <p:sp>
        <p:nvSpPr>
          <p:cNvPr id="7" name="Subtitle 6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06063636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Pointers</a:t>
            </a:r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C++ Review</a:t>
            </a:r>
          </a:p>
        </p:txBody>
      </p:sp>
    </p:spTree>
    <p:extLst>
      <p:ext uri="{BB962C8B-B14F-4D97-AF65-F5344CB8AC3E}">
        <p14:creationId xmlns:p14="http://schemas.microsoft.com/office/powerpoint/2010/main" val="124134582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C++ Tutorial</a:t>
            </a:r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Advanced Example</a:t>
            </a:r>
          </a:p>
        </p:txBody>
      </p:sp>
    </p:spTree>
    <p:extLst>
      <p:ext uri="{BB962C8B-B14F-4D97-AF65-F5344CB8AC3E}">
        <p14:creationId xmlns:p14="http://schemas.microsoft.com/office/powerpoint/2010/main" val="312503874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C++ Review: Type Inference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dirty="0"/>
              <a:t>How do we allow for type inference in C++ templates?</a:t>
            </a:r>
          </a:p>
          <a:p>
            <a:pPr lvl="1"/>
            <a:r>
              <a:rPr lang="en-US" dirty="0"/>
              <a:t>C++11 Standard</a:t>
            </a:r>
          </a:p>
          <a:p>
            <a:pPr lvl="1"/>
            <a:endParaRPr lang="en-US" dirty="0"/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Auto</a:t>
            </a:r>
            <a:r>
              <a:rPr lang="en-US" dirty="0"/>
              <a:t> Keyword</a:t>
            </a:r>
          </a:p>
          <a:p>
            <a:pPr lvl="1"/>
            <a:r>
              <a:rPr lang="en-US" dirty="0"/>
              <a:t>If the compiler can infer the type of a variable at the point of declaration you can use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auto</a:t>
            </a:r>
            <a:r>
              <a:rPr lang="en-US" dirty="0"/>
              <a:t> instead of the type name.</a:t>
            </a:r>
          </a:p>
          <a:p>
            <a:pPr lvl="2"/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x = 4; </a:t>
            </a:r>
            <a:r>
              <a:rPr lang="en-US" dirty="0"/>
              <a:t>		VS.		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auto x = 4;</a:t>
            </a:r>
          </a:p>
          <a:p>
            <a:pPr marL="457200" lvl="1" indent="0">
              <a:buNone/>
            </a:pPr>
            <a:endParaRPr lang="en-US" dirty="0"/>
          </a:p>
          <a:p>
            <a:r>
              <a:rPr lang="en-US" dirty="0"/>
              <a:t>Benefit:</a:t>
            </a:r>
          </a:p>
          <a:p>
            <a:pPr lvl="1"/>
            <a:r>
              <a:rPr lang="en-US" dirty="0"/>
              <a:t>Cleaner, more readable, code.</a:t>
            </a:r>
          </a:p>
          <a:p>
            <a:pPr lvl="1"/>
            <a:endParaRPr lang="en-US" dirty="0"/>
          </a:p>
          <a:p>
            <a:r>
              <a:rPr lang="en-US" dirty="0"/>
              <a:t>Consequence:</a:t>
            </a:r>
          </a:p>
          <a:p>
            <a:pPr lvl="1"/>
            <a:r>
              <a:rPr lang="en-US" dirty="0"/>
              <a:t>More readable?</a:t>
            </a:r>
          </a:p>
          <a:p>
            <a:pPr marL="457200" lvl="1" indent="0">
              <a:buNone/>
            </a:pPr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4701901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C++ Review: Data Members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Members should always be private.</a:t>
            </a:r>
          </a:p>
          <a:p>
            <a:pPr lvl="1"/>
            <a:r>
              <a:rPr lang="en-US" dirty="0"/>
              <a:t>This prevents unwanted access to our members.</a:t>
            </a:r>
          </a:p>
          <a:p>
            <a:pPr lvl="1"/>
            <a:r>
              <a:rPr lang="en-US" dirty="0"/>
              <a:t>We should create accessor methods – getters/setters in order to access them.</a:t>
            </a:r>
          </a:p>
          <a:p>
            <a:pPr lvl="2"/>
            <a:r>
              <a:rPr lang="en-US" dirty="0"/>
              <a:t>This allows us to control the access to our private data.</a:t>
            </a:r>
          </a:p>
          <a:p>
            <a:pPr lvl="2"/>
            <a:endParaRPr lang="en-US" dirty="0"/>
          </a:p>
          <a:p>
            <a:r>
              <a:rPr lang="en-US" dirty="0"/>
              <a:t>Benefits:</a:t>
            </a:r>
          </a:p>
          <a:p>
            <a:pPr lvl="1"/>
            <a:r>
              <a:rPr lang="en-US" dirty="0"/>
              <a:t>Makes testing easier.</a:t>
            </a:r>
          </a:p>
          <a:p>
            <a:pPr lvl="2"/>
            <a:r>
              <a:rPr lang="en-US" i="1" dirty="0"/>
              <a:t>Why?</a:t>
            </a:r>
          </a:p>
        </p:txBody>
      </p:sp>
    </p:spTree>
    <p:extLst>
      <p:ext uri="{BB962C8B-B14F-4D97-AF65-F5344CB8AC3E}">
        <p14:creationId xmlns:p14="http://schemas.microsoft.com/office/powerpoint/2010/main" val="186846407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35C009-B189-4362-B3B7-7EA766D0D7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442118"/>
            <a:ext cx="8229600" cy="5973763"/>
          </a:xfrm>
        </p:spPr>
        <p:txBody>
          <a:bodyPr>
            <a:normAutofit fontScale="92500" lnSpcReduction="20000"/>
          </a:bodyPr>
          <a:lstStyle/>
          <a:p>
            <a:pPr marL="0" indent="0" algn="ctr">
              <a:buNone/>
            </a:pPr>
            <a:r>
              <a:rPr lang="en-US" sz="49600" dirty="0"/>
              <a:t>;</a:t>
            </a:r>
          </a:p>
        </p:txBody>
      </p:sp>
    </p:spTree>
    <p:extLst>
      <p:ext uri="{BB962C8B-B14F-4D97-AF65-F5344CB8AC3E}">
        <p14:creationId xmlns:p14="http://schemas.microsoft.com/office/powerpoint/2010/main" val="159102946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5104</TotalTime>
  <Words>1419</Words>
  <Application>Microsoft Office PowerPoint</Application>
  <PresentationFormat>On-screen Show (4:3)</PresentationFormat>
  <Paragraphs>219</Paragraphs>
  <Slides>33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33</vt:i4>
      </vt:variant>
    </vt:vector>
  </HeadingPairs>
  <TitlesOfParts>
    <vt:vector size="37" baseType="lpstr">
      <vt:lpstr>Arial</vt:lpstr>
      <vt:lpstr>Calibri</vt:lpstr>
      <vt:lpstr>Courier New</vt:lpstr>
      <vt:lpstr>Office Theme</vt:lpstr>
      <vt:lpstr>Lecture – 9/17/2025</vt:lpstr>
      <vt:lpstr>Assignment #2</vt:lpstr>
      <vt:lpstr>Polymorphism</vt:lpstr>
      <vt:lpstr>PowerPoint Presentation</vt:lpstr>
      <vt:lpstr>Polymorphism</vt:lpstr>
      <vt:lpstr>C++ Review: Polymorphism </vt:lpstr>
      <vt:lpstr>C++ Review: Polymorphism</vt:lpstr>
      <vt:lpstr>C++ Review: Polymorphism</vt:lpstr>
      <vt:lpstr>C++ Review: Polymorphism</vt:lpstr>
      <vt:lpstr>C++ Review: Polymorphism</vt:lpstr>
      <vt:lpstr>C++ Review: Polymorphism</vt:lpstr>
      <vt:lpstr>C++ Review: Polymorphism</vt:lpstr>
      <vt:lpstr>C++ Review: Polymorphism</vt:lpstr>
      <vt:lpstr>C++ Review: Polymorphism</vt:lpstr>
      <vt:lpstr>C++ Review: Polymorphism</vt:lpstr>
      <vt:lpstr>C++ Review: Abstract Classes</vt:lpstr>
      <vt:lpstr>Polymorphism</vt:lpstr>
      <vt:lpstr>Polymorphism</vt:lpstr>
      <vt:lpstr>Polymorphism</vt:lpstr>
      <vt:lpstr>Polymorphism</vt:lpstr>
      <vt:lpstr>Polymorphism</vt:lpstr>
      <vt:lpstr>Valgrind Introduction</vt:lpstr>
      <vt:lpstr>Valgrind Introduction</vt:lpstr>
      <vt:lpstr>Valgrind Introduction</vt:lpstr>
      <vt:lpstr>Valgrind Introduction</vt:lpstr>
      <vt:lpstr>Valgrind Introduction</vt:lpstr>
      <vt:lpstr>Valgrind Introduction</vt:lpstr>
      <vt:lpstr>Polymorphism  Review</vt:lpstr>
      <vt:lpstr>Pointers</vt:lpstr>
      <vt:lpstr>C++ Tutorial</vt:lpstr>
      <vt:lpstr>C++ Review: Type Inference</vt:lpstr>
      <vt:lpstr>C++ Review: Data Members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Ryan Rybarczyk</dc:creator>
  <cp:lastModifiedBy>Ryan Rybarczyk</cp:lastModifiedBy>
  <cp:revision>433</cp:revision>
  <dcterms:created xsi:type="dcterms:W3CDTF">2011-07-22T18:36:28Z</dcterms:created>
  <dcterms:modified xsi:type="dcterms:W3CDTF">2025-09-17T14:50:52Z</dcterms:modified>
</cp:coreProperties>
</file>