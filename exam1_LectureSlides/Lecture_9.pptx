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sldIdLst>
    <p:sldId id="314" r:id="rId2"/>
    <p:sldId id="546" r:id="rId3"/>
    <p:sldId id="562" r:id="rId4"/>
    <p:sldId id="563" r:id="rId5"/>
    <p:sldId id="564" r:id="rId6"/>
    <p:sldId id="357" r:id="rId7"/>
    <p:sldId id="358" r:id="rId8"/>
    <p:sldId id="359" r:id="rId9"/>
    <p:sldId id="360" r:id="rId10"/>
    <p:sldId id="361" r:id="rId11"/>
    <p:sldId id="362" r:id="rId12"/>
    <p:sldId id="363" r:id="rId13"/>
    <p:sldId id="364" r:id="rId14"/>
    <p:sldId id="365" r:id="rId15"/>
    <p:sldId id="366" r:id="rId16"/>
    <p:sldId id="367" r:id="rId17"/>
    <p:sldId id="368" r:id="rId18"/>
    <p:sldId id="369" r:id="rId19"/>
    <p:sldId id="370" r:id="rId20"/>
    <p:sldId id="371" r:id="rId21"/>
    <p:sldId id="547" r:id="rId22"/>
    <p:sldId id="548" r:id="rId23"/>
    <p:sldId id="549" r:id="rId24"/>
    <p:sldId id="550" r:id="rId25"/>
    <p:sldId id="551" r:id="rId26"/>
    <p:sldId id="545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– 9/29/2025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#2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3056129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2895600"/>
            <a:ext cx="8077200" cy="1673352"/>
          </a:xfrm>
        </p:spPr>
        <p:txBody>
          <a:bodyPr/>
          <a:lstStyle/>
          <a:p>
            <a:pPr algn="ctr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/>
              <a:t> Qualifier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2194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/>
              <a:t> Qualifier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/>
              <a:t> qualifier can be applied to the declaration of any variable to specify that its value will not be changed.</a:t>
            </a:r>
          </a:p>
          <a:p>
            <a:pPr lvl="1"/>
            <a:r>
              <a:rPr lang="en-US" dirty="0"/>
              <a:t>Caveat:</a:t>
            </a:r>
          </a:p>
          <a:p>
            <a:pPr lvl="2"/>
            <a:r>
              <a:rPr lang="en-US" dirty="0"/>
              <a:t>We may change value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/>
              <a:t> variable by using pointer.</a:t>
            </a:r>
          </a:p>
          <a:p>
            <a:pPr lvl="2"/>
            <a:endParaRPr lang="en-US" dirty="0"/>
          </a:p>
          <a:p>
            <a:r>
              <a:rPr lang="en-US" dirty="0"/>
              <a:t>What about when it is used after a function – like in the code you provided us?</a:t>
            </a:r>
          </a:p>
        </p:txBody>
      </p:sp>
    </p:spTree>
    <p:extLst>
      <p:ext uri="{BB962C8B-B14F-4D97-AF65-F5344CB8AC3E}">
        <p14:creationId xmlns:p14="http://schemas.microsoft.com/office/powerpoint/2010/main" val="824624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/>
              <a:t> Qualifier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use of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/>
              <a:t> function ensures that it a compiler error will occur for this function if an attempt to change a member variable of the class is done.</a:t>
            </a:r>
          </a:p>
          <a:p>
            <a:pPr lvl="1"/>
            <a:r>
              <a:rPr lang="en-US" dirty="0"/>
              <a:t>Essentially this ensures that method will not modify (non-mutable) members of the class itself.</a:t>
            </a:r>
          </a:p>
          <a:p>
            <a:pPr lvl="1"/>
            <a:endParaRPr lang="en-US" dirty="0"/>
          </a:p>
          <a:p>
            <a:r>
              <a:rPr lang="en-US" dirty="0"/>
              <a:t>What about Mutable?</a:t>
            </a:r>
          </a:p>
          <a:p>
            <a:pPr lvl="1"/>
            <a:r>
              <a:rPr lang="en-US" dirty="0"/>
              <a:t>Right now – lets not concern ourselves with this possibility…</a:t>
            </a:r>
          </a:p>
          <a:p>
            <a:endParaRPr lang="en-US" dirty="0"/>
          </a:p>
          <a:p>
            <a:r>
              <a:rPr lang="en-US" dirty="0"/>
              <a:t>Mutable vs. Immutable</a:t>
            </a:r>
          </a:p>
          <a:p>
            <a:pPr lvl="1"/>
            <a:r>
              <a:rPr lang="en-US" dirty="0"/>
              <a:t>Can Change – Cannot Change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1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04800" y="2822448"/>
            <a:ext cx="8077200" cy="1673352"/>
          </a:xfrm>
        </p:spPr>
        <p:txBody>
          <a:bodyPr/>
          <a:lstStyle/>
          <a:p>
            <a:pPr algn="ctr"/>
            <a:r>
              <a:rPr lang="en-US" dirty="0"/>
              <a:t>C++ Inline Files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9335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Inline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Motivation:</a:t>
            </a:r>
          </a:p>
          <a:p>
            <a:pPr lvl="1"/>
            <a:r>
              <a:rPr lang="en-US" dirty="0"/>
              <a:t>Organizational tool for C++ development.</a:t>
            </a:r>
          </a:p>
          <a:p>
            <a:pPr lvl="1"/>
            <a:endParaRPr lang="en-US" dirty="0"/>
          </a:p>
          <a:p>
            <a:r>
              <a:rPr lang="en-US" dirty="0"/>
              <a:t>They provide a way to outline your code and separate the interface from the implementation.</a:t>
            </a:r>
          </a:p>
          <a:p>
            <a:pPr lvl="1"/>
            <a:r>
              <a:rPr lang="en-US" dirty="0"/>
              <a:t>Reduces code clutter.</a:t>
            </a:r>
          </a:p>
          <a:p>
            <a:endParaRPr lang="en-US" dirty="0"/>
          </a:p>
          <a:p>
            <a:r>
              <a:rPr lang="en-US" dirty="0"/>
              <a:t>Significant benefits when dealing with large projects and specifically when dealing with many different classes.</a:t>
            </a:r>
          </a:p>
        </p:txBody>
      </p:sp>
    </p:spTree>
    <p:extLst>
      <p:ext uri="{BB962C8B-B14F-4D97-AF65-F5344CB8AC3E}">
        <p14:creationId xmlns:p14="http://schemas.microsoft.com/office/powerpoint/2010/main" val="2227826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Inline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4000" dirty="0"/>
              <a:t>Header File:</a:t>
            </a:r>
          </a:p>
          <a:p>
            <a:endParaRPr lang="en-US" dirty="0"/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ComplexAlgorithm.h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11887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Data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//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defined here…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ComplexAlgorithm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Data* memory );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118872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ComplexAlgorithm.inl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483362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Inline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5900" dirty="0"/>
              <a:t>CPP File:</a:t>
            </a:r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ComplexAlgorithm.cpp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ComplexAlgorithm.h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SmallerAlgorithmUsedInComplexAlgorithm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Data* memory )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// ...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ComplexAlgorithmHelper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Data* memory )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// ...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ComplexAlgorithm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Data* memory )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// ...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76542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Inline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800" dirty="0"/>
              <a:t>INL File:  </a:t>
            </a:r>
          </a:p>
          <a:p>
            <a:pPr lvl="1"/>
            <a:r>
              <a:rPr lang="en-US" dirty="0"/>
              <a:t>Can be inline or template functions. </a:t>
            </a:r>
          </a:p>
          <a:p>
            <a:pPr marL="118872" indent="0">
              <a:buNone/>
            </a:pPr>
            <a:endParaRPr lang="en-US" sz="5100" dirty="0"/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ComplexAlgorithm.inl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inline void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AnotherHelper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)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inline void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YetAnotherHelper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)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60546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Inline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Optimization technique in order to increase the execution time of a program.</a:t>
            </a:r>
          </a:p>
          <a:p>
            <a:endParaRPr lang="en-US" dirty="0"/>
          </a:p>
          <a:p>
            <a:r>
              <a:rPr lang="en-US" dirty="0"/>
              <a:t>How?</a:t>
            </a:r>
          </a:p>
          <a:p>
            <a:pPr lvl="1"/>
            <a:r>
              <a:rPr lang="en-US" dirty="0"/>
              <a:t>Inline function definitions are replaced at compile time rather than at runtime.</a:t>
            </a:r>
          </a:p>
          <a:p>
            <a:pPr lvl="2"/>
            <a:r>
              <a:rPr lang="en-US" dirty="0"/>
              <a:t>Essentially, we are offloading some of the unnecessary work to allow our program to be more efficient.</a:t>
            </a:r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670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Inline Functions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Pros:</a:t>
            </a:r>
          </a:p>
          <a:p>
            <a:pPr lvl="1"/>
            <a:r>
              <a:rPr lang="en-US" dirty="0"/>
              <a:t>It speeds up your program by avoiding function calling overhead.</a:t>
            </a:r>
          </a:p>
          <a:p>
            <a:pPr lvl="1"/>
            <a:r>
              <a:rPr lang="en-US" dirty="0"/>
              <a:t>It save overhead of variables push/pop on the stack, when function calling happens.</a:t>
            </a:r>
          </a:p>
          <a:p>
            <a:pPr lvl="1"/>
            <a:r>
              <a:rPr lang="en-US" dirty="0"/>
              <a:t>It save overhead of return call from a function.</a:t>
            </a:r>
          </a:p>
          <a:p>
            <a:pPr lvl="1"/>
            <a:r>
              <a:rPr lang="en-US" dirty="0"/>
              <a:t>You can put a function definition in a header file.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Cons:</a:t>
            </a:r>
          </a:p>
          <a:p>
            <a:pPr lvl="1"/>
            <a:r>
              <a:rPr lang="en-US" dirty="0"/>
              <a:t>It increases the executable size due to code expansion.</a:t>
            </a:r>
          </a:p>
          <a:p>
            <a:pPr lvl="1"/>
            <a:r>
              <a:rPr lang="en-US" dirty="0"/>
              <a:t>Recompilation needed.</a:t>
            </a:r>
          </a:p>
          <a:p>
            <a:pPr lvl="1"/>
            <a:r>
              <a:rPr lang="en-US" dirty="0"/>
              <a:t>It makes your header file larger.</a:t>
            </a:r>
          </a:p>
          <a:p>
            <a:pPr lvl="1"/>
            <a:r>
              <a:rPr lang="en-US" dirty="0"/>
              <a:t>Increases the executable size.</a:t>
            </a:r>
          </a:p>
          <a:p>
            <a:pPr lvl="1"/>
            <a:r>
              <a:rPr lang="en-US" dirty="0"/>
              <a:t>Embedded systems – where memory is vital.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849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Function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…so when/why would we ever really use an inline function in C++???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Let’s say we need a function that returns the cubed value of an specific number. This function is simple yet very important to the execution of our code – yet trivial.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inline double cube (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double side ) {</a:t>
            </a:r>
          </a:p>
          <a:p>
            <a:pPr marL="768096" lvl="2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return side * side * side;</a:t>
            </a:r>
          </a:p>
          <a:p>
            <a:pPr marL="50292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3641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28600" y="2971800"/>
            <a:ext cx="8077200" cy="1673352"/>
          </a:xfrm>
        </p:spPr>
        <p:txBody>
          <a:bodyPr/>
          <a:lstStyle/>
          <a:p>
            <a:pPr algn="ctr"/>
            <a:r>
              <a:rPr lang="en-US" dirty="0"/>
              <a:t>Friends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3686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3848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mentioned previously that things that are declared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dirty="0"/>
              <a:t> are not accessible from outside the class in which they are defined in.</a:t>
            </a:r>
          </a:p>
          <a:p>
            <a:endParaRPr lang="en-US" dirty="0"/>
          </a:p>
          <a:p>
            <a:r>
              <a:rPr lang="en-US" dirty="0"/>
              <a:t>This is true – but, we saw that through Inheritance we CAN access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protected </a:t>
            </a:r>
            <a:r>
              <a:rPr lang="en-US" dirty="0"/>
              <a:t>members.</a:t>
            </a:r>
          </a:p>
          <a:p>
            <a:pPr lvl="1"/>
            <a:r>
              <a:rPr lang="en-US" dirty="0"/>
              <a:t>But…we cannot access the 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dirty="0"/>
              <a:t> members of the class.</a:t>
            </a:r>
          </a:p>
        </p:txBody>
      </p:sp>
    </p:spTree>
    <p:extLst>
      <p:ext uri="{BB962C8B-B14F-4D97-AF65-F5344CB8AC3E}">
        <p14:creationId xmlns:p14="http://schemas.microsoft.com/office/powerpoint/2010/main" val="4197747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Friends are </a:t>
            </a:r>
            <a:r>
              <a:rPr lang="en-US" u="sng" dirty="0"/>
              <a:t>methods</a:t>
            </a:r>
            <a:r>
              <a:rPr lang="en-US" dirty="0"/>
              <a:t> or </a:t>
            </a:r>
            <a:r>
              <a:rPr lang="en-US" u="sng" dirty="0"/>
              <a:t>classes</a:t>
            </a:r>
            <a:r>
              <a:rPr lang="en-US" dirty="0"/>
              <a:t> declared with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friend</a:t>
            </a:r>
            <a:r>
              <a:rPr lang="en-US" dirty="0"/>
              <a:t> specifier.</a:t>
            </a:r>
          </a:p>
          <a:p>
            <a:pPr lvl="1"/>
            <a:r>
              <a:rPr lang="en-US" dirty="0"/>
              <a:t>This concept is found in C++</a:t>
            </a:r>
          </a:p>
          <a:p>
            <a:pPr lvl="2"/>
            <a:r>
              <a:rPr lang="en-US" dirty="0"/>
              <a:t>Java has a pseudo-equivalent in the package level access it provides.</a:t>
            </a:r>
          </a:p>
          <a:p>
            <a:endParaRPr lang="en-US" dirty="0"/>
          </a:p>
          <a:p>
            <a:r>
              <a:rPr lang="en-US" dirty="0"/>
              <a:t>A friend-specified function of a class is defined outside that class' scope, but it has the right to access </a:t>
            </a:r>
            <a:r>
              <a:rPr lang="en-US" b="1" u="sng" dirty="0"/>
              <a:t>all</a:t>
            </a:r>
            <a:r>
              <a:rPr lang="en-US" dirty="0"/>
              <a:t> private and protected members of the class.</a:t>
            </a:r>
          </a:p>
          <a:p>
            <a:pPr lvl="1"/>
            <a:r>
              <a:rPr lang="en-US" dirty="0"/>
              <a:t>This really leads into an exploration of notion of Inheritance…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21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8872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class Box </a:t>
            </a:r>
          </a:p>
          <a:p>
            <a:pPr marL="118872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1148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private:</a:t>
            </a:r>
          </a:p>
          <a:p>
            <a:pPr marL="41148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double width;</a:t>
            </a:r>
          </a:p>
          <a:p>
            <a:pPr marL="41148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pPr marL="41148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double length;</a:t>
            </a:r>
          </a:p>
          <a:p>
            <a:pPr marL="41148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friend void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printWidth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(Box box);</a:t>
            </a:r>
          </a:p>
          <a:p>
            <a:pPr marL="41148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setWidth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w);</a:t>
            </a:r>
          </a:p>
          <a:p>
            <a:pPr marL="118872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734318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Because we have declared this function to be a </a:t>
            </a:r>
            <a:r>
              <a:rPr lang="en-US" i="1" dirty="0">
                <a:cs typeface="Courier New" panose="02070309020205020404" pitchFamily="49" charset="0"/>
              </a:rPr>
              <a:t>friend</a:t>
            </a:r>
            <a:r>
              <a:rPr lang="en-US" dirty="0">
                <a:cs typeface="Courier New" panose="02070309020205020404" pitchFamily="49" charset="0"/>
              </a:rPr>
              <a:t> we can actually provide the implementation of the function elsewhere.</a:t>
            </a:r>
          </a:p>
          <a:p>
            <a:pPr lvl="1"/>
            <a:r>
              <a:rPr lang="en-US" sz="2400" dirty="0">
                <a:cs typeface="Courier New" panose="02070309020205020404" pitchFamily="49" charset="0"/>
              </a:rPr>
              <a:t>This should not work because here we are accessing a private data member of another class.</a:t>
            </a:r>
          </a:p>
          <a:p>
            <a:pPr lvl="2"/>
            <a:r>
              <a:rPr lang="en-US" sz="2000" dirty="0">
                <a:cs typeface="Courier New" panose="02070309020205020404" pitchFamily="49" charset="0"/>
              </a:rPr>
              <a:t>However, it does due to the “friend” relationship.</a:t>
            </a:r>
          </a:p>
          <a:p>
            <a:pPr marL="118872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printWidth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(Box box) {</a:t>
            </a:r>
          </a:p>
          <a:p>
            <a:pPr marL="118872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"Width of box : " &lt;&lt;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box.width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65668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Friends vs.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Friends provide access to “</a:t>
            </a:r>
            <a:r>
              <a:rPr lang="en-US" b="1" u="sng" dirty="0"/>
              <a:t>something</a:t>
            </a:r>
            <a:r>
              <a:rPr lang="en-US" dirty="0"/>
              <a:t>” while Inheritance provides an “</a:t>
            </a:r>
            <a:r>
              <a:rPr lang="en-US" b="1" u="sng" dirty="0"/>
              <a:t>is-a</a:t>
            </a:r>
            <a:r>
              <a:rPr lang="en-US" dirty="0"/>
              <a:t>” relationship.</a:t>
            </a:r>
          </a:p>
          <a:p>
            <a:endParaRPr lang="en-US" dirty="0"/>
          </a:p>
          <a:p>
            <a:r>
              <a:rPr lang="en-US" dirty="0"/>
              <a:t>Here we focus on the strength of the relationship when talking about Inheritance.</a:t>
            </a:r>
          </a:p>
          <a:p>
            <a:pPr lvl="1"/>
            <a:r>
              <a:rPr lang="en-US" dirty="0"/>
              <a:t>Often times the Friends concept is unnecessary since Inheritance will give us much more power.</a:t>
            </a:r>
          </a:p>
          <a:p>
            <a:pPr lvl="1"/>
            <a:endParaRPr lang="en-US" dirty="0"/>
          </a:p>
          <a:p>
            <a:r>
              <a:rPr lang="en-US" dirty="0"/>
              <a:t>When to use the Friends specifier?</a:t>
            </a:r>
          </a:p>
          <a:p>
            <a:pPr lvl="1"/>
            <a:r>
              <a:rPr lang="en-US" dirty="0"/>
              <a:t>You want to provide access but only in a limited form.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016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09600" y="2898648"/>
            <a:ext cx="8077200" cy="1673352"/>
          </a:xfrm>
        </p:spPr>
        <p:txBody>
          <a:bodyPr/>
          <a:lstStyle/>
          <a:p>
            <a:pPr algn="ctr"/>
            <a:r>
              <a:rPr lang="en-US" dirty="0"/>
              <a:t>Copy Constructor Example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5952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Copy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constructor which creates an object by initializing it with an object of the same class, which has been previously created.</a:t>
            </a:r>
          </a:p>
          <a:p>
            <a:endParaRPr lang="en-US" dirty="0"/>
          </a:p>
          <a:p>
            <a:r>
              <a:rPr lang="en-US" dirty="0"/>
              <a:t>Every class has an associated copy constructor.</a:t>
            </a:r>
          </a:p>
          <a:p>
            <a:pPr lvl="1"/>
            <a:r>
              <a:rPr lang="en-US" dirty="0"/>
              <a:t>If you do not create one manually the compiler will do so for you.</a:t>
            </a:r>
          </a:p>
          <a:p>
            <a:pPr lvl="1"/>
            <a:endParaRPr lang="en-US" dirty="0"/>
          </a:p>
          <a:p>
            <a:r>
              <a:rPr lang="en-US" dirty="0"/>
              <a:t>If the class has dynamic memory allocation then it </a:t>
            </a:r>
            <a:r>
              <a:rPr lang="en-US" b="1" u="sng" dirty="0"/>
              <a:t>must</a:t>
            </a:r>
            <a:r>
              <a:rPr lang="en-US" dirty="0"/>
              <a:t> have a copy constructor.</a:t>
            </a:r>
          </a:p>
        </p:txBody>
      </p:sp>
    </p:spTree>
    <p:extLst>
      <p:ext uri="{BB962C8B-B14F-4D97-AF65-F5344CB8AC3E}">
        <p14:creationId xmlns:p14="http://schemas.microsoft.com/office/powerpoint/2010/main" val="3192569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5C83F6-3AE2-4DE0-8065-1827D796C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65287"/>
            <a:ext cx="9144000" cy="3527425"/>
          </a:xfrm>
        </p:spPr>
        <p:txBody>
          <a:bodyPr>
            <a:normAutofit/>
          </a:bodyPr>
          <a:lstStyle/>
          <a:p>
            <a:r>
              <a:rPr lang="en-US" sz="5400" i="1" dirty="0"/>
              <a:t>Why do we need to pass the Object by reference?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83D69C8-7A4E-4873-A0D3-9A08FC5BB5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03100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5C83F6-3AE2-4DE0-8065-1827D796C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58975"/>
            <a:ext cx="9144000" cy="3527425"/>
          </a:xfrm>
        </p:spPr>
        <p:txBody>
          <a:bodyPr>
            <a:normAutofit fontScale="90000"/>
          </a:bodyPr>
          <a:lstStyle/>
          <a:p>
            <a:r>
              <a:rPr lang="en-US" sz="5400" i="1" dirty="0"/>
              <a:t>Why if the class has dynamic memory allocation then it </a:t>
            </a:r>
            <a:r>
              <a:rPr lang="en-US" sz="5400" b="1" i="1" u="sng" dirty="0"/>
              <a:t>must</a:t>
            </a:r>
            <a:r>
              <a:rPr lang="en-US" sz="5400" i="1" dirty="0"/>
              <a:t> have a copy constructor (user defined)?</a:t>
            </a:r>
            <a:br>
              <a:rPr lang="en-US" sz="5400" i="1" dirty="0"/>
            </a:br>
            <a:endParaRPr lang="en-US" sz="5400" i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83D69C8-7A4E-4873-A0D3-9A08FC5BB5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2358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Copy Constructor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In-Class Example</a:t>
            </a:r>
          </a:p>
        </p:txBody>
      </p:sp>
    </p:spTree>
    <p:extLst>
      <p:ext uri="{BB962C8B-B14F-4D97-AF65-F5344CB8AC3E}">
        <p14:creationId xmlns:p14="http://schemas.microsoft.com/office/powerpoint/2010/main" val="31437882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91029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5722</TotalTime>
  <Words>957</Words>
  <Application>Microsoft Office PowerPoint</Application>
  <PresentationFormat>On-screen Show (4:3)</PresentationFormat>
  <Paragraphs>161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Courier New</vt:lpstr>
      <vt:lpstr>Office Theme</vt:lpstr>
      <vt:lpstr>Lecture – 9/29/2025</vt:lpstr>
      <vt:lpstr>Assignment #2</vt:lpstr>
      <vt:lpstr>const Qualifier</vt:lpstr>
      <vt:lpstr>const Qualifier</vt:lpstr>
      <vt:lpstr>const Qualifier</vt:lpstr>
      <vt:lpstr>C++ Inline Files</vt:lpstr>
      <vt:lpstr>C++ Inline Files</vt:lpstr>
      <vt:lpstr>C++ Inline Files</vt:lpstr>
      <vt:lpstr>C++ Inline Files</vt:lpstr>
      <vt:lpstr>C++ Inline Files</vt:lpstr>
      <vt:lpstr>C++ Inline Functions</vt:lpstr>
      <vt:lpstr>C++ Inline Functions</vt:lpstr>
      <vt:lpstr>Inline Function Example</vt:lpstr>
      <vt:lpstr>Friends</vt:lpstr>
      <vt:lpstr>PowerPoint Presentation</vt:lpstr>
      <vt:lpstr>Friends</vt:lpstr>
      <vt:lpstr>Friends</vt:lpstr>
      <vt:lpstr>Friends</vt:lpstr>
      <vt:lpstr>Friends</vt:lpstr>
      <vt:lpstr>Friends vs. Inheritance</vt:lpstr>
      <vt:lpstr>Copy Constructor Example</vt:lpstr>
      <vt:lpstr>C++ Review: Copy Constructor</vt:lpstr>
      <vt:lpstr>Why do we need to pass the Object by reference?</vt:lpstr>
      <vt:lpstr>Why if the class has dynamic memory allocation then it must have a copy constructor (user defined)? </vt:lpstr>
      <vt:lpstr>Copy Constructor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470</cp:revision>
  <dcterms:created xsi:type="dcterms:W3CDTF">2011-07-22T18:36:28Z</dcterms:created>
  <dcterms:modified xsi:type="dcterms:W3CDTF">2025-09-24T17:16:23Z</dcterms:modified>
</cp:coreProperties>
</file>