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8"/>
  </p:notesMasterIdLst>
  <p:sldIdLst>
    <p:sldId id="314" r:id="rId2"/>
    <p:sldId id="337" r:id="rId3"/>
    <p:sldId id="315" r:id="rId4"/>
    <p:sldId id="338" r:id="rId5"/>
    <p:sldId id="339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26" r:id="rId17"/>
    <p:sldId id="327" r:id="rId18"/>
    <p:sldId id="328" r:id="rId19"/>
    <p:sldId id="329" r:id="rId20"/>
    <p:sldId id="330" r:id="rId21"/>
    <p:sldId id="331" r:id="rId22"/>
    <p:sldId id="332" r:id="rId23"/>
    <p:sldId id="333" r:id="rId24"/>
    <p:sldId id="334" r:id="rId25"/>
    <p:sldId id="335" r:id="rId26"/>
    <p:sldId id="336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498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DA500-0D83-4472-8117-89698D861692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50DD3-B5D8-4C49-8686-233E18939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0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1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66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30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0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54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46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0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7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86DDC-0F8A-4B0B-AEF9-E2022025D4D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30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184648"/>
            <a:ext cx="8077200" cy="1673352"/>
          </a:xfrm>
        </p:spPr>
        <p:txBody>
          <a:bodyPr anchor="ctr"/>
          <a:lstStyle/>
          <a:p>
            <a:pPr algn="ctr"/>
            <a:r>
              <a:rPr lang="en-US" dirty="0"/>
              <a:t>Lecture – 10/1/2025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10584"/>
            <a:ext cx="8458200" cy="149961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CS 341 – Advanced Data Structures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28600"/>
            <a:ext cx="3810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568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artoon a cartoon of a person holding a sign in a pumpkin patch&#10;&#10;Description automatically generated">
            <a:extLst>
              <a:ext uri="{FF2B5EF4-FFF2-40B4-BE49-F238E27FC236}">
                <a16:creationId xmlns:a16="http://schemas.microsoft.com/office/drawing/2014/main" id="{9F09394F-6501-BDBC-10E1-3F994A201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482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 #2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Q/A</a:t>
            </a:r>
          </a:p>
        </p:txBody>
      </p:sp>
    </p:spTree>
    <p:extLst>
      <p:ext uri="{BB962C8B-B14F-4D97-AF65-F5344CB8AC3E}">
        <p14:creationId xmlns:p14="http://schemas.microsoft.com/office/powerpoint/2010/main" val="3145179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7D9E45-1D2E-089F-296F-E0A6924EE6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 #3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B85ACDB-7967-0AC9-85B4-58E591E6D4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Canvas</a:t>
            </a:r>
          </a:p>
        </p:txBody>
      </p:sp>
    </p:spTree>
    <p:extLst>
      <p:ext uri="{BB962C8B-B14F-4D97-AF65-F5344CB8AC3E}">
        <p14:creationId xmlns:p14="http://schemas.microsoft.com/office/powerpoint/2010/main" val="61514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1CE3C1-36EA-7C2A-D2DD-A9529B94D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#3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D0B1602-A57B-CCA5-6200-41A4494FC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Just a Lil’ Bit</a:t>
            </a:r>
          </a:p>
          <a:p>
            <a:pPr lvl="1"/>
            <a:r>
              <a:rPr lang="en-US" dirty="0"/>
              <a:t>Bit Arrays</a:t>
            </a:r>
          </a:p>
          <a:p>
            <a:pPr lvl="1"/>
            <a:endParaRPr lang="en-US" dirty="0"/>
          </a:p>
          <a:p>
            <a:r>
              <a:rPr lang="en-US" dirty="0"/>
              <a:t>Canvas</a:t>
            </a:r>
          </a:p>
          <a:p>
            <a:pPr lvl="1"/>
            <a:r>
              <a:rPr lang="en-US" dirty="0"/>
              <a:t>Rubric</a:t>
            </a:r>
          </a:p>
          <a:p>
            <a:pPr lvl="1"/>
            <a:endParaRPr lang="en-US" dirty="0"/>
          </a:p>
          <a:p>
            <a:r>
              <a:rPr lang="en-US" dirty="0"/>
              <a:t>Due:</a:t>
            </a:r>
          </a:p>
          <a:p>
            <a:pPr lvl="1"/>
            <a:r>
              <a:rPr lang="en-US" dirty="0"/>
              <a:t>10/15/2025 11:59:59 PM</a:t>
            </a:r>
          </a:p>
        </p:txBody>
      </p:sp>
    </p:spTree>
    <p:extLst>
      <p:ext uri="{BB962C8B-B14F-4D97-AF65-F5344CB8AC3E}">
        <p14:creationId xmlns:p14="http://schemas.microsoft.com/office/powerpoint/2010/main" val="680814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2797175"/>
            <a:ext cx="7772400" cy="1470025"/>
          </a:xfrm>
        </p:spPr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95356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Motivation:</a:t>
            </a:r>
          </a:p>
          <a:p>
            <a:pPr lvl="1"/>
            <a:r>
              <a:rPr lang="en-US" dirty="0"/>
              <a:t>Integer types such as the familiar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/>
              <a:t>) are machine dependent. </a:t>
            </a:r>
          </a:p>
          <a:p>
            <a:pPr lvl="1"/>
            <a:r>
              <a:rPr lang="en-US" dirty="0"/>
              <a:t>One machine may give a size of an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/>
              <a:t> to be four (4) bytes while another machine may give it a size of two (2) bytes.</a:t>
            </a:r>
          </a:p>
          <a:p>
            <a:pPr lvl="2"/>
            <a:r>
              <a:rPr lang="en-US" dirty="0"/>
              <a:t>Most machines can handle this but what if you had limited storage available and space was a premium?</a:t>
            </a:r>
          </a:p>
        </p:txBody>
      </p:sp>
    </p:spTree>
    <p:extLst>
      <p:ext uri="{BB962C8B-B14F-4D97-AF65-F5344CB8AC3E}">
        <p14:creationId xmlns:p14="http://schemas.microsoft.com/office/powerpoint/2010/main" val="1411604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can use logical operators – think of the first time you saw truth tables…</a:t>
            </a:r>
          </a:p>
          <a:p>
            <a:endParaRPr lang="en-US" dirty="0"/>
          </a:p>
          <a:p>
            <a:r>
              <a:rPr lang="en-US" dirty="0"/>
              <a:t>We can model this relationship based upon logical operators.</a:t>
            </a:r>
          </a:p>
          <a:p>
            <a:pPr lvl="1"/>
            <a:r>
              <a:rPr lang="en-US" dirty="0"/>
              <a:t>AND</a:t>
            </a:r>
          </a:p>
          <a:p>
            <a:pPr lvl="1"/>
            <a:r>
              <a:rPr lang="en-US" dirty="0"/>
              <a:t>OR</a:t>
            </a:r>
          </a:p>
          <a:p>
            <a:pPr lvl="1"/>
            <a:r>
              <a:rPr lang="en-US" dirty="0"/>
              <a:t>XOR</a:t>
            </a:r>
          </a:p>
          <a:p>
            <a:pPr lvl="1"/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042539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307" y="1600200"/>
            <a:ext cx="6517386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295400" y="6705600"/>
            <a:ext cx="70104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/>
              <a:t>Source: https://images2.roomstogo.com/is/image/roomstogo/dr_tbl_42116891_sutterplace_brown_cherry~Sutter-Place-Brown-Cherry-Dining-Table.jpeg?$PDP_Primary_936x650$</a:t>
            </a:r>
          </a:p>
        </p:txBody>
      </p:sp>
      <p:sp>
        <p:nvSpPr>
          <p:cNvPr id="3" name="Thought Bubble: Cloud 2">
            <a:extLst>
              <a:ext uri="{FF2B5EF4-FFF2-40B4-BE49-F238E27FC236}">
                <a16:creationId xmlns:a16="http://schemas.microsoft.com/office/drawing/2014/main" id="{D9E93ADD-8444-4EDE-A5BB-900549348167}"/>
              </a:ext>
            </a:extLst>
          </p:cNvPr>
          <p:cNvSpPr/>
          <p:nvPr/>
        </p:nvSpPr>
        <p:spPr>
          <a:xfrm>
            <a:off x="6874574" y="533400"/>
            <a:ext cx="2269426" cy="1325562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 am truthful: 1 == 0001</a:t>
            </a:r>
          </a:p>
        </p:txBody>
      </p:sp>
    </p:spTree>
    <p:extLst>
      <p:ext uri="{BB962C8B-B14F-4D97-AF65-F5344CB8AC3E}">
        <p14:creationId xmlns:p14="http://schemas.microsoft.com/office/powerpoint/2010/main" val="1667235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 Manipulation:</a:t>
            </a:r>
          </a:p>
          <a:p>
            <a:pPr lvl="1"/>
            <a:r>
              <a:rPr lang="en-US" dirty="0"/>
              <a:t>Bitwise AND (&amp;)</a:t>
            </a:r>
          </a:p>
          <a:p>
            <a:pPr lvl="1"/>
            <a:r>
              <a:rPr lang="en-US" dirty="0"/>
              <a:t>Bitwise Inclusive OR (|)</a:t>
            </a:r>
          </a:p>
          <a:p>
            <a:pPr lvl="1"/>
            <a:r>
              <a:rPr lang="en-US" dirty="0"/>
              <a:t>Bitwise Exclusive OR (^)</a:t>
            </a:r>
          </a:p>
          <a:p>
            <a:pPr lvl="1"/>
            <a:r>
              <a:rPr lang="en-US" dirty="0"/>
              <a:t>One’s Complement (~)</a:t>
            </a:r>
          </a:p>
          <a:p>
            <a:pPr lvl="1"/>
            <a:endParaRPr lang="en-US" dirty="0"/>
          </a:p>
          <a:p>
            <a:r>
              <a:rPr lang="en-US" dirty="0"/>
              <a:t>The first three are binary operators - the one’s complement is a unary operator.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939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start with AND…</a:t>
            </a:r>
          </a:p>
          <a:p>
            <a:pPr lvl="1"/>
            <a:r>
              <a:rPr lang="en-US" dirty="0"/>
              <a:t>Better yet go read my clock in my office.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Let’s assume we have two unsigned integers: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pPr marL="0" indent="0" algn="ctr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unsigned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x = 87;	</a:t>
            </a:r>
          </a:p>
          <a:p>
            <a:pPr marL="0" indent="0" algn="ctr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unsigned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y = 15;</a:t>
            </a: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892129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the binary representation of these two numbers:</a:t>
            </a:r>
          </a:p>
          <a:p>
            <a:endParaRPr lang="en-US" dirty="0"/>
          </a:p>
          <a:p>
            <a:r>
              <a:rPr lang="en-US" dirty="0"/>
              <a:t>15</a:t>
            </a:r>
          </a:p>
          <a:p>
            <a:pPr lvl="1"/>
            <a:r>
              <a:rPr lang="en-US" dirty="0"/>
              <a:t>0000 0000 0000 1111</a:t>
            </a:r>
          </a:p>
          <a:p>
            <a:pPr lvl="1"/>
            <a:endParaRPr lang="en-US" dirty="0"/>
          </a:p>
          <a:p>
            <a:r>
              <a:rPr lang="en-US" dirty="0"/>
              <a:t>87</a:t>
            </a:r>
          </a:p>
          <a:p>
            <a:pPr lvl="1"/>
            <a:r>
              <a:rPr lang="en-US"/>
              <a:t>0000 0000 0101 </a:t>
            </a:r>
            <a:r>
              <a:rPr lang="en-US" dirty="0"/>
              <a:t>0111</a:t>
            </a:r>
          </a:p>
        </p:txBody>
      </p:sp>
    </p:spTree>
    <p:extLst>
      <p:ext uri="{BB962C8B-B14F-4D97-AF65-F5344CB8AC3E}">
        <p14:creationId xmlns:p14="http://schemas.microsoft.com/office/powerpoint/2010/main" val="231262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if we perform the following </a:t>
            </a:r>
            <a:r>
              <a:rPr lang="en-US"/>
              <a:t>bitwise operation: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&amp; y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3470793"/>
          <a:ext cx="8001000" cy="2636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788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88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889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9026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	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unsigned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x = 15;	 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unsigned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y = 87;	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z(0);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z = x &amp; y;            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"Bitwise AND: " &lt;&lt; z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return 0;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16120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if we perform the following bitwise operation:</a:t>
            </a:r>
          </a:p>
          <a:p>
            <a:pPr marL="0" indent="0" algn="ctr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| y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3470793"/>
          <a:ext cx="8001000" cy="2636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788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88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889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5316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	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unsigned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x = 15;	 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unsigned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y = 87;	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z(0);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z = x | y;            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"Bitwise OR: " &lt;&lt; z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return 0;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48868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if we perform the following bitwise operation:</a:t>
            </a:r>
          </a:p>
          <a:p>
            <a:pPr marL="0" indent="0" algn="ctr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^ y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3470793"/>
          <a:ext cx="8001000" cy="2636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788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88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889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5734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	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unsigned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x = 15;	 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unsigned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y = 87;	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z(0);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z = x ^ y;            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"Bitwise XOR: " &lt;&lt; z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return 0;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075043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if we perform the following bitwise operation:</a:t>
            </a:r>
          </a:p>
          <a:p>
            <a:pPr marL="0" indent="0" algn="ctr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~x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3470793"/>
          <a:ext cx="8001000" cy="17577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7889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889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50052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	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unsigned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x = 15;	 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unsigned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y = 87;	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z(0);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z = ~x;            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"Bitwise 1’s Compliment: " &lt;&lt; z &lt;&lt;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return 0;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470870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Left Shift Operator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Shifts the bits to the left by the number of positions specified by expression.</a:t>
            </a:r>
          </a:p>
          <a:p>
            <a:endParaRPr lang="en-US" dirty="0"/>
          </a:p>
          <a:p>
            <a:r>
              <a:rPr lang="en-US" dirty="0"/>
              <a:t>Right Shift Operator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Shifts the bits to the right by the number of positions specified by expression.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5766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	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unsigned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x = 1;	  	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z(0);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z = x &lt;&lt; 2;            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"Bitwise Left Shift: " &lt;&lt; z &lt;&lt;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return 0;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38134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	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unsigned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x = 8;	  	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z(0);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z = x &gt;&gt; 2;            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"Bitwise Right Shift: " &lt;&lt; z &lt;&lt;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return 0;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563186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Bit Set: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bitset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5715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0" indent="0"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{	</a:t>
            </a:r>
          </a:p>
          <a:p>
            <a:pPr marL="0" indent="0"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char x = 8;	  	</a:t>
            </a:r>
          </a:p>
          <a:p>
            <a:pPr marL="0" indent="0"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char z;</a:t>
            </a:r>
          </a:p>
          <a:p>
            <a:pPr marL="0" indent="0">
              <a:buNone/>
            </a:pP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z = x &gt;&gt; 2;             </a:t>
            </a:r>
          </a:p>
          <a:p>
            <a:pPr marL="0" indent="0"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"Bitwise Right Shift: " &lt;&lt;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bitset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&lt;8&gt;(z) &lt;&lt; 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sz="1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return 0;</a:t>
            </a:r>
          </a:p>
          <a:p>
            <a:pPr marL="0" indent="0"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437646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In-Class Example</a:t>
            </a:r>
          </a:p>
        </p:txBody>
      </p:sp>
    </p:spTree>
    <p:extLst>
      <p:ext uri="{BB962C8B-B14F-4D97-AF65-F5344CB8AC3E}">
        <p14:creationId xmlns:p14="http://schemas.microsoft.com/office/powerpoint/2010/main" val="403347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5C009-B189-4362-B3B7-7EA766D0D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42118"/>
            <a:ext cx="8229600" cy="5973763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496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29102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5649</TotalTime>
  <Words>925</Words>
  <Application>Microsoft Office PowerPoint</Application>
  <PresentationFormat>On-screen Show (4:3)</PresentationFormat>
  <Paragraphs>278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Courier New</vt:lpstr>
      <vt:lpstr>Office Theme</vt:lpstr>
      <vt:lpstr>Lecture – 10/1/2025</vt:lpstr>
      <vt:lpstr>PowerPoint Presentation</vt:lpstr>
      <vt:lpstr>Assignment #2</vt:lpstr>
      <vt:lpstr>Assignment #3</vt:lpstr>
      <vt:lpstr>Assignment #3</vt:lpstr>
      <vt:lpstr>Bitwise Operations</vt:lpstr>
      <vt:lpstr>Bitwise Operations</vt:lpstr>
      <vt:lpstr>Bitwise Operations</vt:lpstr>
      <vt:lpstr>Bitwise Operations</vt:lpstr>
      <vt:lpstr>Bitwise Operations</vt:lpstr>
      <vt:lpstr>Bitwise Operations</vt:lpstr>
      <vt:lpstr>Bitwise Operations</vt:lpstr>
      <vt:lpstr>Bitwise Operations</vt:lpstr>
      <vt:lpstr>Bitwise Operations</vt:lpstr>
      <vt:lpstr>Bitwise Operations</vt:lpstr>
      <vt:lpstr>Bitwise Operations</vt:lpstr>
      <vt:lpstr>Bitwise Operations</vt:lpstr>
      <vt:lpstr>Bitwise Operations</vt:lpstr>
      <vt:lpstr>Bitwise Operations</vt:lpstr>
      <vt:lpstr>Bitwise Operations</vt:lpstr>
      <vt:lpstr>Bitwise Operations</vt:lpstr>
      <vt:lpstr>Bitwise Operations</vt:lpstr>
      <vt:lpstr>Bitwise Operations</vt:lpstr>
      <vt:lpstr>Bitwise Operations</vt:lpstr>
      <vt:lpstr>Bitwise Operations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Rybarczyk</dc:creator>
  <cp:lastModifiedBy>Ryan Rybarczyk</cp:lastModifiedBy>
  <cp:revision>468</cp:revision>
  <dcterms:created xsi:type="dcterms:W3CDTF">2011-07-22T18:36:28Z</dcterms:created>
  <dcterms:modified xsi:type="dcterms:W3CDTF">2025-09-29T15:17:13Z</dcterms:modified>
</cp:coreProperties>
</file>