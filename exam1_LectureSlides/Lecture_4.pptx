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notesMasterIdLst>
    <p:notesMasterId r:id="rId13"/>
  </p:notesMasterIdLst>
  <p:sldIdLst>
    <p:sldId id="256" r:id="rId2"/>
    <p:sldId id="293" r:id="rId3"/>
    <p:sldId id="257" r:id="rId4"/>
    <p:sldId id="285" r:id="rId5"/>
    <p:sldId id="286" r:id="rId6"/>
    <p:sldId id="287" r:id="rId7"/>
    <p:sldId id="288" r:id="rId8"/>
    <p:sldId id="289" r:id="rId9"/>
    <p:sldId id="290" r:id="rId10"/>
    <p:sldId id="291" r:id="rId11"/>
    <p:sldId id="292" r:id="rId12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79" d="100"/>
          <a:sy n="79" d="100"/>
        </p:scale>
        <p:origin x="1498" y="77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4ADA500-0D83-4472-8117-89698D861692}" type="datetimeFigureOut">
              <a:rPr lang="en-US" smtClean="0"/>
              <a:t>9/8/2025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0E50DD3-B5D8-4C49-8686-233E18939EE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260422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686DDC-0F8A-4B0B-AEF9-E2022025D4DD}" type="datetimeFigureOut">
              <a:rPr lang="en-US" smtClean="0"/>
              <a:t>9/8/2025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7E6EC6-BFEA-44CE-9216-D8ABB5D450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6560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686DDC-0F8A-4B0B-AEF9-E2022025D4DD}" type="datetimeFigureOut">
              <a:rPr lang="en-US" smtClean="0"/>
              <a:t>9/8/2025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7E6EC6-BFEA-44CE-9216-D8ABB5D450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761537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686DDC-0F8A-4B0B-AEF9-E2022025D4DD}" type="datetimeFigureOut">
              <a:rPr lang="en-US" smtClean="0"/>
              <a:t>9/8/2025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7E6EC6-BFEA-44CE-9216-D8ABB5D450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286699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686DDC-0F8A-4B0B-AEF9-E2022025D4DD}" type="datetimeFigureOut">
              <a:rPr lang="en-US" smtClean="0"/>
              <a:t>9/8/2025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7E6EC6-BFEA-44CE-9216-D8ABB5D450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883034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686DDC-0F8A-4B0B-AEF9-E2022025D4DD}" type="datetimeFigureOut">
              <a:rPr lang="en-US" smtClean="0"/>
              <a:t>9/8/2025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7E6EC6-BFEA-44CE-9216-D8ABB5D450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00213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686DDC-0F8A-4B0B-AEF9-E2022025D4DD}" type="datetimeFigureOut">
              <a:rPr lang="en-US" smtClean="0"/>
              <a:t>9/8/2025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7E6EC6-BFEA-44CE-9216-D8ABB5D450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800375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686DDC-0F8A-4B0B-AEF9-E2022025D4DD}" type="datetimeFigureOut">
              <a:rPr lang="en-US" smtClean="0"/>
              <a:t>9/8/2025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7E6EC6-BFEA-44CE-9216-D8ABB5D450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905453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686DDC-0F8A-4B0B-AEF9-E2022025D4DD}" type="datetimeFigureOut">
              <a:rPr lang="en-US" smtClean="0"/>
              <a:t>9/8/2025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7E6EC6-BFEA-44CE-9216-D8ABB5D450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394699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686DDC-0F8A-4B0B-AEF9-E2022025D4DD}" type="datetimeFigureOut">
              <a:rPr lang="en-US" smtClean="0"/>
              <a:t>9/8/2025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7E6EC6-BFEA-44CE-9216-D8ABB5D450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50496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686DDC-0F8A-4B0B-AEF9-E2022025D4DD}" type="datetimeFigureOut">
              <a:rPr lang="en-US" smtClean="0"/>
              <a:t>9/8/2025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7E6EC6-BFEA-44CE-9216-D8ABB5D450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890033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686DDC-0F8A-4B0B-AEF9-E2022025D4DD}" type="datetimeFigureOut">
              <a:rPr lang="en-US" smtClean="0"/>
              <a:t>9/8/2025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7E6EC6-BFEA-44CE-9216-D8ABB5D450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447513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686DDC-0F8A-4B0B-AEF9-E2022025D4DD}" type="datetimeFigureOut">
              <a:rPr lang="en-US" smtClean="0"/>
              <a:t>9/8/2025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A7E6EC6-BFEA-44CE-9216-D8ABB5D450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57301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09600" y="5184648"/>
            <a:ext cx="8077200" cy="1673352"/>
          </a:xfrm>
        </p:spPr>
        <p:txBody>
          <a:bodyPr anchor="ctr"/>
          <a:lstStyle/>
          <a:p>
            <a:pPr algn="ctr"/>
            <a:r>
              <a:rPr lang="en-US" dirty="0"/>
              <a:t>Lecture – 9/10/2025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28600" y="3910584"/>
            <a:ext cx="8458200" cy="1499616"/>
          </a:xfrm>
        </p:spPr>
        <p:txBody>
          <a:bodyPr>
            <a:normAutofit/>
          </a:bodyPr>
          <a:lstStyle/>
          <a:p>
            <a:pPr algn="ctr"/>
            <a:r>
              <a:rPr lang="en-US" sz="3200" b="1" dirty="0"/>
              <a:t>CS 341 – Advanced Data Structures</a:t>
            </a: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90800" y="228600"/>
            <a:ext cx="3810000" cy="3810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92910242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cartoon of a dog holding a flag&#10;&#10;Description automatically generated">
            <a:extLst>
              <a:ext uri="{FF2B5EF4-FFF2-40B4-BE49-F238E27FC236}">
                <a16:creationId xmlns:a16="http://schemas.microsoft.com/office/drawing/2014/main" id="{93415F22-20E9-49AF-A0DC-8610FEDAA02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70949" y="0"/>
            <a:ext cx="4802101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4917347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Assignment #1</a:t>
            </a:r>
          </a:p>
        </p:txBody>
      </p:sp>
      <p:sp>
        <p:nvSpPr>
          <p:cNvPr id="5" name="Subtitle 4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Q/A</a:t>
            </a:r>
          </a:p>
        </p:txBody>
      </p:sp>
    </p:spTree>
    <p:extLst>
      <p:ext uri="{BB962C8B-B14F-4D97-AF65-F5344CB8AC3E}">
        <p14:creationId xmlns:p14="http://schemas.microsoft.com/office/powerpoint/2010/main" val="273847672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C++ Review</a:t>
            </a:r>
          </a:p>
        </p:txBody>
      </p:sp>
      <p:sp>
        <p:nvSpPr>
          <p:cNvPr id="5" name="Subtitle 4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Pointers &amp; Memory Management</a:t>
            </a:r>
          </a:p>
        </p:txBody>
      </p:sp>
    </p:spTree>
    <p:extLst>
      <p:ext uri="{BB962C8B-B14F-4D97-AF65-F5344CB8AC3E}">
        <p14:creationId xmlns:p14="http://schemas.microsoft.com/office/powerpoint/2010/main" val="247215268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ctrTitle"/>
          </p:nvPr>
        </p:nvSpPr>
        <p:spPr>
          <a:xfrm>
            <a:off x="228600" y="2971800"/>
            <a:ext cx="8077200" cy="1673352"/>
          </a:xfrm>
        </p:spPr>
        <p:txBody>
          <a:bodyPr/>
          <a:lstStyle/>
          <a:p>
            <a:pPr algn="ctr"/>
            <a:r>
              <a:rPr lang="en-US" dirty="0"/>
              <a:t>Inheritance</a:t>
            </a:r>
          </a:p>
        </p:txBody>
      </p:sp>
      <p:sp>
        <p:nvSpPr>
          <p:cNvPr id="5" name="Subtitle 4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69598138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Inheritance Types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Three types of inheritance found:</a:t>
            </a:r>
          </a:p>
          <a:p>
            <a:pPr lvl="1"/>
            <a:r>
              <a:rPr lang="en-US" dirty="0"/>
              <a:t>Public</a:t>
            </a:r>
          </a:p>
          <a:p>
            <a:pPr lvl="2"/>
            <a:r>
              <a:rPr lang="en-US" dirty="0"/>
              <a:t>The methods found in the base class keep their same scope.</a:t>
            </a:r>
          </a:p>
          <a:p>
            <a:pPr lvl="1"/>
            <a:r>
              <a:rPr lang="en-US" dirty="0"/>
              <a:t>Private</a:t>
            </a:r>
          </a:p>
          <a:p>
            <a:pPr lvl="2"/>
            <a:r>
              <a:rPr lang="en-US" dirty="0"/>
              <a:t>Only the public methods of the base class are accessible from the derived class.</a:t>
            </a:r>
          </a:p>
          <a:p>
            <a:pPr lvl="1"/>
            <a:r>
              <a:rPr lang="en-US" dirty="0"/>
              <a:t>Protected</a:t>
            </a:r>
          </a:p>
          <a:p>
            <a:pPr lvl="2"/>
            <a:r>
              <a:rPr lang="en-US" dirty="0"/>
              <a:t>The public and protected parts in the base class are protected in the derived class.</a:t>
            </a:r>
          </a:p>
          <a:p>
            <a:pPr lvl="1"/>
            <a:endParaRPr lang="en-US" dirty="0"/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5024746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Access Types</a:t>
            </a:r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</p:nvPr>
        </p:nvGraphicFramePr>
        <p:xfrm>
          <a:off x="381000" y="3124200"/>
          <a:ext cx="8229600" cy="202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57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57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57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57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u="sng" dirty="0"/>
                        <a:t>Access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u="sng" dirty="0"/>
                        <a:t>Public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u="sng" dirty="0"/>
                        <a:t>Protected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u="sng" dirty="0"/>
                        <a:t>Private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1" dirty="0"/>
                        <a:t>Members</a:t>
                      </a:r>
                      <a:r>
                        <a:rPr lang="en-US" b="1" baseline="0" dirty="0"/>
                        <a:t> of the same class</a:t>
                      </a:r>
                      <a:endParaRPr 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Yes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Yes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Yes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1" dirty="0"/>
                        <a:t>Members of the derived class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Yes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Yes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No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1" dirty="0"/>
                        <a:t>Not</a:t>
                      </a:r>
                      <a:r>
                        <a:rPr lang="en-US" b="1" baseline="0" dirty="0"/>
                        <a:t> members</a:t>
                      </a:r>
                      <a:endParaRPr 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Yes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No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No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6231510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C++ Review: Access Types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US" dirty="0"/>
              <a:t>So what does this really mean?</a:t>
            </a:r>
          </a:p>
          <a:p>
            <a:endParaRPr lang="en-US" dirty="0"/>
          </a:p>
          <a:p>
            <a:r>
              <a:rPr lang="en-US" dirty="0"/>
              <a:t>If the inheritance is </a:t>
            </a:r>
            <a:r>
              <a:rPr lang="en-US" b="1" dirty="0"/>
              <a:t>public</a:t>
            </a:r>
            <a:r>
              <a:rPr lang="en-US" dirty="0"/>
              <a:t>:</a:t>
            </a:r>
          </a:p>
          <a:p>
            <a:pPr lvl="1"/>
            <a:r>
              <a:rPr lang="en-US" dirty="0"/>
              <a:t>Everything that is aware of the Base and Child is also aware that Child inherits from Base.</a:t>
            </a:r>
          </a:p>
          <a:p>
            <a:endParaRPr lang="en-US" dirty="0"/>
          </a:p>
          <a:p>
            <a:r>
              <a:rPr lang="en-US" dirty="0"/>
              <a:t>If the inheritance is </a:t>
            </a:r>
            <a:r>
              <a:rPr lang="en-US" b="1" dirty="0"/>
              <a:t>protected</a:t>
            </a:r>
            <a:r>
              <a:rPr lang="en-US" dirty="0"/>
              <a:t>:</a:t>
            </a:r>
          </a:p>
          <a:p>
            <a:pPr lvl="1"/>
            <a:r>
              <a:rPr lang="en-US" dirty="0"/>
              <a:t>Only the Child, and its children, are aware that they inherit from Base.</a:t>
            </a:r>
          </a:p>
          <a:p>
            <a:endParaRPr lang="en-US" dirty="0"/>
          </a:p>
          <a:p>
            <a:r>
              <a:rPr lang="en-US" dirty="0"/>
              <a:t>If the inheritance is </a:t>
            </a:r>
            <a:r>
              <a:rPr lang="en-US" b="1" dirty="0"/>
              <a:t>private</a:t>
            </a:r>
            <a:r>
              <a:rPr lang="en-US" dirty="0"/>
              <a:t>:</a:t>
            </a:r>
          </a:p>
          <a:p>
            <a:pPr lvl="1"/>
            <a:r>
              <a:rPr lang="en-US" dirty="0"/>
              <a:t>No one other than Child is aware of the inheritance.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1380015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C++ Review: Inheritance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013191"/>
            <a:ext cx="8229600" cy="4625609"/>
          </a:xfrm>
        </p:spPr>
        <p:txBody>
          <a:bodyPr>
            <a:noAutofit/>
          </a:bodyPr>
          <a:lstStyle/>
          <a:p>
            <a:pPr marL="118872" indent="0">
              <a:buNone/>
            </a:pPr>
            <a:r>
              <a:rPr lang="en-US" sz="1050" dirty="0">
                <a:latin typeface="Courier New" panose="02070309020205020404" pitchFamily="49" charset="0"/>
                <a:cs typeface="Courier New" panose="02070309020205020404" pitchFamily="49" charset="0"/>
              </a:rPr>
              <a:t>class A </a:t>
            </a:r>
          </a:p>
          <a:p>
            <a:pPr marL="118872" indent="0">
              <a:buNone/>
            </a:pPr>
            <a:r>
              <a:rPr lang="en-US" sz="1050" dirty="0"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</a:p>
          <a:p>
            <a:pPr marL="118872" indent="0">
              <a:buNone/>
            </a:pPr>
            <a:r>
              <a:rPr lang="en-US" sz="1050" dirty="0">
                <a:latin typeface="Courier New" panose="02070309020205020404" pitchFamily="49" charset="0"/>
                <a:cs typeface="Courier New" panose="02070309020205020404" pitchFamily="49" charset="0"/>
              </a:rPr>
              <a:t>public:</a:t>
            </a:r>
          </a:p>
          <a:p>
            <a:pPr marL="118872" indent="0">
              <a:buNone/>
            </a:pPr>
            <a:r>
              <a:rPr lang="en-US" sz="1050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105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sz="1050" dirty="0">
                <a:latin typeface="Courier New" panose="02070309020205020404" pitchFamily="49" charset="0"/>
                <a:cs typeface="Courier New" panose="02070309020205020404" pitchFamily="49" charset="0"/>
              </a:rPr>
              <a:t> x;</a:t>
            </a:r>
          </a:p>
          <a:p>
            <a:pPr marL="118872" indent="0">
              <a:buNone/>
            </a:pPr>
            <a:r>
              <a:rPr lang="en-US" sz="1050" dirty="0">
                <a:latin typeface="Courier New" panose="02070309020205020404" pitchFamily="49" charset="0"/>
                <a:cs typeface="Courier New" panose="02070309020205020404" pitchFamily="49" charset="0"/>
              </a:rPr>
              <a:t>protected:</a:t>
            </a:r>
          </a:p>
          <a:p>
            <a:pPr marL="118872" indent="0">
              <a:buNone/>
            </a:pPr>
            <a:r>
              <a:rPr lang="en-US" sz="1050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105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sz="1050" dirty="0">
                <a:latin typeface="Courier New" panose="02070309020205020404" pitchFamily="49" charset="0"/>
                <a:cs typeface="Courier New" panose="02070309020205020404" pitchFamily="49" charset="0"/>
              </a:rPr>
              <a:t> y;</a:t>
            </a:r>
          </a:p>
          <a:p>
            <a:pPr marL="118872" indent="0">
              <a:buNone/>
            </a:pPr>
            <a:r>
              <a:rPr lang="en-US" sz="1050" dirty="0">
                <a:latin typeface="Courier New" panose="02070309020205020404" pitchFamily="49" charset="0"/>
                <a:cs typeface="Courier New" panose="02070309020205020404" pitchFamily="49" charset="0"/>
              </a:rPr>
              <a:t>private:</a:t>
            </a:r>
          </a:p>
          <a:p>
            <a:pPr marL="118872" indent="0">
              <a:buNone/>
            </a:pPr>
            <a:r>
              <a:rPr lang="en-US" sz="1050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105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sz="1050" dirty="0">
                <a:latin typeface="Courier New" panose="02070309020205020404" pitchFamily="49" charset="0"/>
                <a:cs typeface="Courier New" panose="02070309020205020404" pitchFamily="49" charset="0"/>
              </a:rPr>
              <a:t> z;</a:t>
            </a:r>
          </a:p>
          <a:p>
            <a:pPr marL="118872" indent="0">
              <a:buNone/>
            </a:pPr>
            <a:r>
              <a:rPr lang="en-US" sz="1050" dirty="0">
                <a:latin typeface="Courier New" panose="02070309020205020404" pitchFamily="49" charset="0"/>
                <a:cs typeface="Courier New" panose="02070309020205020404" pitchFamily="49" charset="0"/>
              </a:rPr>
              <a:t>};</a:t>
            </a:r>
          </a:p>
          <a:p>
            <a:pPr marL="118872" indent="0">
              <a:buNone/>
            </a:pPr>
            <a:endParaRPr lang="en-US" sz="105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118872" indent="0">
              <a:buNone/>
            </a:pPr>
            <a:r>
              <a:rPr lang="en-US" sz="1050" dirty="0">
                <a:latin typeface="Courier New" panose="02070309020205020404" pitchFamily="49" charset="0"/>
                <a:cs typeface="Courier New" panose="02070309020205020404" pitchFamily="49" charset="0"/>
              </a:rPr>
              <a:t>class B : public A</a:t>
            </a:r>
          </a:p>
          <a:p>
            <a:pPr marL="118872" indent="0">
              <a:buNone/>
            </a:pPr>
            <a:r>
              <a:rPr lang="en-US" sz="1050" dirty="0"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</a:p>
          <a:p>
            <a:pPr marL="118872" indent="0">
              <a:buNone/>
            </a:pPr>
            <a:r>
              <a:rPr lang="en-US" sz="1050" dirty="0">
                <a:latin typeface="Courier New" panose="02070309020205020404" pitchFamily="49" charset="0"/>
                <a:cs typeface="Courier New" panose="02070309020205020404" pitchFamily="49" charset="0"/>
              </a:rPr>
              <a:t>    // x is public</a:t>
            </a:r>
          </a:p>
          <a:p>
            <a:pPr marL="118872" indent="0">
              <a:buNone/>
            </a:pPr>
            <a:r>
              <a:rPr lang="en-US" sz="1050" dirty="0">
                <a:latin typeface="Courier New" panose="02070309020205020404" pitchFamily="49" charset="0"/>
                <a:cs typeface="Courier New" panose="02070309020205020404" pitchFamily="49" charset="0"/>
              </a:rPr>
              <a:t>    // y is protected</a:t>
            </a:r>
          </a:p>
          <a:p>
            <a:pPr marL="118872" indent="0">
              <a:buNone/>
            </a:pPr>
            <a:r>
              <a:rPr lang="en-US" sz="1050" dirty="0">
                <a:latin typeface="Courier New" panose="02070309020205020404" pitchFamily="49" charset="0"/>
                <a:cs typeface="Courier New" panose="02070309020205020404" pitchFamily="49" charset="0"/>
              </a:rPr>
              <a:t>    // z is not accessible from B</a:t>
            </a:r>
          </a:p>
          <a:p>
            <a:pPr marL="118872" indent="0">
              <a:buNone/>
            </a:pPr>
            <a:r>
              <a:rPr lang="en-US" sz="1050" dirty="0">
                <a:latin typeface="Courier New" panose="02070309020205020404" pitchFamily="49" charset="0"/>
                <a:cs typeface="Courier New" panose="02070309020205020404" pitchFamily="49" charset="0"/>
              </a:rPr>
              <a:t>};</a:t>
            </a:r>
          </a:p>
          <a:p>
            <a:pPr marL="118872" indent="0">
              <a:buNone/>
            </a:pPr>
            <a:endParaRPr lang="en-US" sz="105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118872" indent="0">
              <a:buNone/>
            </a:pPr>
            <a:r>
              <a:rPr lang="en-US" sz="1050" dirty="0">
                <a:latin typeface="Courier New" panose="02070309020205020404" pitchFamily="49" charset="0"/>
                <a:cs typeface="Courier New" panose="02070309020205020404" pitchFamily="49" charset="0"/>
              </a:rPr>
              <a:t>class C : protected A</a:t>
            </a:r>
          </a:p>
          <a:p>
            <a:pPr marL="118872" indent="0">
              <a:buNone/>
            </a:pPr>
            <a:r>
              <a:rPr lang="en-US" sz="1050" dirty="0"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</a:p>
          <a:p>
            <a:pPr marL="118872" indent="0">
              <a:buNone/>
            </a:pPr>
            <a:r>
              <a:rPr lang="en-US" sz="1050" dirty="0">
                <a:latin typeface="Courier New" panose="02070309020205020404" pitchFamily="49" charset="0"/>
                <a:cs typeface="Courier New" panose="02070309020205020404" pitchFamily="49" charset="0"/>
              </a:rPr>
              <a:t>    // x is protected</a:t>
            </a:r>
          </a:p>
          <a:p>
            <a:pPr marL="118872" indent="0">
              <a:buNone/>
            </a:pPr>
            <a:r>
              <a:rPr lang="en-US" sz="1050" dirty="0">
                <a:latin typeface="Courier New" panose="02070309020205020404" pitchFamily="49" charset="0"/>
                <a:cs typeface="Courier New" panose="02070309020205020404" pitchFamily="49" charset="0"/>
              </a:rPr>
              <a:t>    // y is protected</a:t>
            </a:r>
          </a:p>
          <a:p>
            <a:pPr marL="118872" indent="0">
              <a:buNone/>
            </a:pPr>
            <a:r>
              <a:rPr lang="en-US" sz="1050" dirty="0">
                <a:latin typeface="Courier New" panose="02070309020205020404" pitchFamily="49" charset="0"/>
                <a:cs typeface="Courier New" panose="02070309020205020404" pitchFamily="49" charset="0"/>
              </a:rPr>
              <a:t>    // z is not accessible from C</a:t>
            </a:r>
          </a:p>
          <a:p>
            <a:pPr marL="118872" indent="0">
              <a:buNone/>
            </a:pPr>
            <a:r>
              <a:rPr lang="en-US" sz="1050" dirty="0">
                <a:latin typeface="Courier New" panose="02070309020205020404" pitchFamily="49" charset="0"/>
                <a:cs typeface="Courier New" panose="02070309020205020404" pitchFamily="49" charset="0"/>
              </a:rPr>
              <a:t>};</a:t>
            </a:r>
          </a:p>
          <a:p>
            <a:pPr marL="118872" indent="0">
              <a:buNone/>
            </a:pPr>
            <a:endParaRPr lang="en-US" sz="105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118872" indent="0">
              <a:buNone/>
            </a:pPr>
            <a:r>
              <a:rPr lang="en-US" sz="1050" dirty="0">
                <a:latin typeface="Courier New" panose="02070309020205020404" pitchFamily="49" charset="0"/>
                <a:cs typeface="Courier New" panose="02070309020205020404" pitchFamily="49" charset="0"/>
              </a:rPr>
              <a:t>class D : private A    // 'private' is default for classes</a:t>
            </a:r>
          </a:p>
          <a:p>
            <a:pPr marL="118872" indent="0">
              <a:buNone/>
            </a:pPr>
            <a:r>
              <a:rPr lang="en-US" sz="1050" dirty="0"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</a:p>
          <a:p>
            <a:pPr marL="118872" indent="0">
              <a:buNone/>
            </a:pPr>
            <a:r>
              <a:rPr lang="en-US" sz="1050" dirty="0">
                <a:latin typeface="Courier New" panose="02070309020205020404" pitchFamily="49" charset="0"/>
                <a:cs typeface="Courier New" panose="02070309020205020404" pitchFamily="49" charset="0"/>
              </a:rPr>
              <a:t>    // x is private</a:t>
            </a:r>
          </a:p>
          <a:p>
            <a:pPr marL="118872" indent="0">
              <a:buNone/>
            </a:pPr>
            <a:r>
              <a:rPr lang="en-US" sz="1050" dirty="0">
                <a:latin typeface="Courier New" panose="02070309020205020404" pitchFamily="49" charset="0"/>
                <a:cs typeface="Courier New" panose="02070309020205020404" pitchFamily="49" charset="0"/>
              </a:rPr>
              <a:t>    // y is private</a:t>
            </a:r>
          </a:p>
          <a:p>
            <a:pPr marL="118872" indent="0">
              <a:buNone/>
            </a:pPr>
            <a:r>
              <a:rPr lang="en-US" sz="1050" dirty="0">
                <a:latin typeface="Courier New" panose="02070309020205020404" pitchFamily="49" charset="0"/>
                <a:cs typeface="Courier New" panose="02070309020205020404" pitchFamily="49" charset="0"/>
              </a:rPr>
              <a:t>    // z is not accessible from D</a:t>
            </a:r>
          </a:p>
          <a:p>
            <a:pPr marL="118872" indent="0">
              <a:buNone/>
            </a:pPr>
            <a:r>
              <a:rPr lang="en-US" sz="1050" dirty="0">
                <a:latin typeface="Courier New" panose="02070309020205020404" pitchFamily="49" charset="0"/>
                <a:cs typeface="Courier New" panose="02070309020205020404" pitchFamily="49" charset="0"/>
              </a:rPr>
              <a:t>};</a:t>
            </a:r>
          </a:p>
        </p:txBody>
      </p:sp>
    </p:spTree>
    <p:extLst>
      <p:ext uri="{BB962C8B-B14F-4D97-AF65-F5344CB8AC3E}">
        <p14:creationId xmlns:p14="http://schemas.microsoft.com/office/powerpoint/2010/main" val="148271624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C++ Review: Inheritance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/>
              <a:t>Back to our “Mammals” example – the Cat and Dog classes each inherit from Mammals at the public level – thus, all the methods will be inherited at the same level as the base class.</a:t>
            </a:r>
          </a:p>
          <a:p>
            <a:endParaRPr lang="en-US" dirty="0"/>
          </a:p>
          <a:p>
            <a:r>
              <a:rPr lang="en-US" dirty="0"/>
              <a:t>What does a derived class inherit from its base class?</a:t>
            </a:r>
          </a:p>
          <a:p>
            <a:pPr lvl="1"/>
            <a:r>
              <a:rPr lang="en-US" dirty="0"/>
              <a:t>Constructor/Destructor = NO</a:t>
            </a:r>
          </a:p>
          <a:p>
            <a:pPr lvl="2"/>
            <a:r>
              <a:rPr lang="en-US" dirty="0"/>
              <a:t>Automatically called however…</a:t>
            </a:r>
          </a:p>
          <a:p>
            <a:pPr lvl="1"/>
            <a:r>
              <a:rPr lang="en-US" dirty="0"/>
              <a:t>Assignment Operator Members = NO</a:t>
            </a:r>
          </a:p>
          <a:p>
            <a:pPr lvl="1"/>
            <a:r>
              <a:rPr lang="en-US" dirty="0"/>
              <a:t>Private Members = NO</a:t>
            </a:r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2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9305328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35C009-B189-4362-B3B7-7EA766D0D7D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442118"/>
            <a:ext cx="8229600" cy="5973763"/>
          </a:xfrm>
        </p:spPr>
        <p:txBody>
          <a:bodyPr>
            <a:normAutofit fontScale="92500" lnSpcReduction="20000"/>
          </a:bodyPr>
          <a:lstStyle/>
          <a:p>
            <a:pPr marL="0" indent="0" algn="ctr">
              <a:buNone/>
            </a:pPr>
            <a:r>
              <a:rPr lang="en-US" sz="49600" dirty="0"/>
              <a:t>;</a:t>
            </a:r>
          </a:p>
        </p:txBody>
      </p:sp>
    </p:spTree>
    <p:extLst>
      <p:ext uri="{BB962C8B-B14F-4D97-AF65-F5344CB8AC3E}">
        <p14:creationId xmlns:p14="http://schemas.microsoft.com/office/powerpoint/2010/main" val="199804945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4645</TotalTime>
  <Words>364</Words>
  <Application>Microsoft Office PowerPoint</Application>
  <PresentationFormat>On-screen Show (4:3)</PresentationFormat>
  <Paragraphs>87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Arial</vt:lpstr>
      <vt:lpstr>Calibri</vt:lpstr>
      <vt:lpstr>Courier New</vt:lpstr>
      <vt:lpstr>Office Theme</vt:lpstr>
      <vt:lpstr>Lecture – 9/10/2025</vt:lpstr>
      <vt:lpstr>PowerPoint Presentation</vt:lpstr>
      <vt:lpstr>Assignment #1</vt:lpstr>
      <vt:lpstr>C++ Review</vt:lpstr>
      <vt:lpstr>Inheritance</vt:lpstr>
      <vt:lpstr>Inheritance Types</vt:lpstr>
      <vt:lpstr>Access Types</vt:lpstr>
      <vt:lpstr>C++ Review: Access Types</vt:lpstr>
      <vt:lpstr>C++ Review: Inheritance</vt:lpstr>
      <vt:lpstr>C++ Review: Inheritance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Ryan Rybarczyk</dc:creator>
  <cp:lastModifiedBy>Ryan Rybarczyk</cp:lastModifiedBy>
  <cp:revision>407</cp:revision>
  <dcterms:created xsi:type="dcterms:W3CDTF">2011-07-22T18:36:28Z</dcterms:created>
  <dcterms:modified xsi:type="dcterms:W3CDTF">2025-09-08T15:01:22Z</dcterms:modified>
</cp:coreProperties>
</file>