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314" r:id="rId2"/>
    <p:sldId id="258" r:id="rId3"/>
    <p:sldId id="315" r:id="rId4"/>
    <p:sldId id="427" r:id="rId5"/>
    <p:sldId id="425" r:id="rId6"/>
    <p:sldId id="355" r:id="rId7"/>
    <p:sldId id="318" r:id="rId8"/>
    <p:sldId id="285" r:id="rId9"/>
    <p:sldId id="317" r:id="rId10"/>
    <p:sldId id="319" r:id="rId11"/>
    <p:sldId id="354" r:id="rId12"/>
    <p:sldId id="356" r:id="rId13"/>
    <p:sldId id="394" r:id="rId14"/>
    <p:sldId id="357" r:id="rId15"/>
    <p:sldId id="421" r:id="rId16"/>
    <p:sldId id="423" r:id="rId17"/>
    <p:sldId id="424" r:id="rId18"/>
    <p:sldId id="412" r:id="rId19"/>
    <p:sldId id="441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0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rrybarcz@butler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bwerling@butler.edu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84648"/>
            <a:ext cx="8077200" cy="1673352"/>
          </a:xfrm>
        </p:spPr>
        <p:txBody>
          <a:bodyPr anchor="ctr"/>
          <a:lstStyle/>
          <a:p>
            <a:pPr algn="ctr"/>
            <a:r>
              <a:rPr lang="en-US" dirty="0"/>
              <a:t>Lecture – 8/27/2025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10584"/>
            <a:ext cx="8458200" cy="149961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CS 341 – Advanced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56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Lecture:</a:t>
            </a:r>
          </a:p>
          <a:p>
            <a:pPr lvl="1"/>
            <a:r>
              <a:rPr lang="en-US" dirty="0"/>
              <a:t>Monday/Wednesday </a:t>
            </a:r>
          </a:p>
          <a:p>
            <a:pPr lvl="2"/>
            <a:r>
              <a:rPr lang="en-US" dirty="0"/>
              <a:t>2:15 PM – 3:30 PM (JH 174) </a:t>
            </a:r>
          </a:p>
          <a:p>
            <a:r>
              <a:rPr lang="en-US" dirty="0"/>
              <a:t>Instructor: </a:t>
            </a:r>
          </a:p>
          <a:p>
            <a:pPr lvl="1"/>
            <a:r>
              <a:rPr lang="en-US" dirty="0"/>
              <a:t>Dr. Ryan Rybarczyk</a:t>
            </a:r>
          </a:p>
          <a:p>
            <a:pPr lvl="2"/>
            <a:r>
              <a:rPr lang="en-US" dirty="0">
                <a:hlinkClick r:id="rId2"/>
              </a:rPr>
              <a:t>rrybarcz@butler.edu</a:t>
            </a:r>
            <a:r>
              <a:rPr lang="en-US" dirty="0"/>
              <a:t>  </a:t>
            </a:r>
          </a:p>
          <a:p>
            <a:r>
              <a:rPr lang="en-US" dirty="0"/>
              <a:t>Office: </a:t>
            </a:r>
          </a:p>
          <a:p>
            <a:pPr lvl="1"/>
            <a:r>
              <a:rPr lang="en-US" dirty="0"/>
              <a:t>JH 298</a:t>
            </a:r>
          </a:p>
          <a:p>
            <a:r>
              <a:rPr lang="en-US" dirty="0"/>
              <a:t>Office Hours: </a:t>
            </a:r>
          </a:p>
          <a:p>
            <a:pPr lvl="1"/>
            <a:r>
              <a:rPr lang="en-US" dirty="0"/>
              <a:t>Monday/Wednesday </a:t>
            </a:r>
          </a:p>
          <a:p>
            <a:pPr lvl="2"/>
            <a:r>
              <a:rPr lang="en-US"/>
              <a:t>11:00 </a:t>
            </a:r>
            <a:r>
              <a:rPr lang="en-US" dirty="0"/>
              <a:t>AM – 12:00 PM, 1:00 PM – 2:00 PM</a:t>
            </a:r>
          </a:p>
          <a:p>
            <a:pPr lvl="1"/>
            <a:r>
              <a:rPr lang="en-US" dirty="0"/>
              <a:t>By Appointment </a:t>
            </a:r>
          </a:p>
        </p:txBody>
      </p:sp>
    </p:spTree>
    <p:extLst>
      <p:ext uri="{BB962C8B-B14F-4D97-AF65-F5344CB8AC3E}">
        <p14:creationId xmlns:p14="http://schemas.microsoft.com/office/powerpoint/2010/main" val="2635921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Syllabus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Canvas</a:t>
            </a:r>
          </a:p>
        </p:txBody>
      </p:sp>
    </p:spTree>
    <p:extLst>
      <p:ext uri="{BB962C8B-B14F-4D97-AF65-F5344CB8AC3E}">
        <p14:creationId xmlns:p14="http://schemas.microsoft.com/office/powerpoint/2010/main" val="1202327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E5365-EE4B-46BF-903D-87EADA68B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EE4FA-9961-4139-A2C8-9BD2423E0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Study Tables</a:t>
            </a:r>
          </a:p>
          <a:p>
            <a:pPr lvl="1"/>
            <a:r>
              <a:rPr lang="en-US" dirty="0"/>
              <a:t>Monday – Thursday</a:t>
            </a:r>
          </a:p>
          <a:p>
            <a:pPr lvl="1"/>
            <a:r>
              <a:rPr lang="en-US" dirty="0"/>
              <a:t>7:00 PM – 9:00 PM</a:t>
            </a:r>
          </a:p>
          <a:p>
            <a:pPr lvl="1"/>
            <a:r>
              <a:rPr lang="en-US" dirty="0"/>
              <a:t>September 2</a:t>
            </a:r>
            <a:r>
              <a:rPr lang="en-US" baseline="30000" dirty="0"/>
              <a:t>nd</a:t>
            </a:r>
            <a:r>
              <a:rPr lang="en-US" dirty="0"/>
              <a:t> – December 11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No Study Tables Fall Break or Thanksgiving Break</a:t>
            </a:r>
          </a:p>
          <a:p>
            <a:pPr lvl="2"/>
            <a:endParaRPr lang="en-US" dirty="0"/>
          </a:p>
          <a:p>
            <a:r>
              <a:rPr lang="en-US" dirty="0"/>
              <a:t>Course TA:</a:t>
            </a:r>
          </a:p>
          <a:p>
            <a:pPr lvl="1"/>
            <a:r>
              <a:rPr lang="en-US" dirty="0"/>
              <a:t>Brady Werling </a:t>
            </a:r>
          </a:p>
          <a:p>
            <a:pPr lvl="2"/>
            <a:r>
              <a:rPr lang="en-US" dirty="0">
                <a:hlinkClick r:id="rId2"/>
              </a:rPr>
              <a:t>bwerling@butler.edu</a:t>
            </a:r>
            <a:endParaRPr lang="en-US" dirty="0"/>
          </a:p>
          <a:p>
            <a:pPr lvl="2"/>
            <a:r>
              <a:rPr lang="en-US" dirty="0"/>
              <a:t>Office Hours: TBA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4114800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202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C++: How To Program – Late Objects Version</a:t>
            </a:r>
          </a:p>
          <a:p>
            <a:pPr lvl="1"/>
            <a:r>
              <a:rPr lang="en-US" dirty="0"/>
              <a:t>7</a:t>
            </a:r>
            <a:r>
              <a:rPr lang="en-US" baseline="30000" dirty="0"/>
              <a:t>th</a:t>
            </a:r>
            <a:r>
              <a:rPr lang="en-US" dirty="0"/>
              <a:t> Edition</a:t>
            </a:r>
          </a:p>
          <a:p>
            <a:pPr lvl="1"/>
            <a:r>
              <a:rPr lang="en-US" dirty="0"/>
              <a:t>Paul </a:t>
            </a:r>
            <a:r>
              <a:rPr lang="en-US" dirty="0" err="1"/>
              <a:t>Deitel</a:t>
            </a:r>
            <a:endParaRPr lang="en-US" dirty="0"/>
          </a:p>
          <a:p>
            <a:pPr lvl="1"/>
            <a:r>
              <a:rPr lang="en-US" dirty="0"/>
              <a:t>Harvey </a:t>
            </a:r>
            <a:r>
              <a:rPr lang="en-US" dirty="0" err="1"/>
              <a:t>Deitel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Periodic Assigned Readings</a:t>
            </a:r>
          </a:p>
          <a:p>
            <a:pPr lvl="1"/>
            <a:r>
              <a:rPr lang="en-US" dirty="0"/>
              <a:t>Links</a:t>
            </a:r>
          </a:p>
          <a:p>
            <a:pPr lvl="1"/>
            <a:r>
              <a:rPr lang="en-US" dirty="0"/>
              <a:t>Articles</a:t>
            </a:r>
          </a:p>
          <a:p>
            <a:pPr lvl="1"/>
            <a:r>
              <a:rPr lang="en-US" dirty="0"/>
              <a:t>PDF’s</a:t>
            </a:r>
          </a:p>
        </p:txBody>
      </p:sp>
      <p:pic>
        <p:nvPicPr>
          <p:cNvPr id="3" name="Content Placeholder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447800"/>
            <a:ext cx="3783330" cy="4994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8715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What are we going to learn?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Explore Object-Oriented Concepts in C++</a:t>
            </a:r>
          </a:p>
          <a:p>
            <a:pPr lvl="1"/>
            <a:r>
              <a:rPr lang="en-US" dirty="0"/>
              <a:t>How to create a “proper” class in C++</a:t>
            </a:r>
          </a:p>
          <a:p>
            <a:pPr lvl="1"/>
            <a:r>
              <a:rPr lang="en-US" dirty="0"/>
              <a:t>How to create a </a:t>
            </a:r>
            <a:r>
              <a:rPr lang="en-US" dirty="0" err="1"/>
              <a:t>Makefile</a:t>
            </a:r>
            <a:r>
              <a:rPr lang="en-US" dirty="0"/>
              <a:t> to link these “pieces” together</a:t>
            </a:r>
          </a:p>
          <a:p>
            <a:pPr lvl="1"/>
            <a:r>
              <a:rPr lang="en-US" dirty="0"/>
              <a:t>Be able to check and ensure no memory leaks are present in our code – dynamic memory management</a:t>
            </a:r>
          </a:p>
          <a:p>
            <a:pPr lvl="2"/>
            <a:r>
              <a:rPr lang="en-US" dirty="0"/>
              <a:t>Utilize pointers to manage our dynamically created objects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858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What are we going to learn?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Explore various Abstract Data Types (ADT)</a:t>
            </a:r>
          </a:p>
          <a:p>
            <a:pPr lvl="1"/>
            <a:r>
              <a:rPr lang="en-US" dirty="0"/>
              <a:t>Be able to implement a Linked List in C++</a:t>
            </a:r>
          </a:p>
          <a:p>
            <a:pPr lvl="1"/>
            <a:r>
              <a:rPr lang="en-US" dirty="0"/>
              <a:t>Be able to implement a Hash Table in C++</a:t>
            </a:r>
          </a:p>
          <a:p>
            <a:pPr lvl="1"/>
            <a:r>
              <a:rPr lang="en-US" dirty="0"/>
              <a:t>Be able to implement a Binary Search Tree in C++</a:t>
            </a:r>
          </a:p>
          <a:p>
            <a:pPr lvl="1"/>
            <a:r>
              <a:rPr lang="en-US" dirty="0"/>
              <a:t>Be able to implement an Red Black Tree in C++</a:t>
            </a:r>
          </a:p>
          <a:p>
            <a:pPr lvl="2"/>
            <a:r>
              <a:rPr lang="en-US" dirty="0"/>
              <a:t>Understand how to perform a tree traversal in C++</a:t>
            </a:r>
          </a:p>
          <a:p>
            <a:pPr lvl="1"/>
            <a:r>
              <a:rPr lang="en-US" dirty="0"/>
              <a:t>Be able to implement a </a:t>
            </a:r>
            <a:r>
              <a:rPr lang="en-US" dirty="0" err="1"/>
              <a:t>Trie</a:t>
            </a:r>
            <a:r>
              <a:rPr lang="en-US" dirty="0"/>
              <a:t> in C++</a:t>
            </a:r>
          </a:p>
          <a:p>
            <a:r>
              <a:rPr lang="en-US" dirty="0"/>
              <a:t>Perform an analysis of an ADT’s performance</a:t>
            </a:r>
          </a:p>
        </p:txBody>
      </p:sp>
    </p:spTree>
    <p:extLst>
      <p:ext uri="{BB962C8B-B14F-4D97-AF65-F5344CB8AC3E}">
        <p14:creationId xmlns:p14="http://schemas.microsoft.com/office/powerpoint/2010/main" val="311025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0" y="2819400"/>
            <a:ext cx="7772400" cy="1470025"/>
          </a:xfrm>
        </p:spPr>
        <p:txBody>
          <a:bodyPr/>
          <a:lstStyle/>
          <a:p>
            <a:r>
              <a:rPr lang="en-US" dirty="0"/>
              <a:t>Quiz #1</a:t>
            </a:r>
          </a:p>
        </p:txBody>
      </p:sp>
    </p:spTree>
    <p:extLst>
      <p:ext uri="{BB962C8B-B14F-4D97-AF65-F5344CB8AC3E}">
        <p14:creationId xmlns:p14="http://schemas.microsoft.com/office/powerpoint/2010/main" val="349593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2797175"/>
            <a:ext cx="7772400" cy="1470025"/>
          </a:xfrm>
        </p:spPr>
        <p:txBody>
          <a:bodyPr/>
          <a:lstStyle/>
          <a:p>
            <a:r>
              <a:rPr lang="en-US" b="1" i="1" dirty="0"/>
              <a:t>What is Data Abstraction?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2858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2873375"/>
            <a:ext cx="7772400" cy="1470025"/>
          </a:xfrm>
        </p:spPr>
        <p:txBody>
          <a:bodyPr>
            <a:normAutofit/>
          </a:bodyPr>
          <a:lstStyle/>
          <a:p>
            <a:r>
              <a:rPr lang="en-US" sz="4000" b="1" i="1" dirty="0"/>
              <a:t>Why is Data Abstraction Important?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2083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What is the OO Concept?</a:t>
            </a:r>
          </a:p>
          <a:p>
            <a:pPr lvl="1"/>
            <a:r>
              <a:rPr lang="en-US" dirty="0"/>
              <a:t>It really boils down to the idea that we can model things in software using terminology that we use to describe the same “objects” in the domain world.</a:t>
            </a:r>
          </a:p>
          <a:p>
            <a:pPr lvl="1"/>
            <a:endParaRPr lang="en-US" dirty="0"/>
          </a:p>
          <a:p>
            <a:r>
              <a:rPr lang="en-US" dirty="0"/>
              <a:t>Pillars of OO Programming Paradigm:</a:t>
            </a:r>
          </a:p>
          <a:p>
            <a:pPr lvl="1"/>
            <a:r>
              <a:rPr lang="en-US" dirty="0"/>
              <a:t>Inheritance</a:t>
            </a:r>
          </a:p>
          <a:p>
            <a:pPr lvl="1"/>
            <a:r>
              <a:rPr lang="en-US" dirty="0"/>
              <a:t>Polymorphism</a:t>
            </a:r>
          </a:p>
          <a:p>
            <a:pPr lvl="1"/>
            <a:r>
              <a:rPr lang="en-US" b="1" dirty="0"/>
              <a:t>Data Abstraction</a:t>
            </a:r>
          </a:p>
          <a:p>
            <a:pPr lvl="1"/>
            <a:r>
              <a:rPr lang="en-US" dirty="0"/>
              <a:t>Encapsulation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4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charset="0"/>
              <a:buChar char="•"/>
              <a:defRPr/>
            </a:pPr>
            <a:r>
              <a:rPr lang="en-US" dirty="0"/>
              <a:t>Encapsulation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/>
              <a:t>Objects combine data and operations.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Inheritance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/>
              <a:t>Classes inherit properties from other classes.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Polymorphism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/>
              <a:t>Objects determine appropriate operations at execution time.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Abstraction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176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What is Abstraction???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Separate purpose of a module from its implementation</a:t>
            </a:r>
          </a:p>
          <a:p>
            <a:endParaRPr lang="en-US" dirty="0"/>
          </a:p>
          <a:p>
            <a:r>
              <a:rPr lang="en-US" dirty="0"/>
              <a:t>Specifications do not indicate how to implement </a:t>
            </a:r>
          </a:p>
          <a:p>
            <a:endParaRPr lang="en-US" dirty="0"/>
          </a:p>
          <a:p>
            <a:r>
              <a:rPr lang="en-US" dirty="0"/>
              <a:t>Able to use without knowing implementation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485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C++ Review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</p:spTree>
    <p:extLst>
      <p:ext uri="{BB962C8B-B14F-4D97-AF65-F5344CB8AC3E}">
        <p14:creationId xmlns:p14="http://schemas.microsoft.com/office/powerpoint/2010/main" val="3589926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Rectangle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width,height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public: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Rectangle(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int,int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area()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return width*height;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855197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Let’s look at another example:</a:t>
            </a:r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Rectangle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width,height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public: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Rectangle(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x,int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y);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area();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729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Ok – so when we first learned how to write a C++ program we put all of our code into a file with an extension of 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cpp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But before when we created the file we did not create something with the name class or wrap it in 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</a:p>
          <a:p>
            <a:pPr lvl="1"/>
            <a:r>
              <a:rPr lang="en-US" dirty="0"/>
              <a:t>No less the crazy semi-colon there at the end of the file…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883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5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18872" indent="0">
              <a:buNone/>
            </a:pPr>
            <a:endParaRPr lang="en-US" sz="5200" dirty="0">
              <a:solidFill>
                <a:srgbClr val="0070C0"/>
              </a:solidFill>
            </a:endParaRP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Rectangle 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5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width,height</a:t>
            </a: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public: 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Rectangle(); 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Rectangle(</a:t>
            </a:r>
            <a:r>
              <a:rPr lang="en-US" sz="5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w,int</a:t>
            </a: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h)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width = w;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height = h;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void </a:t>
            </a:r>
            <a:r>
              <a:rPr lang="en-US" sz="5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5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5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width*height;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 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118872" indent="0">
              <a:buNone/>
            </a:pPr>
            <a:endParaRPr lang="en-US" sz="52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5373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5C009-B189-4362-B3B7-7EA766D0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2118"/>
            <a:ext cx="8229600" cy="59737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9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68733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4154</TotalTime>
  <Words>629</Words>
  <Application>Microsoft Office PowerPoint</Application>
  <PresentationFormat>On-screen Show (4:3)</PresentationFormat>
  <Paragraphs>136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Lecture – 8/27/2025</vt:lpstr>
      <vt:lpstr>Course Information</vt:lpstr>
      <vt:lpstr>Syllabus</vt:lpstr>
      <vt:lpstr>Additional Resources</vt:lpstr>
      <vt:lpstr>Textbook</vt:lpstr>
      <vt:lpstr>What are we going to learn?</vt:lpstr>
      <vt:lpstr>What are we going to learn?</vt:lpstr>
      <vt:lpstr>Quiz #1</vt:lpstr>
      <vt:lpstr>What is Data Abstraction?</vt:lpstr>
      <vt:lpstr>Why is Data Abstraction Important?</vt:lpstr>
      <vt:lpstr>Object-Oriented Concepts</vt:lpstr>
      <vt:lpstr>Object-Oriented Concepts</vt:lpstr>
      <vt:lpstr>What is Abstraction???</vt:lpstr>
      <vt:lpstr>C++ Review</vt:lpstr>
      <vt:lpstr>C++ Review</vt:lpstr>
      <vt:lpstr>C++ Review</vt:lpstr>
      <vt:lpstr>Object-Oriented Programming</vt:lpstr>
      <vt:lpstr>C++ Review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Ryan Rybarczyk</cp:lastModifiedBy>
  <cp:revision>382</cp:revision>
  <dcterms:created xsi:type="dcterms:W3CDTF">2011-07-22T18:36:28Z</dcterms:created>
  <dcterms:modified xsi:type="dcterms:W3CDTF">2025-08-27T17:19:47Z</dcterms:modified>
</cp:coreProperties>
</file>