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314" r:id="rId2"/>
    <p:sldId id="341" r:id="rId3"/>
    <p:sldId id="373" r:id="rId4"/>
    <p:sldId id="590" r:id="rId5"/>
    <p:sldId id="439" r:id="rId6"/>
    <p:sldId id="440" r:id="rId7"/>
    <p:sldId id="441" r:id="rId8"/>
    <p:sldId id="442" r:id="rId9"/>
    <p:sldId id="443" r:id="rId10"/>
    <p:sldId id="444" r:id="rId11"/>
    <p:sldId id="445" r:id="rId12"/>
    <p:sldId id="446" r:id="rId13"/>
    <p:sldId id="33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>
      <p:cViewPr varScale="1">
        <p:scale>
          <a:sx n="154" d="100"/>
          <a:sy n="154" d="100"/>
        </p:scale>
        <p:origin x="1866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</a:t>
            </a:r>
            <a:r>
              <a:rPr lang="en-US"/>
              <a:t>– </a:t>
            </a:r>
            <a:r>
              <a:rPr lang="en-US" smtClean="0"/>
              <a:t>10/29/2025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artoon a cartoon of a person holding a sign in a pumpkin patch&#10;&#10;Description automatically generated">
            <a:extLst>
              <a:ext uri="{FF2B5EF4-FFF2-40B4-BE49-F238E27FC236}">
                <a16:creationId xmlns:a16="http://schemas.microsoft.com/office/drawing/2014/main" xmlns="" id="{9F09394F-6501-BDBC-10E1-3F994A201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94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#4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1556839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Linked List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Deletion/Removal</a:t>
            </a:r>
          </a:p>
        </p:txBody>
      </p:sp>
    </p:spTree>
    <p:extLst>
      <p:ext uri="{BB962C8B-B14F-4D97-AF65-F5344CB8AC3E}">
        <p14:creationId xmlns:p14="http://schemas.microsoft.com/office/powerpoint/2010/main" val="2908999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Trees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15</a:t>
            </a:r>
          </a:p>
        </p:txBody>
      </p:sp>
    </p:spTree>
    <p:extLst>
      <p:ext uri="{BB962C8B-B14F-4D97-AF65-F5344CB8AC3E}">
        <p14:creationId xmlns:p14="http://schemas.microsoft.com/office/powerpoint/2010/main" val="97016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Every Node in a binary tree can have </a:t>
            </a:r>
            <a:r>
              <a:rPr lang="en-US" b="1" u="sng" dirty="0"/>
              <a:t>at most </a:t>
            </a:r>
            <a:r>
              <a:rPr lang="en-US" dirty="0"/>
              <a:t>two children.</a:t>
            </a:r>
          </a:p>
          <a:p>
            <a:pPr lvl="1"/>
            <a:r>
              <a:rPr lang="en-US" dirty="0"/>
              <a:t>The two children of each node are called the Left Child  and Right Child corresponding to their positions within the tree.</a:t>
            </a:r>
          </a:p>
          <a:p>
            <a:endParaRPr lang="en-US" dirty="0"/>
          </a:p>
          <a:p>
            <a:r>
              <a:rPr lang="en-US" dirty="0"/>
              <a:t>A Node can have only a Left Child or only a Right Child or it can have no children at all.</a:t>
            </a:r>
          </a:p>
          <a:p>
            <a:pPr lvl="1"/>
            <a:r>
              <a:rPr lang="en-US" dirty="0"/>
              <a:t>The Left Child is always less than its parent.</a:t>
            </a:r>
          </a:p>
          <a:p>
            <a:pPr lvl="1"/>
            <a:r>
              <a:rPr lang="en-US" dirty="0"/>
              <a:t>The Right Child is greater than its parent.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686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Rules:</a:t>
            </a:r>
          </a:p>
          <a:p>
            <a:pPr lvl="1"/>
            <a:r>
              <a:rPr lang="en-US" dirty="0"/>
              <a:t>For each node N, a binary search tree satisfies the following three properties: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N’s value is greater than all values in its left subtree </a:t>
            </a:r>
            <a:r>
              <a:rPr lang="en-US" dirty="0" err="1"/>
              <a:t>T</a:t>
            </a:r>
            <a:r>
              <a:rPr lang="en-US" baseline="-25000" dirty="0" err="1"/>
              <a:t>left</a:t>
            </a:r>
            <a:endParaRPr lang="en-US" baseline="-250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N’s value is less than all values in its right subtree </a:t>
            </a:r>
            <a:r>
              <a:rPr lang="en-US" dirty="0" err="1"/>
              <a:t>T</a:t>
            </a:r>
            <a:r>
              <a:rPr lang="en-US" baseline="-25000" dirty="0" err="1"/>
              <a:t>right</a:t>
            </a:r>
            <a:endParaRPr lang="en-US" baseline="-25000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Both </a:t>
            </a:r>
            <a:r>
              <a:rPr lang="en-US" dirty="0" err="1"/>
              <a:t>T</a:t>
            </a:r>
            <a:r>
              <a:rPr lang="en-US" baseline="-25000" dirty="0" err="1"/>
              <a:t>left</a:t>
            </a:r>
            <a:r>
              <a:rPr lang="en-US" baseline="-25000" dirty="0"/>
              <a:t> </a:t>
            </a:r>
            <a:r>
              <a:rPr lang="en-US" dirty="0"/>
              <a:t>and </a:t>
            </a:r>
            <a:r>
              <a:rPr lang="en-US" dirty="0" err="1"/>
              <a:t>T</a:t>
            </a:r>
            <a:r>
              <a:rPr lang="en-US" baseline="-25000" dirty="0" err="1"/>
              <a:t>right</a:t>
            </a:r>
            <a:r>
              <a:rPr lang="en-US" dirty="0"/>
              <a:t> are binary search trees.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591662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 Binary Tree</a:t>
            </a:r>
          </a:p>
          <a:p>
            <a:pPr lvl="1"/>
            <a:r>
              <a:rPr lang="en-US" dirty="0"/>
              <a:t>Assume we have a tree of height h, all nodes that are at a level less than h have two children each.</a:t>
            </a:r>
          </a:p>
          <a:p>
            <a:pPr lvl="1"/>
            <a:endParaRPr lang="en-US" dirty="0"/>
          </a:p>
          <a:p>
            <a:r>
              <a:rPr lang="en-US" dirty="0"/>
              <a:t>Proof:</a:t>
            </a:r>
          </a:p>
          <a:p>
            <a:pPr lvl="1"/>
            <a:r>
              <a:rPr lang="en-US" dirty="0"/>
              <a:t>If T is empty, T is a full binary tree of height 0.</a:t>
            </a:r>
          </a:p>
          <a:p>
            <a:pPr lvl="1"/>
            <a:r>
              <a:rPr lang="en-US" dirty="0"/>
              <a:t>If T is not empty and has a height h &gt; 0, T is a full binary tree if its root’s subtrees are both full binary trees of height h - 1.</a:t>
            </a:r>
          </a:p>
        </p:txBody>
      </p:sp>
    </p:spTree>
    <p:extLst>
      <p:ext uri="{BB962C8B-B14F-4D97-AF65-F5344CB8AC3E}">
        <p14:creationId xmlns:p14="http://schemas.microsoft.com/office/powerpoint/2010/main" val="3808215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Full </a:t>
            </a:r>
            <a:r>
              <a:rPr lang="en-US"/>
              <a:t>Binary Tree</a:t>
            </a:r>
            <a:endParaRPr lang="en-US" dirty="0"/>
          </a:p>
          <a:p>
            <a:pPr lvl="1"/>
            <a:r>
              <a:rPr lang="en-US" dirty="0"/>
              <a:t>A full binary tree of height h ≥ 0 has 2</a:t>
            </a:r>
            <a:r>
              <a:rPr lang="en-US" baseline="30000" dirty="0"/>
              <a:t>h</a:t>
            </a:r>
            <a:r>
              <a:rPr lang="en-US" dirty="0"/>
              <a:t> -1 nodes.</a:t>
            </a:r>
          </a:p>
          <a:p>
            <a:pPr lvl="1"/>
            <a:r>
              <a:rPr lang="en-US" dirty="0"/>
              <a:t>You cannot add nodes to a full binary tree without increasing its height.</a:t>
            </a:r>
          </a:p>
          <a:p>
            <a:pPr lvl="2"/>
            <a:r>
              <a:rPr lang="en-US" dirty="0"/>
              <a:t>Why?</a:t>
            </a:r>
          </a:p>
          <a:p>
            <a:pPr lvl="1"/>
            <a:r>
              <a:rPr lang="en-US" dirty="0"/>
              <a:t>The maximum number of nodes that a binary tree of height h can have is 2</a:t>
            </a:r>
            <a:r>
              <a:rPr lang="en-US" baseline="30000" dirty="0"/>
              <a:t>h</a:t>
            </a:r>
            <a:r>
              <a:rPr lang="en-US" dirty="0"/>
              <a:t> -1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806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Complete Binary Tree</a:t>
            </a:r>
          </a:p>
          <a:p>
            <a:pPr lvl="1"/>
            <a:r>
              <a:rPr lang="en-US" dirty="0"/>
              <a:t>A binary tree that is full down to level h-1, with level h filled in from left to right.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All nodes at level h-2 and above have two children each.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a node at level h-1 has children, all nodes to its left at the same level have two children each.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a node at level h-1 has one child it is a left child.</a:t>
            </a:r>
          </a:p>
        </p:txBody>
      </p:sp>
    </p:spTree>
    <p:extLst>
      <p:ext uri="{BB962C8B-B14F-4D97-AF65-F5344CB8AC3E}">
        <p14:creationId xmlns:p14="http://schemas.microsoft.com/office/powerpoint/2010/main" val="1868201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Fully Balanced:</a:t>
            </a:r>
          </a:p>
          <a:p>
            <a:pPr lvl="1"/>
            <a:r>
              <a:rPr lang="en-US" dirty="0"/>
              <a:t>If the height of any node’s right subtree differs from the height of the node’s left subtree by no more than 1.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i="1" dirty="0"/>
              <a:t>Why is this important when it comes to trees?</a:t>
            </a:r>
          </a:p>
        </p:txBody>
      </p:sp>
    </p:spTree>
    <p:extLst>
      <p:ext uri="{BB962C8B-B14F-4D97-AF65-F5344CB8AC3E}">
        <p14:creationId xmlns:p14="http://schemas.microsoft.com/office/powerpoint/2010/main" val="4157440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Construction</a:t>
            </a:r>
          </a:p>
          <a:p>
            <a:pPr lvl="1"/>
            <a:r>
              <a:rPr lang="en-US" dirty="0"/>
              <a:t>Similar to our Doubly Linked List we created in Assignment #4.</a:t>
            </a:r>
          </a:p>
          <a:p>
            <a:pPr lvl="1"/>
            <a:r>
              <a:rPr lang="en-US" dirty="0"/>
              <a:t>Each Node will have a pointer to two children Nodes.</a:t>
            </a:r>
          </a:p>
          <a:p>
            <a:pPr lvl="2"/>
            <a:r>
              <a:rPr lang="en-US" dirty="0"/>
              <a:t>These nodes can have children of their own or they can be NULL values.</a:t>
            </a:r>
          </a:p>
          <a:p>
            <a:pPr lvl="3"/>
            <a:r>
              <a:rPr lang="en-US" dirty="0"/>
              <a:t>IF both children of a Node are pointing at the NULLPTR then we know we are dealing with a Leaf Node.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2530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330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</TotalTime>
  <Words>462</Words>
  <Application>Microsoft Office PowerPoint</Application>
  <PresentationFormat>On-screen Show (4:3)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Lecture – 10/29/2025</vt:lpstr>
      <vt:lpstr>PowerPoint Presentation</vt:lpstr>
      <vt:lpstr>Assignment #4</vt:lpstr>
      <vt:lpstr>Linked List</vt:lpstr>
      <vt:lpstr>Trees</vt:lpstr>
      <vt:lpstr>Binary Trees</vt:lpstr>
      <vt:lpstr>Binary Trees</vt:lpstr>
      <vt:lpstr>Binary Trees</vt:lpstr>
      <vt:lpstr>Binary Trees</vt:lpstr>
      <vt:lpstr>Binary Tree</vt:lpstr>
      <vt:lpstr>Binary Tree</vt:lpstr>
      <vt:lpstr>Binary Trees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545</cp:revision>
  <dcterms:created xsi:type="dcterms:W3CDTF">2011-07-22T18:36:28Z</dcterms:created>
  <dcterms:modified xsi:type="dcterms:W3CDTF">2025-10-28T01:15:02Z</dcterms:modified>
</cp:coreProperties>
</file>