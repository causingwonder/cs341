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578" r:id="rId2"/>
    <p:sldId id="582" r:id="rId3"/>
    <p:sldId id="317" r:id="rId4"/>
    <p:sldId id="584" r:id="rId5"/>
    <p:sldId id="580" r:id="rId6"/>
    <p:sldId id="58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192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7733C1-13B9-4107-8E58-DF2241557DAF}" type="doc">
      <dgm:prSet loTypeId="urn:microsoft.com/office/officeart/2005/8/layout/gear1" loCatId="cycle" qsTypeId="urn:microsoft.com/office/officeart/2005/8/quickstyle/3d9" qsCatId="3D" csTypeId="urn:microsoft.com/office/officeart/2005/8/colors/accent6_4" csCatId="accent6" phldr="1"/>
      <dgm:spPr/>
    </dgm:pt>
    <dgm:pt modelId="{C1916700-96B8-438E-885B-72EE4BB85725}" type="pres">
      <dgm:prSet presAssocID="{1D7733C1-13B9-4107-8E58-DF2241557DAF}" presName="composite" presStyleCnt="0">
        <dgm:presLayoutVars>
          <dgm:chMax val="3"/>
          <dgm:animLvl val="lvl"/>
          <dgm:resizeHandles val="exact"/>
        </dgm:presLayoutVars>
      </dgm:prSet>
      <dgm:spPr/>
    </dgm:pt>
  </dgm:ptLst>
  <dgm:cxnLst>
    <dgm:cxn modelId="{89B88993-5188-411F-9C03-FAAE3CF8F80B}" type="presOf" srcId="{1D7733C1-13B9-4107-8E58-DF2241557DAF}" destId="{C1916700-96B8-438E-885B-72EE4BB85725}" srcOrd="0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12/3/2025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13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F9A53F4-2E0F-46AE-9489-16088024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4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240356" y="227935"/>
          <a:ext cx="6528199" cy="4891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2817732" y="2113689"/>
            <a:ext cx="1433197" cy="328937"/>
          </a:xfrm>
          <a:prstGeom prst="rect">
            <a:avLst/>
          </a:prstGeom>
          <a:noFill/>
        </p:spPr>
        <p:txBody>
          <a:bodyPr wrap="square" lIns="51435" tIns="25718" rIns="51435" bIns="25718">
            <a:spAutoFit/>
          </a:bodyPr>
          <a:lstStyle/>
          <a:p>
            <a:pPr algn="ctr"/>
            <a:endParaRPr lang="en-US" b="1" dirty="0">
              <a:ln w="13462">
                <a:solidFill>
                  <a:schemeClr val="bg1"/>
                </a:solidFill>
                <a:prstDash val="solid"/>
              </a:ln>
              <a:solidFill>
                <a:srgbClr val="92D050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gency FB" panose="020B05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13" y="946404"/>
            <a:ext cx="8966347" cy="4992647"/>
          </a:xfrm>
          <a:prstGeom prst="rect">
            <a:avLst/>
          </a:prstGeom>
        </p:spPr>
      </p:pic>
      <p:sp>
        <p:nvSpPr>
          <p:cNvPr id="7" name="Bevel 6"/>
          <p:cNvSpPr/>
          <p:nvPr/>
        </p:nvSpPr>
        <p:spPr>
          <a:xfrm>
            <a:off x="535278" y="2275263"/>
            <a:ext cx="8139479" cy="3057694"/>
          </a:xfrm>
          <a:prstGeom prst="bevel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/>
            <a:endParaRPr lang="en-US" sz="1650" b="1" dirty="0">
              <a:solidFill>
                <a:schemeClr val="bg1"/>
              </a:solidFill>
              <a:latin typeface="Agency FB"/>
              <a:ea typeface="+mn-lt"/>
              <a:cs typeface="+mn-lt"/>
            </a:endParaRPr>
          </a:p>
          <a:p>
            <a:pPr algn="ctr"/>
            <a:endParaRPr lang="en-US" sz="1650" b="1" dirty="0">
              <a:solidFill>
                <a:schemeClr val="bg1"/>
              </a:solidFill>
              <a:latin typeface="Agency FB"/>
              <a:ea typeface="+mn-lt"/>
              <a:cs typeface="+mn-lt"/>
            </a:endParaRPr>
          </a:p>
          <a:p>
            <a:pPr algn="ctr"/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Please join us </a:t>
            </a:r>
            <a:r>
              <a:rPr lang="en-US" sz="1650" b="1" dirty="0">
                <a:solidFill>
                  <a:schemeClr val="accent4"/>
                </a:solidFill>
                <a:latin typeface="Agency FB"/>
                <a:ea typeface="+mn-lt"/>
                <a:cs typeface="+mn-lt"/>
              </a:rPr>
              <a:t>Friday December 12</a:t>
            </a:r>
            <a:r>
              <a:rPr lang="en-US" sz="1650" b="1" baseline="30000" dirty="0">
                <a:solidFill>
                  <a:schemeClr val="accent4"/>
                </a:solidFill>
                <a:latin typeface="Agency FB"/>
                <a:ea typeface="+mn-lt"/>
                <a:cs typeface="+mn-lt"/>
              </a:rPr>
              <a:t>th</a:t>
            </a:r>
            <a:r>
              <a:rPr lang="en-US" sz="1650" b="1" dirty="0">
                <a:solidFill>
                  <a:schemeClr val="accent4"/>
                </a:solidFill>
                <a:latin typeface="Agency FB"/>
                <a:ea typeface="+mn-lt"/>
                <a:cs typeface="+mn-lt"/>
              </a:rPr>
              <a:t> </a:t>
            </a:r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from</a:t>
            </a:r>
            <a:r>
              <a:rPr lang="en-US" sz="1650" b="1" dirty="0">
                <a:solidFill>
                  <a:schemeClr val="accent4"/>
                </a:solidFill>
                <a:latin typeface="Agency FB"/>
                <a:ea typeface="+mn-lt"/>
                <a:cs typeface="+mn-lt"/>
              </a:rPr>
              <a:t> 7:00 PM - ???? </a:t>
            </a:r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in</a:t>
            </a:r>
            <a:r>
              <a:rPr lang="en-US" sz="1650" b="1" dirty="0">
                <a:solidFill>
                  <a:schemeClr val="accent4"/>
                </a:solidFill>
                <a:latin typeface="Agency FB"/>
                <a:ea typeface="+mn-lt"/>
                <a:cs typeface="+mn-lt"/>
              </a:rPr>
              <a:t> JH 174</a:t>
            </a:r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 as we celebrate the end of the Fall semester with a Code Jam. Now you may be asking yourself what is a Code Jam? The simple answer is AWESOME fun…the longer answer is an evening spent with peers/friends writing code, getting help on end of semester assignments and projects, and socializing. Dr. R. along with other faculty/staff will be present during the fun evening. Now the good stuff - I will be providing free pizza (I only buy the good stuff, </a:t>
            </a:r>
            <a:r>
              <a:rPr lang="en-US" sz="1650" b="1" dirty="0" err="1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Bazbeauxs</a:t>
            </a:r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) at the event -- (shameless plug that the ACM Student chapter is selling pop in the fridge)…</a:t>
            </a:r>
            <a:r>
              <a:rPr lang="en-US" sz="1650" b="1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AND will be offering </a:t>
            </a:r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free helpful assistance on any and all work (although pizza sounds better) for the duration of the event. Come stay for a little or the whole evening – all our welcome!</a:t>
            </a:r>
          </a:p>
          <a:p>
            <a:pPr algn="ctr"/>
            <a:endParaRPr lang="en-US" sz="1650" b="1" dirty="0">
              <a:solidFill>
                <a:schemeClr val="bg1"/>
              </a:solidFill>
              <a:latin typeface="Agency FB"/>
              <a:ea typeface="+mn-lt"/>
              <a:cs typeface="+mn-lt"/>
            </a:endParaRPr>
          </a:p>
          <a:p>
            <a:pPr algn="ctr"/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**</a:t>
            </a:r>
            <a:r>
              <a:rPr lang="en-US" sz="1650" b="1" dirty="0">
                <a:solidFill>
                  <a:schemeClr val="bg1"/>
                </a:solidFill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using namespace </a:t>
            </a:r>
            <a:r>
              <a:rPr lang="en-US" sz="1650" b="1" dirty="0" err="1">
                <a:solidFill>
                  <a:schemeClr val="bg1"/>
                </a:solidFill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std</a:t>
            </a:r>
            <a:r>
              <a:rPr lang="en-US" sz="1650" b="1" dirty="0">
                <a:solidFill>
                  <a:schemeClr val="bg1"/>
                </a:solidFill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;</a:t>
            </a:r>
            <a:r>
              <a:rPr lang="en-US" sz="1650" b="1" dirty="0">
                <a:solidFill>
                  <a:schemeClr val="bg1"/>
                </a:solidFill>
                <a:latin typeface="Agency FB"/>
                <a:ea typeface="+mn-lt"/>
                <a:cs typeface="+mn-lt"/>
              </a:rPr>
              <a:t> was NOT used in the making of this flier**</a:t>
            </a:r>
            <a:endParaRPr lang="en-US" sz="1650" b="1" dirty="0">
              <a:solidFill>
                <a:schemeClr val="bg1"/>
              </a:solidFill>
              <a:latin typeface="Agency FB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30979" y="1380792"/>
            <a:ext cx="4548076" cy="81368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51435" tIns="25718" rIns="51435" bIns="25718">
            <a:spAutoFit/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950" b="1" dirty="0">
                <a:ln/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CSSE Code Jam</a:t>
            </a:r>
          </a:p>
        </p:txBody>
      </p:sp>
    </p:spTree>
    <p:extLst>
      <p:ext uri="{BB962C8B-B14F-4D97-AF65-F5344CB8AC3E}">
        <p14:creationId xmlns:p14="http://schemas.microsoft.com/office/powerpoint/2010/main" val="54891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Course Evaluations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Class Climate</a:t>
            </a:r>
          </a:p>
        </p:txBody>
      </p:sp>
    </p:spTree>
    <p:extLst>
      <p:ext uri="{BB962C8B-B14F-4D97-AF65-F5344CB8AC3E}">
        <p14:creationId xmlns:p14="http://schemas.microsoft.com/office/powerpoint/2010/main" val="356318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BAD1C7C2-CCCE-46E3-8DBA-75C2A5EB5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D858483-8377-4AAE-B8DD-013C10ACF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05911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BE52595C-0433-4575-AB5C-4629200BF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CCCE7A1-52AD-4040-AC17-B81A8E21D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Examples</a:t>
            </a:r>
          </a:p>
        </p:txBody>
      </p:sp>
    </p:spTree>
    <p:extLst>
      <p:ext uri="{BB962C8B-B14F-4D97-AF65-F5344CB8AC3E}">
        <p14:creationId xmlns:p14="http://schemas.microsoft.com/office/powerpoint/2010/main" val="2308848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6452</TotalTime>
  <Words>204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Agency FB</vt:lpstr>
      <vt:lpstr>Arial</vt:lpstr>
      <vt:lpstr>Calibri</vt:lpstr>
      <vt:lpstr>Courier New</vt:lpstr>
      <vt:lpstr>Office Theme</vt:lpstr>
      <vt:lpstr>Lecture – 12/3/2025</vt:lpstr>
      <vt:lpstr>PowerPoint Presentation</vt:lpstr>
      <vt:lpstr>PowerPoint Presentation</vt:lpstr>
      <vt:lpstr>Course Evaluations</vt:lpstr>
      <vt:lpstr>Assignment #6</vt:lpstr>
      <vt:lpstr>Hashing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588</cp:revision>
  <dcterms:created xsi:type="dcterms:W3CDTF">2011-07-22T18:36:28Z</dcterms:created>
  <dcterms:modified xsi:type="dcterms:W3CDTF">2025-12-03T03:14:39Z</dcterms:modified>
</cp:coreProperties>
</file>