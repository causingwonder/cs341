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3"/>
  </p:notesMasterIdLst>
  <p:sldIdLst>
    <p:sldId id="314" r:id="rId2"/>
    <p:sldId id="463" r:id="rId3"/>
    <p:sldId id="506" r:id="rId4"/>
    <p:sldId id="507" r:id="rId5"/>
    <p:sldId id="508" r:id="rId6"/>
    <p:sldId id="509" r:id="rId7"/>
    <p:sldId id="510" r:id="rId8"/>
    <p:sldId id="512" r:id="rId9"/>
    <p:sldId id="513" r:id="rId10"/>
    <p:sldId id="514" r:id="rId11"/>
    <p:sldId id="479" r:id="rId12"/>
    <p:sldId id="480" r:id="rId13"/>
    <p:sldId id="481" r:id="rId14"/>
    <p:sldId id="482" r:id="rId15"/>
    <p:sldId id="483" r:id="rId16"/>
    <p:sldId id="484" r:id="rId17"/>
    <p:sldId id="485" r:id="rId18"/>
    <p:sldId id="486" r:id="rId19"/>
    <p:sldId id="487" r:id="rId20"/>
    <p:sldId id="488" r:id="rId21"/>
    <p:sldId id="489" r:id="rId22"/>
    <p:sldId id="490" r:id="rId23"/>
    <p:sldId id="491" r:id="rId24"/>
    <p:sldId id="492" r:id="rId25"/>
    <p:sldId id="493" r:id="rId26"/>
    <p:sldId id="494" r:id="rId27"/>
    <p:sldId id="495" r:id="rId28"/>
    <p:sldId id="496" r:id="rId29"/>
    <p:sldId id="497" r:id="rId30"/>
    <p:sldId id="498" r:id="rId31"/>
    <p:sldId id="499" r:id="rId32"/>
    <p:sldId id="500" r:id="rId33"/>
    <p:sldId id="501" r:id="rId34"/>
    <p:sldId id="502" r:id="rId35"/>
    <p:sldId id="503" r:id="rId36"/>
    <p:sldId id="504" r:id="rId37"/>
    <p:sldId id="464" r:id="rId38"/>
    <p:sldId id="465" r:id="rId39"/>
    <p:sldId id="466" r:id="rId40"/>
    <p:sldId id="467" r:id="rId41"/>
    <p:sldId id="468" r:id="rId42"/>
    <p:sldId id="469" r:id="rId43"/>
    <p:sldId id="470" r:id="rId44"/>
    <p:sldId id="471" r:id="rId45"/>
    <p:sldId id="472" r:id="rId46"/>
    <p:sldId id="473" r:id="rId47"/>
    <p:sldId id="474" r:id="rId48"/>
    <p:sldId id="475" r:id="rId49"/>
    <p:sldId id="476" r:id="rId50"/>
    <p:sldId id="477" r:id="rId51"/>
    <p:sldId id="505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>
      <p:cViewPr varScale="1">
        <p:scale>
          <a:sx n="154" d="100"/>
          <a:sy n="154" d="100"/>
        </p:scale>
        <p:origin x="186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11/10/2025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#5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10102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19</a:t>
            </a:r>
          </a:p>
        </p:txBody>
      </p:sp>
    </p:spTree>
    <p:extLst>
      <p:ext uri="{BB962C8B-B14F-4D97-AF65-F5344CB8AC3E}">
        <p14:creationId xmlns:p14="http://schemas.microsoft.com/office/powerpoint/2010/main" val="2621729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type of balanced Binary Search Tree (BST).</a:t>
            </a:r>
          </a:p>
          <a:p>
            <a:pPr lvl="1"/>
            <a:r>
              <a:rPr lang="en-US" dirty="0"/>
              <a:t>We have been using this idea of balance previously when introducing BST.</a:t>
            </a:r>
          </a:p>
          <a:p>
            <a:pPr lvl="1"/>
            <a:r>
              <a:rPr lang="en-US" dirty="0"/>
              <a:t>All the same properties </a:t>
            </a:r>
            <a:r>
              <a:rPr lang="en-US"/>
              <a:t>of BST hold here.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Each Node has a color – either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or BLACK – which helps to maintain balance within the tree hierarchy.</a:t>
            </a:r>
          </a:p>
          <a:p>
            <a:endParaRPr lang="en-US" dirty="0"/>
          </a:p>
          <a:p>
            <a:r>
              <a:rPr lang="en-US" dirty="0"/>
              <a:t>This balance ensures efficient tree operations.</a:t>
            </a:r>
          </a:p>
        </p:txBody>
      </p:sp>
    </p:spTree>
    <p:extLst>
      <p:ext uri="{BB962C8B-B14F-4D97-AF65-F5344CB8AC3E}">
        <p14:creationId xmlns:p14="http://schemas.microsoft.com/office/powerpoint/2010/main" val="31287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Binary Search Tree operations take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O(h) </a:t>
            </a:r>
            <a:r>
              <a:rPr lang="en-US" dirty="0"/>
              <a:t>time – 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dirty="0"/>
              <a:t> is the height of the tree.</a:t>
            </a:r>
          </a:p>
          <a:p>
            <a:endParaRPr lang="en-US" dirty="0"/>
          </a:p>
          <a:p>
            <a:r>
              <a:rPr lang="en-US" dirty="0"/>
              <a:t>This can quickly become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O(n)</a:t>
            </a:r>
            <a:r>
              <a:rPr lang="en-US" dirty="0"/>
              <a:t> if the tree is unbalanced.</a:t>
            </a:r>
          </a:p>
          <a:p>
            <a:pPr lvl="1"/>
            <a:r>
              <a:rPr lang="en-US" dirty="0"/>
              <a:t>We would obviously desire a much better upper bound for our tree operations.</a:t>
            </a:r>
          </a:p>
        </p:txBody>
      </p:sp>
    </p:spTree>
    <p:extLst>
      <p:ext uri="{BB962C8B-B14F-4D97-AF65-F5344CB8AC3E}">
        <p14:creationId xmlns:p14="http://schemas.microsoft.com/office/powerpoint/2010/main" val="344025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Balance is important as it allows for “optimal” search/insertion/deletion times within the tree.</a:t>
            </a:r>
          </a:p>
          <a:p>
            <a:pPr lvl="1"/>
            <a:r>
              <a:rPr lang="en-US" dirty="0"/>
              <a:t>Unbalanced Trees can have time worse than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 N</a:t>
            </a:r>
            <a:r>
              <a:rPr lang="en-US" dirty="0"/>
              <a:t> for basic tree operations.</a:t>
            </a:r>
          </a:p>
          <a:p>
            <a:pPr lvl="1"/>
            <a:endParaRPr lang="en-US" dirty="0"/>
          </a:p>
          <a:p>
            <a:r>
              <a:rPr lang="en-US" i="1" dirty="0"/>
              <a:t>If we desire the optimal time for our tree is there a way we can ensure that the tree is always kept in a balanced state? </a:t>
            </a:r>
          </a:p>
        </p:txBody>
      </p:sp>
    </p:spTree>
    <p:extLst>
      <p:ext uri="{BB962C8B-B14F-4D97-AF65-F5344CB8AC3E}">
        <p14:creationId xmlns:p14="http://schemas.microsoft.com/office/powerpoint/2010/main" val="1547693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Rules: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 Red-Black Tree must be a type of Binary Search Tree.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root of the entire tree is Black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Node when inserted begins as a Red Node.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a Node is Red then its Children must be Black.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path from a Node 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 must contain the same number of Black Nodes.</a:t>
            </a:r>
          </a:p>
          <a:p>
            <a:pPr marL="1371600" lvl="2" indent="-514350"/>
            <a:r>
              <a:rPr lang="en-US" dirty="0"/>
              <a:t>This ensures that the tree will remain balanced.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leaf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) must be Black.</a:t>
            </a:r>
          </a:p>
        </p:txBody>
      </p:sp>
    </p:spTree>
    <p:extLst>
      <p:ext uri="{BB962C8B-B14F-4D97-AF65-F5344CB8AC3E}">
        <p14:creationId xmlns:p14="http://schemas.microsoft.com/office/powerpoint/2010/main" val="1848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begin by inserting a </a:t>
            </a:r>
            <a:r>
              <a:rPr lang="en-US" dirty="0" err="1"/>
              <a:t>TreeNode</a:t>
            </a:r>
            <a:r>
              <a:rPr lang="en-US" dirty="0"/>
              <a:t> into our Red-Black Tree.</a:t>
            </a:r>
          </a:p>
          <a:p>
            <a:pPr lvl="1"/>
            <a:r>
              <a:rPr lang="en-US" dirty="0"/>
              <a:t>The RB Tree is initially empty and thus our root is pointing at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When we insert ANY </a:t>
            </a:r>
            <a:r>
              <a:rPr lang="en-US" dirty="0" err="1"/>
              <a:t>TreeNode</a:t>
            </a:r>
            <a:r>
              <a:rPr lang="en-US" dirty="0"/>
              <a:t> into our RB Tree we need to set it initial color to RED.</a:t>
            </a:r>
          </a:p>
          <a:p>
            <a:pPr lvl="1"/>
            <a:r>
              <a:rPr lang="en-US" dirty="0"/>
              <a:t>Property #3</a:t>
            </a:r>
          </a:p>
        </p:txBody>
      </p:sp>
    </p:spTree>
    <p:extLst>
      <p:ext uri="{BB962C8B-B14F-4D97-AF65-F5344CB8AC3E}">
        <p14:creationId xmlns:p14="http://schemas.microsoft.com/office/powerpoint/2010/main" val="644826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RB is empty – as it should be on the initial input – we need to set the root pointer to the new </a:t>
            </a:r>
            <a:r>
              <a:rPr lang="en-US" dirty="0" err="1"/>
              <a:t>TreeNode</a:t>
            </a:r>
            <a:r>
              <a:rPr lang="en-US" dirty="0"/>
              <a:t> and change its color from RED to BLACK.</a:t>
            </a:r>
          </a:p>
          <a:p>
            <a:pPr lvl="1"/>
            <a:r>
              <a:rPr lang="en-US" dirty="0"/>
              <a:t>Property #2</a:t>
            </a:r>
          </a:p>
          <a:p>
            <a:pPr lvl="1"/>
            <a:endParaRPr lang="en-US" dirty="0"/>
          </a:p>
          <a:p>
            <a:r>
              <a:rPr lang="en-US" dirty="0"/>
              <a:t>Now that we have a RB Tree started we can start inserting additional </a:t>
            </a:r>
            <a:r>
              <a:rPr lang="en-US" dirty="0" err="1"/>
              <a:t>TreeNodes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49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Now when we insert a second </a:t>
            </a:r>
            <a:r>
              <a:rPr lang="en-US" dirty="0" err="1"/>
              <a:t>TreeNode</a:t>
            </a:r>
            <a:r>
              <a:rPr lang="en-US" dirty="0"/>
              <a:t> we will begin by inserting it as a leaf Node within the Tree.</a:t>
            </a:r>
          </a:p>
          <a:p>
            <a:pPr lvl="1"/>
            <a:r>
              <a:rPr lang="en-US" dirty="0"/>
              <a:t>It’s color will still be RED – it does not violate Property #6 because the children of this new Node are Black.</a:t>
            </a:r>
          </a:p>
          <a:p>
            <a:pPr lvl="2"/>
            <a:endParaRPr lang="en-US" dirty="0"/>
          </a:p>
          <a:p>
            <a:r>
              <a:rPr lang="en-US" dirty="0"/>
              <a:t>We need to examine whether it belongs in the left or right subtree.</a:t>
            </a:r>
          </a:p>
          <a:p>
            <a:pPr lvl="1"/>
            <a:r>
              <a:rPr lang="en-US" dirty="0"/>
              <a:t>If it is greater than the root it belongs in the right subtree.</a:t>
            </a:r>
          </a:p>
          <a:p>
            <a:pPr lvl="1"/>
            <a:r>
              <a:rPr lang="en-US" dirty="0"/>
              <a:t>If it is less than the root it belongs in the left subtree.</a:t>
            </a:r>
          </a:p>
        </p:txBody>
      </p:sp>
    </p:spTree>
    <p:extLst>
      <p:ext uri="{BB962C8B-B14F-4D97-AF65-F5344CB8AC3E}">
        <p14:creationId xmlns:p14="http://schemas.microsoft.com/office/powerpoint/2010/main" val="701314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Let’s assume that our root is the integer 7 and we are trying to insert the data value 15 into our tree.</a:t>
            </a:r>
          </a:p>
          <a:p>
            <a:pPr lvl="1"/>
            <a:r>
              <a:rPr lang="en-US" dirty="0"/>
              <a:t>We know that by the rules of a Binary Search Tree that the value 15 belongs in the right subtree.</a:t>
            </a:r>
          </a:p>
          <a:p>
            <a:pPr lvl="1"/>
            <a:endParaRPr lang="en-US" dirty="0"/>
          </a:p>
          <a:p>
            <a:r>
              <a:rPr lang="en-US" dirty="0"/>
              <a:t>At this we can insert our third value 4.</a:t>
            </a:r>
          </a:p>
          <a:p>
            <a:pPr lvl="1"/>
            <a:r>
              <a:rPr lang="en-US" dirty="0"/>
              <a:t>4 is less than 7 (our root) so we can insert it into our left subtree of 7.</a:t>
            </a:r>
          </a:p>
          <a:p>
            <a:pPr lvl="2"/>
            <a:r>
              <a:rPr lang="en-US" dirty="0"/>
              <a:t>Are all our properties still holding?</a:t>
            </a:r>
          </a:p>
        </p:txBody>
      </p:sp>
    </p:spTree>
    <p:extLst>
      <p:ext uri="{BB962C8B-B14F-4D97-AF65-F5344CB8AC3E}">
        <p14:creationId xmlns:p14="http://schemas.microsoft.com/office/powerpoint/2010/main" val="1516216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2743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962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962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34290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34290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5583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try to throw a wrench into things and add the number 10.</a:t>
            </a:r>
          </a:p>
          <a:p>
            <a:pPr lvl="1"/>
            <a:r>
              <a:rPr lang="en-US" dirty="0"/>
              <a:t>Now 10 is greater than 7 so we know it is going to be in the right subtree of 7 but it is less than 15, meaning that it will be in 15’s left subtree.</a:t>
            </a:r>
          </a:p>
          <a:p>
            <a:pPr lvl="1"/>
            <a:endParaRPr lang="en-US" dirty="0"/>
          </a:p>
          <a:p>
            <a:r>
              <a:rPr lang="en-US" dirty="0"/>
              <a:t>Remember that when we insert this node we need to start with its color Red – which we know is going to create a further headache…</a:t>
            </a:r>
          </a:p>
        </p:txBody>
      </p:sp>
    </p:spTree>
    <p:extLst>
      <p:ext uri="{BB962C8B-B14F-4D97-AF65-F5344CB8AC3E}">
        <p14:creationId xmlns:p14="http://schemas.microsoft.com/office/powerpoint/2010/main" val="1457931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we insert 10 into our tree – everything goes well until we realize that 10 is colored Red and 15 is colored Red.</a:t>
            </a:r>
          </a:p>
          <a:p>
            <a:pPr lvl="1"/>
            <a:r>
              <a:rPr lang="en-US" dirty="0"/>
              <a:t>This violates a couple of our properties as we not only have two consecutive Red nodes in the tree but we also two adjacent nodes that are Red within our Tree.</a:t>
            </a:r>
          </a:p>
          <a:p>
            <a:pPr lvl="1"/>
            <a:endParaRPr lang="en-US" dirty="0"/>
          </a:p>
          <a:p>
            <a:r>
              <a:rPr lang="en-US" dirty="0"/>
              <a:t>We are going to need to do some recoloring to take care of this problem.</a:t>
            </a:r>
          </a:p>
        </p:txBody>
      </p:sp>
    </p:spTree>
    <p:extLst>
      <p:ext uri="{BB962C8B-B14F-4D97-AF65-F5344CB8AC3E}">
        <p14:creationId xmlns:p14="http://schemas.microsoft.com/office/powerpoint/2010/main" val="3138896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5583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Now we can’t just recolor the 15 because then that violates our Property #5</a:t>
            </a:r>
          </a:p>
          <a:p>
            <a:pPr lvl="1"/>
            <a:r>
              <a:rPr lang="en-US" dirty="0"/>
              <a:t>Because the left subtree of 7 would have fewer Black nodes than the right subtree.</a:t>
            </a:r>
          </a:p>
          <a:p>
            <a:pPr lvl="1"/>
            <a:endParaRPr lang="en-US" dirty="0"/>
          </a:p>
          <a:p>
            <a:r>
              <a:rPr lang="en-US" dirty="0"/>
              <a:t>We actually need to recolor both the 4 and the 15 in order to maintain not only balance but also proper coloring.</a:t>
            </a:r>
          </a:p>
          <a:p>
            <a:pPr lvl="1"/>
            <a:r>
              <a:rPr lang="en-US" dirty="0"/>
              <a:t>Black Nodes: 4, 7, 15</a:t>
            </a:r>
          </a:p>
          <a:p>
            <a:pPr lvl="1"/>
            <a:r>
              <a:rPr lang="en-US"/>
              <a:t>Red Nodes: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831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9827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Now let’s throw in some total chaos just to make things interesting. </a:t>
            </a:r>
          </a:p>
          <a:p>
            <a:pPr lvl="1"/>
            <a:r>
              <a:rPr lang="en-US" dirty="0"/>
              <a:t>We will insert 13.</a:t>
            </a:r>
          </a:p>
          <a:p>
            <a:pPr lvl="1"/>
            <a:endParaRPr lang="en-US" dirty="0"/>
          </a:p>
          <a:p>
            <a:r>
              <a:rPr lang="en-US" dirty="0"/>
              <a:t>Now we know that 13 will go in the right subtree of 7 and the left subtree of 15 but the right subtree of 10.</a:t>
            </a:r>
          </a:p>
          <a:p>
            <a:pPr lvl="1"/>
            <a:r>
              <a:rPr lang="en-US" dirty="0"/>
              <a:t>By rules of insertion though we now have two consecutive RED nodes which is a violation.</a:t>
            </a:r>
          </a:p>
        </p:txBody>
      </p:sp>
    </p:spTree>
    <p:extLst>
      <p:ext uri="{BB962C8B-B14F-4D97-AF65-F5344CB8AC3E}">
        <p14:creationId xmlns:p14="http://schemas.microsoft.com/office/powerpoint/2010/main" val="1312857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257800" y="55626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cxnSp>
        <p:nvCxnSpPr>
          <p:cNvPr id="15" name="Straight Connector 14"/>
          <p:cNvCxnSpPr>
            <a:stCxn id="7" idx="4"/>
            <a:endCxn id="13" idx="0"/>
          </p:cNvCxnSpPr>
          <p:nvPr/>
        </p:nvCxnSpPr>
        <p:spPr>
          <a:xfrm>
            <a:off x="5143500" y="50292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4307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need to perform a Left Rotation to attempt to resolve this situation.</a:t>
            </a:r>
          </a:p>
          <a:p>
            <a:endParaRPr lang="en-US" dirty="0"/>
          </a:p>
          <a:p>
            <a:r>
              <a:rPr lang="en-US" dirty="0"/>
              <a:t>We need rotate the 13 into a position where it goes from the child of 10 to the parent of 10…and also is now linked to the 15 as its child.</a:t>
            </a:r>
          </a:p>
          <a:p>
            <a:pPr lvl="1"/>
            <a:r>
              <a:rPr lang="en-US" dirty="0"/>
              <a:t>When we do this we are still in violation because we STILL have two consecutive RED nodes.</a:t>
            </a:r>
          </a:p>
        </p:txBody>
      </p:sp>
    </p:spTree>
    <p:extLst>
      <p:ext uri="{BB962C8B-B14F-4D97-AF65-F5344CB8AC3E}">
        <p14:creationId xmlns:p14="http://schemas.microsoft.com/office/powerpoint/2010/main" val="3017315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Left Rotation:</a:t>
            </a:r>
          </a:p>
          <a:p>
            <a:pPr lvl="1"/>
            <a:r>
              <a:rPr lang="en-US" dirty="0"/>
              <a:t>Repositions the Node y as the root of the subtree.</a:t>
            </a:r>
          </a:p>
          <a:p>
            <a:pPr lvl="1"/>
            <a:r>
              <a:rPr lang="en-US" dirty="0"/>
              <a:t>Assumes the right child of Node x is not the </a:t>
            </a:r>
            <a:r>
              <a:rPr lang="en-US" dirty="0" err="1"/>
              <a:t>nullptr</a:t>
            </a:r>
            <a:r>
              <a:rPr lang="en-US" dirty="0"/>
              <a:t>.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214438" y="1860550"/>
            <a:ext cx="6862762" cy="2406650"/>
            <a:chOff x="606" y="2738"/>
            <a:chExt cx="4323" cy="1516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2738"/>
              <a:ext cx="4323" cy="15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888" y="3445"/>
              <a:ext cx="1701" cy="5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7800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72000" y="55626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5" name="Straight Connector 14"/>
          <p:cNvCxnSpPr>
            <a:stCxn id="7" idx="4"/>
            <a:endCxn id="13" idx="0"/>
          </p:cNvCxnSpPr>
          <p:nvPr/>
        </p:nvCxnSpPr>
        <p:spPr>
          <a:xfrm flipH="1">
            <a:off x="4914900" y="5029200"/>
            <a:ext cx="2286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4116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need to perform a further rotation – this time executing a Right Rotation in order to not only balance our Tree but also perform a recoloring to ensure that we adhere to all the properties of RB Trees.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We had to go through the Left Rotation first in order to put ourselves in position to adhere to the rules of Binary Search Trees.</a:t>
            </a:r>
          </a:p>
        </p:txBody>
      </p:sp>
    </p:spTree>
    <p:extLst>
      <p:ext uri="{BB962C8B-B14F-4D97-AF65-F5344CB8AC3E}">
        <p14:creationId xmlns:p14="http://schemas.microsoft.com/office/powerpoint/2010/main" val="4125140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Right Rotation:</a:t>
            </a:r>
          </a:p>
          <a:p>
            <a:pPr lvl="1"/>
            <a:r>
              <a:rPr lang="en-US" dirty="0"/>
              <a:t>Repositions the Node x as the root of the subtree.</a:t>
            </a:r>
          </a:p>
          <a:p>
            <a:pPr lvl="1"/>
            <a:r>
              <a:rPr lang="en-US" dirty="0"/>
              <a:t>Assumes that the left child of Node y is not the </a:t>
            </a:r>
            <a:r>
              <a:rPr lang="en-US" dirty="0" err="1"/>
              <a:t>nullptr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1828800"/>
            <a:ext cx="1887538" cy="1979612"/>
          </a:xfrm>
          <a:prstGeom prst="rect">
            <a:avLst/>
          </a:prstGeom>
          <a:noFill/>
          <a:ln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22663" y="2657475"/>
            <a:ext cx="2278062" cy="290512"/>
          </a:xfrm>
          <a:prstGeom prst="rect">
            <a:avLst/>
          </a:prstGeom>
          <a:noFill/>
          <a:ln/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75" y="1876425"/>
            <a:ext cx="1785938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427287"/>
            <a:ext cx="2087563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3298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order to perform a Right Rotation of our Tree we need to rotate our 13 to be the new parent node of BOTH our 15 and our 10. </a:t>
            </a:r>
          </a:p>
          <a:p>
            <a:endParaRPr lang="en-US" dirty="0"/>
          </a:p>
          <a:p>
            <a:r>
              <a:rPr lang="en-US" dirty="0"/>
              <a:t>The 13 is now the right child of the 7 which is our root node.</a:t>
            </a:r>
          </a:p>
          <a:p>
            <a:endParaRPr lang="en-US" dirty="0"/>
          </a:p>
          <a:p>
            <a:r>
              <a:rPr lang="en-US" dirty="0"/>
              <a:t>We need to recolor our nodes such that our 13 is colored BLACK and our 15 is now colored RED.</a:t>
            </a:r>
          </a:p>
        </p:txBody>
      </p:sp>
    </p:spTree>
    <p:extLst>
      <p:ext uri="{BB962C8B-B14F-4D97-AF65-F5344CB8AC3E}">
        <p14:creationId xmlns:p14="http://schemas.microsoft.com/office/powerpoint/2010/main" val="1349112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Oval 3"/>
          <p:cNvSpPr/>
          <p:nvPr/>
        </p:nvSpPr>
        <p:spPr>
          <a:xfrm>
            <a:off x="3733800" y="2286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667000" y="3505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4953000" y="3505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4191000" y="48768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5791200" y="4869024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009900" y="2971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076700" y="2971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4533900" y="4191000"/>
            <a:ext cx="762000" cy="685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>
            <a:off x="5295900" y="4191000"/>
            <a:ext cx="838200" cy="6780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265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have now completed our insertions and we can note that not only have we maintained all of the properties of a Red-Black Tree in terms of coloring but we have also inserted and adjusted such that the tree is balanced.</a:t>
            </a:r>
          </a:p>
          <a:p>
            <a:endParaRPr lang="en-US" dirty="0"/>
          </a:p>
          <a:p>
            <a:r>
              <a:rPr lang="en-US" dirty="0"/>
              <a:t>We can now traverse the tree and find in an efficient manner and find/discover the color of each respective </a:t>
            </a:r>
            <a:r>
              <a:rPr lang="en-US" dirty="0" err="1"/>
              <a:t>TreeNode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821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the Tree look like after inserting 17?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does the Tree look like after inserting 17, 14, 16?</a:t>
            </a:r>
          </a:p>
        </p:txBody>
      </p:sp>
    </p:spTree>
    <p:extLst>
      <p:ext uri="{BB962C8B-B14F-4D97-AF65-F5344CB8AC3E}">
        <p14:creationId xmlns:p14="http://schemas.microsoft.com/office/powerpoint/2010/main" val="1594864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Oval 3"/>
          <p:cNvSpPr/>
          <p:nvPr/>
        </p:nvSpPr>
        <p:spPr>
          <a:xfrm>
            <a:off x="3124200" y="13716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057400" y="25908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4343400" y="25908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3581400" y="39624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5181600" y="3954624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2400300" y="20574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3467100" y="20574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3924300" y="3276600"/>
            <a:ext cx="762000" cy="685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>
            <a:off x="4686300" y="3276600"/>
            <a:ext cx="838200" cy="6780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943600" y="5105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17</a:t>
            </a:r>
          </a:p>
        </p:txBody>
      </p:sp>
      <p:cxnSp>
        <p:nvCxnSpPr>
          <p:cNvPr id="15" name="Straight Connector 14"/>
          <p:cNvCxnSpPr>
            <a:stCxn id="8" idx="4"/>
            <a:endCxn id="13" idx="0"/>
          </p:cNvCxnSpPr>
          <p:nvPr/>
        </p:nvCxnSpPr>
        <p:spPr>
          <a:xfrm>
            <a:off x="5524500" y="4640424"/>
            <a:ext cx="762000" cy="4649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5658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Oval 3"/>
          <p:cNvSpPr/>
          <p:nvPr/>
        </p:nvSpPr>
        <p:spPr>
          <a:xfrm>
            <a:off x="3124200" y="13716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057400" y="25908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4343400" y="25908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3581400" y="39624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5181600" y="3954624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2400300" y="20574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3467100" y="20574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3924300" y="3276600"/>
            <a:ext cx="762000" cy="685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>
            <a:off x="4686300" y="3276600"/>
            <a:ext cx="838200" cy="6780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943600" y="5105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17</a:t>
            </a:r>
          </a:p>
        </p:txBody>
      </p:sp>
      <p:cxnSp>
        <p:nvCxnSpPr>
          <p:cNvPr id="15" name="Straight Connector 14"/>
          <p:cNvCxnSpPr>
            <a:stCxn id="8" idx="4"/>
            <a:endCxn id="13" idx="0"/>
          </p:cNvCxnSpPr>
          <p:nvPr/>
        </p:nvCxnSpPr>
        <p:spPr>
          <a:xfrm>
            <a:off x="5524500" y="4640424"/>
            <a:ext cx="762000" cy="4649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8" idx="0"/>
          </p:cNvCxnSpPr>
          <p:nvPr/>
        </p:nvCxnSpPr>
        <p:spPr>
          <a:xfrm flipH="1">
            <a:off x="4895850" y="4640424"/>
            <a:ext cx="628650" cy="4609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52950" y="5101351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00906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Oval 3"/>
          <p:cNvSpPr/>
          <p:nvPr/>
        </p:nvSpPr>
        <p:spPr>
          <a:xfrm>
            <a:off x="2517116" y="2956248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1450316" y="4175448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4119473" y="1762634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3429000" y="4175448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6019800" y="3108648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1793216" y="3642048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0"/>
            <a:endCxn id="6" idx="4"/>
          </p:cNvCxnSpPr>
          <p:nvPr/>
        </p:nvCxnSpPr>
        <p:spPr>
          <a:xfrm flipV="1">
            <a:off x="2860016" y="2448434"/>
            <a:ext cx="1602357" cy="5078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4" idx="4"/>
            <a:endCxn id="7" idx="0"/>
          </p:cNvCxnSpPr>
          <p:nvPr/>
        </p:nvCxnSpPr>
        <p:spPr>
          <a:xfrm>
            <a:off x="2860016" y="3642048"/>
            <a:ext cx="911884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>
            <a:off x="4462373" y="2448434"/>
            <a:ext cx="1900327" cy="6602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781800" y="4259424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17</a:t>
            </a:r>
          </a:p>
        </p:txBody>
      </p:sp>
      <p:cxnSp>
        <p:nvCxnSpPr>
          <p:cNvPr id="15" name="Straight Connector 14"/>
          <p:cNvCxnSpPr>
            <a:stCxn id="8" idx="4"/>
            <a:endCxn id="13" idx="0"/>
          </p:cNvCxnSpPr>
          <p:nvPr/>
        </p:nvCxnSpPr>
        <p:spPr>
          <a:xfrm>
            <a:off x="6362700" y="3794448"/>
            <a:ext cx="762000" cy="4649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4"/>
            <a:endCxn id="18" idx="0"/>
          </p:cNvCxnSpPr>
          <p:nvPr/>
        </p:nvCxnSpPr>
        <p:spPr>
          <a:xfrm flipH="1">
            <a:off x="5734050" y="3794448"/>
            <a:ext cx="628650" cy="4609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91150" y="4255375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14</a:t>
            </a:r>
          </a:p>
        </p:txBody>
      </p:sp>
      <p:cxnSp>
        <p:nvCxnSpPr>
          <p:cNvPr id="24" name="Straight Connector 23"/>
          <p:cNvCxnSpPr>
            <a:stCxn id="13" idx="4"/>
            <a:endCxn id="27" idx="0"/>
          </p:cNvCxnSpPr>
          <p:nvPr/>
        </p:nvCxnSpPr>
        <p:spPr>
          <a:xfrm flipH="1">
            <a:off x="6934200" y="4945224"/>
            <a:ext cx="190500" cy="4649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591300" y="54102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047071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interesting factoid about Red-Black Trees: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4000" b="1" dirty="0"/>
              <a:t>A Red-Black Tree with 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4000" b="1" dirty="0"/>
              <a:t> internal nodes has a height of </a:t>
            </a:r>
            <a:r>
              <a:rPr lang="en-US" sz="4000" b="1" u="sng" dirty="0"/>
              <a:t>at-most</a:t>
            </a:r>
            <a:r>
              <a:rPr lang="en-US" sz="4000" b="1" dirty="0"/>
              <a:t> </a:t>
            </a: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2log(n+1)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611200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Helpful Hints:</a:t>
            </a:r>
          </a:p>
          <a:p>
            <a:pPr lvl="1"/>
            <a:r>
              <a:rPr lang="en-US" dirty="0"/>
              <a:t>When you invoke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insertNode</a:t>
            </a:r>
            <a:r>
              <a:rPr lang="en-US" dirty="0"/>
              <a:t> method of our Red-Black Tree Class we will need to insert a new RED colored Node into our Tree according to the properties of a Binary Search Tree.</a:t>
            </a:r>
          </a:p>
          <a:p>
            <a:pPr lvl="1"/>
            <a:r>
              <a:rPr lang="en-US" dirty="0"/>
              <a:t>From within that method we will need to invoke a second method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balanceColor</a:t>
            </a:r>
            <a:r>
              <a:rPr lang="en-US" dirty="0"/>
              <a:t> to ensure that all of the properties of a Red-Black Tree are upheld.</a:t>
            </a:r>
          </a:p>
        </p:txBody>
      </p:sp>
    </p:spTree>
    <p:extLst>
      <p:ext uri="{BB962C8B-B14F-4D97-AF65-F5344CB8AC3E}">
        <p14:creationId xmlns:p14="http://schemas.microsoft.com/office/powerpoint/2010/main" val="2541613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When we insert a node into a Red-Black Tree, we initially set the color of the new node to RED.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Why don’t  we choose to set the color to BLACK?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500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Inserting a RED node is less likely to violate the rules of a Red-Black Tree than if we chose to insert a BLACK colored node.</a:t>
            </a:r>
          </a:p>
          <a:p>
            <a:endParaRPr lang="en-US" dirty="0"/>
          </a:p>
          <a:p>
            <a:r>
              <a:rPr lang="en-US" dirty="0"/>
              <a:t>Reason:</a:t>
            </a:r>
          </a:p>
          <a:p>
            <a:pPr lvl="1"/>
            <a:r>
              <a:rPr lang="en-US" dirty="0"/>
              <a:t>If the new RED node is attached/linked to a BLACK node – no Red-Black Tree rule is violated. The same cannot be said for the reverse situation.</a:t>
            </a:r>
          </a:p>
        </p:txBody>
      </p:sp>
    </p:spTree>
    <p:extLst>
      <p:ext uri="{BB962C8B-B14F-4D97-AF65-F5344CB8AC3E}">
        <p14:creationId xmlns:p14="http://schemas.microsoft.com/office/powerpoint/2010/main" val="11724893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Rules: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 Red-Black Tree must be a type of Binary Search Tree.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root of the entire tree is Black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Node when inserted begins as a Red Node.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a Node is Red then its Children must be Black.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path from a Node 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 must contain the same number of Black Nodes.</a:t>
            </a:r>
          </a:p>
          <a:p>
            <a:pPr marL="1371600" lvl="2" indent="-514350"/>
            <a:r>
              <a:rPr lang="en-US" dirty="0"/>
              <a:t>This ensures that the tree will remain balanced.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leaf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) must be Black.</a:t>
            </a:r>
          </a:p>
        </p:txBody>
      </p:sp>
    </p:spTree>
    <p:extLst>
      <p:ext uri="{BB962C8B-B14F-4D97-AF65-F5344CB8AC3E}">
        <p14:creationId xmlns:p14="http://schemas.microsoft.com/office/powerpoint/2010/main" val="8029708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Deletions</a:t>
            </a:r>
          </a:p>
        </p:txBody>
      </p:sp>
    </p:spTree>
    <p:extLst>
      <p:ext uri="{BB962C8B-B14F-4D97-AF65-F5344CB8AC3E}">
        <p14:creationId xmlns:p14="http://schemas.microsoft.com/office/powerpoint/2010/main" val="17798784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Removing a Node from a Tree can be just as challenging as Inserting a Node.</a:t>
            </a:r>
          </a:p>
          <a:p>
            <a:pPr lvl="1"/>
            <a:r>
              <a:rPr lang="en-US" dirty="0"/>
              <a:t>In fact it is often times much more difficult!</a:t>
            </a:r>
          </a:p>
          <a:p>
            <a:endParaRPr lang="en-US" dirty="0"/>
          </a:p>
          <a:p>
            <a:r>
              <a:rPr lang="en-US" dirty="0"/>
              <a:t>Three Conditions:</a:t>
            </a:r>
          </a:p>
          <a:p>
            <a:pPr lvl="1"/>
            <a:r>
              <a:rPr lang="en-US" dirty="0"/>
              <a:t>The Node to be deleted is a leaf node.</a:t>
            </a:r>
          </a:p>
          <a:p>
            <a:pPr lvl="1"/>
            <a:r>
              <a:rPr lang="en-US" dirty="0"/>
              <a:t>The Node to be deleted has one child.</a:t>
            </a:r>
          </a:p>
          <a:p>
            <a:pPr lvl="1"/>
            <a:r>
              <a:rPr lang="en-US" dirty="0"/>
              <a:t>The Node to be deleted has two children.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8294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Leaf Node Deletion:</a:t>
            </a:r>
          </a:p>
          <a:p>
            <a:pPr lvl="1"/>
            <a:r>
              <a:rPr lang="en-US" dirty="0"/>
              <a:t>We just need to change the appropriate child attribute (our pointer) in the Node’s Parent to point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need to delete said Node from the Heap – to avoid memory leaks.</a:t>
            </a:r>
          </a:p>
          <a:p>
            <a:pPr lvl="2"/>
            <a:r>
              <a:rPr lang="en-US" dirty="0"/>
              <a:t>Each Node should have a Destructor that allows for this removal of the Node from the Tree.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345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Child Deletion:</a:t>
            </a:r>
          </a:p>
          <a:p>
            <a:pPr lvl="1"/>
            <a:r>
              <a:rPr lang="en-US" dirty="0"/>
              <a:t>Here we have to manage two connections:</a:t>
            </a:r>
          </a:p>
          <a:p>
            <a:pPr lvl="2"/>
            <a:r>
              <a:rPr lang="en-US" dirty="0"/>
              <a:t>One to the Parent.</a:t>
            </a:r>
          </a:p>
          <a:p>
            <a:pPr lvl="2"/>
            <a:r>
              <a:rPr lang="en-US" dirty="0"/>
              <a:t>One to the Child.</a:t>
            </a:r>
          </a:p>
          <a:p>
            <a:pPr lvl="1"/>
            <a:r>
              <a:rPr lang="en-US" dirty="0"/>
              <a:t>We need to reassign our pointers to move the Child up to the existing Parent Node and link those two together.</a:t>
            </a:r>
          </a:p>
          <a:p>
            <a:pPr lvl="2"/>
            <a:r>
              <a:rPr lang="en-US" dirty="0"/>
              <a:t>Don’t forget to clean up the mess the deleted Node left behind – otherwise, a memory leak!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09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Children Deletion:</a:t>
            </a:r>
          </a:p>
          <a:p>
            <a:pPr lvl="1"/>
            <a:r>
              <a:rPr lang="en-US" dirty="0"/>
              <a:t>Replace the Node with its </a:t>
            </a:r>
            <a:r>
              <a:rPr lang="en-US" dirty="0" err="1"/>
              <a:t>Inorder</a:t>
            </a:r>
            <a:r>
              <a:rPr lang="en-US" dirty="0"/>
              <a:t> successor.</a:t>
            </a:r>
          </a:p>
          <a:p>
            <a:pPr lvl="2"/>
            <a:r>
              <a:rPr lang="en-US" dirty="0"/>
              <a:t>The Node with the next-highest key (to the deleted node) in the subtree is called its </a:t>
            </a:r>
            <a:r>
              <a:rPr lang="en-US" dirty="0" err="1"/>
              <a:t>Inorder</a:t>
            </a:r>
            <a:r>
              <a:rPr lang="en-US" dirty="0"/>
              <a:t> successor.</a:t>
            </a:r>
          </a:p>
          <a:p>
            <a:pPr lvl="1"/>
            <a:r>
              <a:rPr lang="en-US" dirty="0"/>
              <a:t>To find the successor: </a:t>
            </a:r>
          </a:p>
          <a:p>
            <a:pPr lvl="2"/>
            <a:r>
              <a:rPr lang="en-US" dirty="0"/>
              <a:t>Remove the Node’s Right Child. </a:t>
            </a:r>
          </a:p>
          <a:p>
            <a:pPr lvl="2"/>
            <a:r>
              <a:rPr lang="en-US" dirty="0"/>
              <a:t>Follow the path of Left Children.</a:t>
            </a:r>
          </a:p>
          <a:p>
            <a:pPr lvl="3"/>
            <a:r>
              <a:rPr lang="en-US" dirty="0"/>
              <a:t>The last Left Child in this path is the successor of the original Node.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567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Tree Traversals</a:t>
            </a:r>
          </a:p>
        </p:txBody>
      </p:sp>
    </p:spTree>
    <p:extLst>
      <p:ext uri="{BB962C8B-B14F-4D97-AF65-F5344CB8AC3E}">
        <p14:creationId xmlns:p14="http://schemas.microsoft.com/office/powerpoint/2010/main" val="1213869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Traversals</a:t>
            </a:r>
          </a:p>
          <a:p>
            <a:pPr lvl="1"/>
            <a:r>
              <a:rPr lang="en-US" dirty="0" err="1"/>
              <a:t>Inorder</a:t>
            </a:r>
            <a:endParaRPr lang="en-US" dirty="0"/>
          </a:p>
          <a:p>
            <a:pPr lvl="1"/>
            <a:r>
              <a:rPr lang="en-US" dirty="0"/>
              <a:t>Preorder</a:t>
            </a:r>
          </a:p>
          <a:p>
            <a:pPr lvl="1"/>
            <a:r>
              <a:rPr lang="en-US" dirty="0" err="1"/>
              <a:t>Postorder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We will reach the same endpoint – a leaf Node…but how we get there is very different and this can alter how we “view” the tree.</a:t>
            </a:r>
          </a:p>
        </p:txBody>
      </p:sp>
    </p:spTree>
    <p:extLst>
      <p:ext uri="{BB962C8B-B14F-4D97-AF65-F5344CB8AC3E}">
        <p14:creationId xmlns:p14="http://schemas.microsoft.com/office/powerpoint/2010/main" val="7122622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dirty="0" err="1"/>
              <a:t>Inorder</a:t>
            </a:r>
            <a:r>
              <a:rPr lang="en-US" dirty="0"/>
              <a:t> Traversal will cause all the nodes to be visited in </a:t>
            </a:r>
            <a:r>
              <a:rPr lang="en-US" b="1" u="sng" dirty="0"/>
              <a:t>ascending order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Inorder</a:t>
            </a:r>
            <a:r>
              <a:rPr lang="en-US" dirty="0"/>
              <a:t> Traversal (Recursion):</a:t>
            </a:r>
          </a:p>
          <a:p>
            <a:pPr lvl="1"/>
            <a:r>
              <a:rPr lang="en-US" dirty="0"/>
              <a:t>Traverse Left Subtree</a:t>
            </a:r>
          </a:p>
          <a:p>
            <a:pPr lvl="1"/>
            <a:r>
              <a:rPr lang="en-US" dirty="0"/>
              <a:t>Visit the Node</a:t>
            </a:r>
          </a:p>
          <a:p>
            <a:pPr lvl="1"/>
            <a:r>
              <a:rPr lang="en-US" dirty="0"/>
              <a:t>Traverse Right Subtree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4542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inOrder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(node root)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if (root != null)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257300" lvl="3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inOrder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root.getLeftChild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1257300" lvl="3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root.getData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“  “;</a:t>
            </a:r>
          </a:p>
          <a:p>
            <a:pPr marL="1257300" lvl="3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inOrder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root.getRightChild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04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Preorder Traversal:</a:t>
            </a:r>
          </a:p>
          <a:p>
            <a:pPr lvl="1"/>
            <a:r>
              <a:rPr lang="en-US" dirty="0"/>
              <a:t>Visit the node</a:t>
            </a:r>
          </a:p>
          <a:p>
            <a:pPr lvl="1"/>
            <a:r>
              <a:rPr lang="en-US" dirty="0"/>
              <a:t>Traverse the Left Subtree</a:t>
            </a:r>
          </a:p>
          <a:p>
            <a:pPr lvl="1"/>
            <a:r>
              <a:rPr lang="en-US" dirty="0"/>
              <a:t>Traverse the Right Subtree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398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preOrder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(node root)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if (root != null)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root.getData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“  “;</a:t>
            </a:r>
          </a:p>
          <a:p>
            <a:pPr marL="1257300" lvl="3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preOrder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root.getLeftChild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1257300" lvl="3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preOrder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root.getRightChild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5496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Postorder</a:t>
            </a:r>
            <a:r>
              <a:rPr lang="en-US" dirty="0"/>
              <a:t> Traversal:</a:t>
            </a:r>
          </a:p>
          <a:p>
            <a:pPr lvl="1"/>
            <a:r>
              <a:rPr lang="en-US" dirty="0"/>
              <a:t>Traverse the Left Subtree</a:t>
            </a:r>
          </a:p>
          <a:p>
            <a:pPr lvl="1"/>
            <a:r>
              <a:rPr lang="en-US" dirty="0"/>
              <a:t>Traverse the Right Subtree</a:t>
            </a:r>
          </a:p>
          <a:p>
            <a:pPr lvl="1"/>
            <a:r>
              <a:rPr lang="en-US" dirty="0"/>
              <a:t>Visit the node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8804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postOrder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(node root)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if (root != null)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257300" lvl="3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postOrder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root.getLeftChild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1257300" lvl="3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postOrder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root.getRightChild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1257300" lvl="3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root.getData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“  “;</a:t>
            </a:r>
          </a:p>
          <a:p>
            <a:pPr marL="1257300" lvl="3" indent="0">
              <a:buNone/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926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Traversals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order to find a specific node within the Tree we need to:</a:t>
            </a:r>
          </a:p>
          <a:p>
            <a:pPr lvl="1"/>
            <a:r>
              <a:rPr lang="en-US" dirty="0"/>
              <a:t>Start from the Root. </a:t>
            </a:r>
          </a:p>
          <a:p>
            <a:pPr lvl="2"/>
            <a:r>
              <a:rPr lang="en-US" dirty="0"/>
              <a:t>If the key value is same as the Node, then Node is found.</a:t>
            </a:r>
          </a:p>
          <a:p>
            <a:pPr lvl="2"/>
            <a:r>
              <a:rPr lang="en-US" dirty="0"/>
              <a:t>If key is greater than Node, search the Right Subtree, else search the Left Subtree. (Depending on Traversal Approach)</a:t>
            </a:r>
          </a:p>
          <a:p>
            <a:pPr lvl="1"/>
            <a:r>
              <a:rPr lang="en-US" dirty="0"/>
              <a:t>Continue till the Node is found or the entire Tree is traversed.</a:t>
            </a:r>
          </a:p>
          <a:p>
            <a:endParaRPr lang="en-US" dirty="0"/>
          </a:p>
          <a:p>
            <a:r>
              <a:rPr lang="en-US" dirty="0"/>
              <a:t>Time required (Big-O) to find a node depends on how many levels need to be traversed.</a:t>
            </a:r>
          </a:p>
          <a:p>
            <a:pPr lvl="1"/>
            <a:r>
              <a:rPr lang="en-US" dirty="0"/>
              <a:t>What is the worst case?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301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7129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685</TotalTime>
  <Words>2005</Words>
  <Application>Microsoft Office PowerPoint</Application>
  <PresentationFormat>On-screen Show (4:3)</PresentationFormat>
  <Paragraphs>319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Courier New</vt:lpstr>
      <vt:lpstr>Office Theme</vt:lpstr>
      <vt:lpstr>Lecture – 11/10/2025</vt:lpstr>
      <vt:lpstr>Assignment #5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Binary Search Trees</vt:lpstr>
      <vt:lpstr>Removing A Node</vt:lpstr>
      <vt:lpstr>Removing A Node</vt:lpstr>
      <vt:lpstr>Removing A Node</vt:lpstr>
      <vt:lpstr>Removing A Node</vt:lpstr>
      <vt:lpstr>Binary Search Trees</vt:lpstr>
      <vt:lpstr>Binary Search Trees</vt:lpstr>
      <vt:lpstr>Inorder Traversal</vt:lpstr>
      <vt:lpstr>Inorder Traversal</vt:lpstr>
      <vt:lpstr>Preorder Traversal</vt:lpstr>
      <vt:lpstr>Preorder Traversal</vt:lpstr>
      <vt:lpstr>Postorder Traversal</vt:lpstr>
      <vt:lpstr>Postorder Traversal</vt:lpstr>
      <vt:lpstr>Tree Traversals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607</cp:revision>
  <dcterms:created xsi:type="dcterms:W3CDTF">2011-07-22T18:36:28Z</dcterms:created>
  <dcterms:modified xsi:type="dcterms:W3CDTF">2025-11-09T20:54:25Z</dcterms:modified>
</cp:coreProperties>
</file>