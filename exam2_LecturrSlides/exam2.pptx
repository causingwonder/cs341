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14" r:id="rId2"/>
    <p:sldId id="617" r:id="rId3"/>
    <p:sldId id="616" r:id="rId4"/>
    <p:sldId id="326" r:id="rId5"/>
    <p:sldId id="329" r:id="rId6"/>
    <p:sldId id="333" r:id="rId7"/>
    <p:sldId id="337" r:id="rId8"/>
    <p:sldId id="441" r:id="rId9"/>
    <p:sldId id="442" r:id="rId10"/>
    <p:sldId id="466" r:id="rId11"/>
    <p:sldId id="465" r:id="rId12"/>
    <p:sldId id="618" r:id="rId13"/>
    <p:sldId id="619" r:id="rId14"/>
    <p:sldId id="6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-36" y="1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4B1D-A240-BD07-B78F-EA05AC9C5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F18F2-89A3-8477-FE02-CD32B81DA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56AAE-0FB3-BF1C-2ADB-E546B9A7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AC08-5BFF-6681-E753-AE70787D0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16270-210E-A3C8-01AE-D33A4B89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1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76A0-A478-B522-C599-E7B2D9EB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E0377-D078-8457-9FCE-A3C5EFB5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B2A84-5BB1-5AFA-4004-C1CF024AE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AE274-AD25-BD92-EECE-88E8345D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A0367-BE01-F606-0E3B-FB7D5561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72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11D8-7874-515E-4EE6-0B90EC93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A1398-5F07-1DF7-6095-22A15D578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FB29F-7CAC-283B-9CDD-0D731B3C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9FBAC-F7B0-0E56-725E-6035EA6D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D2FA0-34FC-5454-DEDE-F58EC7C3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1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0AB6-AE62-874A-93BD-5FA62A22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5D1FF-2D6F-05D2-E8C0-CCD5C70E5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B5B80-8147-2925-9A00-1BDC0EA1C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61D67-97DF-93FD-6720-8EE2BAA3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74D4A-088D-4A58-2971-AF2DAADB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2F499-4FF8-6C50-0E72-439A2A39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2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0488-F76B-9AA7-7508-DED351FBB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1F998-DF1A-98DB-A1DF-95F76347D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1B704-F443-7F66-5042-34B0EC38D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4A2C9-47E2-F4C8-891B-CEB1189EE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14939-315F-CEB0-805C-7B1C2BE8D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9FF9F-7D75-8C93-0EB3-4050781A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9D2EB-5FD2-F194-82A7-BCF106E2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383AB-874D-C9F2-6AB5-577D2195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37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09D3-9410-C193-4439-7FAFCACF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141C2-4AA1-181D-594C-56EF6D91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B5067-9FF1-C388-E0F9-2068D9A7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CDA1B-878F-172B-9D04-8AB3B1F3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533F0-65CB-D62A-6B41-F4CCCD76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BADC7-178C-EE6F-2ADB-1BB6976F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D9FA9-1BC1-0F46-9648-A91AAE1F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7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196A-95F6-CEC8-A4AA-6B72D396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C8760-2C4F-11B1-3483-7997F348E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7820-5505-A891-3721-CE66EA76A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BF522-955C-0343-F472-503CC250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18460-16FD-9A83-8E54-7E4B8D641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3B2B2-8C55-5601-3439-E14151B9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BEF0-1553-3651-055C-EC218D34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904AB5-35CA-86EA-1E4A-78F2DEBEA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8130B-F95A-1216-485B-BBAF80913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59112-B2A8-A904-2DB1-7F4078DE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7EFA2-DFE4-61C0-8713-01AF8879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A59ED-6D0F-A760-D833-11A47293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D825-D9D8-088C-48F2-3837A201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3BC67-DE4A-26AE-0B19-8CD96675B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00026-7D90-8561-C01E-DF347EED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A83E8-0C19-A697-60DC-0FCDE141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009E3-1DB5-5804-D994-79910995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7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FA111-DE07-7FDE-7D3A-0FDA599B9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25069-B909-9655-C2A5-FB56FBB8B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BF1AC-8304-146C-DEE6-AC1449698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E23E-33FC-0D19-E777-B214807E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3331A-C0E2-B63E-81B2-0E6B09AA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BFC67-CBC1-B574-127E-EC88EA6B9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73292-9667-5C89-4447-86C9D4CE1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244DB-F6F3-1616-8D65-6BFF0B33F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1F38D-ED52-4E49-8685-1BDA4610702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9ABF9-9510-4A52-9EDD-4A6E29E4B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DA12A-4949-3F04-4A58-CA580238A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F944E-4288-4427-877D-42991609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Nodes</a:t>
            </a:r>
          </a:p>
          <a:p>
            <a:pPr lvl="1"/>
            <a:r>
              <a:rPr lang="en-US" dirty="0"/>
              <a:t>Storage units linked together into a “chain” structure.</a:t>
            </a:r>
          </a:p>
          <a:p>
            <a:r>
              <a:rPr lang="en-US" dirty="0"/>
              <a:t>Two Key Pieces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Link</a:t>
            </a:r>
          </a:p>
          <a:p>
            <a:r>
              <a:rPr lang="en-US" dirty="0"/>
              <a:t>Example Data Structure</a:t>
            </a:r>
          </a:p>
          <a:p>
            <a:pPr lvl="1"/>
            <a:r>
              <a:rPr lang="en-US" dirty="0"/>
              <a:t>Linked List</a:t>
            </a:r>
          </a:p>
          <a:p>
            <a:pPr lvl="1"/>
            <a:r>
              <a:rPr lang="en-US" dirty="0"/>
              <a:t>Doubly Linked Lists</a:t>
            </a:r>
          </a:p>
          <a:p>
            <a:pPr lvl="1"/>
            <a:r>
              <a:rPr lang="en-US" dirty="0"/>
              <a:t>Trees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begin, here we assume that we have a pointer that will always point to the “head” of the “chain.”</a:t>
            </a:r>
          </a:p>
          <a:p>
            <a:r>
              <a:rPr lang="en-US" dirty="0"/>
              <a:t>We will also assume that the last node in the “chain” is pointing to the null pointer to indicate the presence that no additional nodes will come after.</a:t>
            </a:r>
          </a:p>
        </p:txBody>
      </p:sp>
    </p:spTree>
    <p:extLst>
      <p:ext uri="{BB962C8B-B14F-4D97-AF65-F5344CB8AC3E}">
        <p14:creationId xmlns:p14="http://schemas.microsoft.com/office/powerpoint/2010/main" val="92466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Let’s give our Node two methods: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/>
              <a:t>This will return the value of the data held in the node.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/>
              <a:t>This will return a pointer to the next Node in the “chain.”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getPrev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/>
              <a:t>This will return a pointer to the previous Node in the “chain.”</a:t>
            </a:r>
          </a:p>
          <a:p>
            <a:r>
              <a:rPr lang="en-US" dirty="0"/>
              <a:t>As a result, let’s define the following properties: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data_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65696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Finite number of Objects</a:t>
            </a:r>
          </a:p>
          <a:p>
            <a:r>
              <a:rPr lang="en-US" dirty="0"/>
              <a:t>Not necessarily distinct</a:t>
            </a:r>
          </a:p>
          <a:p>
            <a:pPr lvl="1"/>
            <a:r>
              <a:rPr lang="en-US" dirty="0"/>
              <a:t>Duplicate entries may exist.</a:t>
            </a:r>
          </a:p>
          <a:p>
            <a:r>
              <a:rPr lang="en-US" dirty="0"/>
              <a:t>Homogeneous Data Type</a:t>
            </a:r>
          </a:p>
          <a:p>
            <a:r>
              <a:rPr lang="en-US" dirty="0"/>
              <a:t>Ordered by Position</a:t>
            </a:r>
          </a:p>
          <a:p>
            <a:pPr lvl="1"/>
            <a:r>
              <a:rPr lang="en-US" dirty="0"/>
              <a:t>Dictated by the user – not the data structure. </a:t>
            </a:r>
          </a:p>
          <a:p>
            <a:r>
              <a:rPr lang="en-US" dirty="0"/>
              <a:t>Operations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insert()</a:t>
            </a:r>
          </a:p>
        </p:txBody>
      </p:sp>
    </p:spTree>
    <p:extLst>
      <p:ext uri="{BB962C8B-B14F-4D97-AF65-F5344CB8AC3E}">
        <p14:creationId xmlns:p14="http://schemas.microsoft.com/office/powerpoint/2010/main" val="188467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Array 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Natural Relationship</a:t>
            </a:r>
          </a:p>
          <a:p>
            <a:pPr lvl="1"/>
            <a:r>
              <a:rPr lang="en-US" dirty="0"/>
              <a:t>“List” of Items</a:t>
            </a:r>
          </a:p>
          <a:p>
            <a:pPr lvl="1"/>
            <a:r>
              <a:rPr lang="en-US" dirty="0"/>
              <a:t>Homogeneous</a:t>
            </a:r>
          </a:p>
          <a:p>
            <a:pPr lvl="1"/>
            <a:r>
              <a:rPr lang="en-US" dirty="0"/>
              <a:t>Numerical Ordering</a:t>
            </a:r>
          </a:p>
          <a:p>
            <a:r>
              <a:rPr lang="en-US" dirty="0"/>
              <a:t>Key Question(s):</a:t>
            </a:r>
          </a:p>
          <a:p>
            <a:pPr lvl="1"/>
            <a:r>
              <a:rPr lang="en-US" dirty="0"/>
              <a:t>Do Array’s have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method?</a:t>
            </a:r>
          </a:p>
          <a:p>
            <a:pPr lvl="2"/>
            <a:r>
              <a:rPr lang="en-US" dirty="0"/>
              <a:t>We will need to keep track of number of entries as a counter</a:t>
            </a:r>
          </a:p>
          <a:p>
            <a:pPr lvl="1"/>
            <a:r>
              <a:rPr lang="en-US" dirty="0"/>
              <a:t>If we store the lists entries in an array, int items[100];</a:t>
            </a:r>
          </a:p>
          <a:p>
            <a:pPr lvl="2"/>
            <a:r>
              <a:rPr lang="en-US" dirty="0"/>
              <a:t>It could occupy the entire 100 or not or have to resize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7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Link 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</a:t>
            </a:r>
          </a:p>
          <a:p>
            <a:pPr lvl="1"/>
            <a:r>
              <a:rPr lang="en-US" dirty="0"/>
              <a:t>Find</a:t>
            </a:r>
          </a:p>
          <a:p>
            <a:pPr lvl="1"/>
            <a:r>
              <a:rPr lang="en-US" dirty="0"/>
              <a:t>Delete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No fixed length</a:t>
            </a:r>
          </a:p>
          <a:p>
            <a:r>
              <a:rPr lang="en-US" dirty="0"/>
              <a:t>Efficient insertion/deletion </a:t>
            </a:r>
          </a:p>
          <a:p>
            <a:r>
              <a:rPr lang="en-US" dirty="0" err="1"/>
              <a:t>Pionters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033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Link-Based vs. Array Based</a:t>
            </a:r>
          </a:p>
        </p:txBody>
      </p:sp>
      <p:sp>
        <p:nvSpPr>
          <p:cNvPr id="53250" name="Content Placeholder 5"/>
          <p:cNvSpPr>
            <a:spLocks noGrp="1"/>
          </p:cNvSpPr>
          <p:nvPr>
            <p:ph idx="1"/>
          </p:nvPr>
        </p:nvSpPr>
        <p:spPr>
          <a:xfrm>
            <a:off x="838200" y="1842755"/>
            <a:ext cx="5257800" cy="42513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Link </a:t>
            </a:r>
          </a:p>
          <a:p>
            <a:pPr lvl="1"/>
            <a:r>
              <a:rPr lang="en-US" altLang="en-US" dirty="0"/>
              <a:t>No fixed size</a:t>
            </a:r>
          </a:p>
          <a:p>
            <a:pPr lvl="1"/>
            <a:r>
              <a:rPr lang="en-US" altLang="en-US" dirty="0"/>
              <a:t>Next (</a:t>
            </a:r>
            <a:r>
              <a:rPr lang="en-US" altLang="en-US" dirty="0" err="1"/>
              <a:t>prev</a:t>
            </a:r>
            <a:r>
              <a:rPr lang="en-US" altLang="en-US" dirty="0"/>
              <a:t> for DLL) element access</a:t>
            </a:r>
          </a:p>
          <a:p>
            <a:pPr lvl="1"/>
            <a:r>
              <a:rPr lang="en-US" altLang="en-US" dirty="0"/>
              <a:t>Expensive search</a:t>
            </a:r>
          </a:p>
          <a:p>
            <a:pPr lvl="1"/>
            <a:r>
              <a:rPr lang="en-US" altLang="en-US" dirty="0"/>
              <a:t>Dynamic size</a:t>
            </a:r>
          </a:p>
          <a:p>
            <a:pPr lvl="1"/>
            <a:r>
              <a:rPr lang="en-US" altLang="en-US" dirty="0"/>
              <a:t>Requires points</a:t>
            </a:r>
          </a:p>
          <a:p>
            <a:pPr lvl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D8F1723-A81F-CC39-4BC2-B454C565CE94}"/>
              </a:ext>
            </a:extLst>
          </p:cNvPr>
          <p:cNvSpPr txBox="1">
            <a:spLocks/>
          </p:cNvSpPr>
          <p:nvPr/>
        </p:nvSpPr>
        <p:spPr>
          <a:xfrm>
            <a:off x="6096000" y="1842755"/>
            <a:ext cx="5101389" cy="4251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Arrays </a:t>
            </a:r>
          </a:p>
          <a:p>
            <a:pPr lvl="1"/>
            <a:r>
              <a:rPr lang="en-US" altLang="en-US" dirty="0"/>
              <a:t>Easy to use </a:t>
            </a:r>
          </a:p>
          <a:p>
            <a:pPr lvl="1"/>
            <a:r>
              <a:rPr lang="en-US" altLang="en-US" dirty="0"/>
              <a:t>Fixed size, without linking</a:t>
            </a:r>
          </a:p>
          <a:p>
            <a:pPr lvl="1"/>
            <a:r>
              <a:rPr lang="en-US" altLang="en-US" dirty="0"/>
              <a:t>Numerical access</a:t>
            </a:r>
          </a:p>
          <a:p>
            <a:pPr lvl="1"/>
            <a:r>
              <a:rPr lang="en-US" altLang="en-US" dirty="0"/>
              <a:t>Good for small sets w/ known size</a:t>
            </a:r>
          </a:p>
          <a:p>
            <a:pPr lvl="1"/>
            <a:r>
              <a:rPr lang="en-US" altLang="en-US" dirty="0"/>
              <a:t>Has to shift for insertion and deletion when not the tail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23945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N’s value is greater than all values in its left subtree </a:t>
            </a:r>
            <a:r>
              <a:rPr lang="en-US" dirty="0" err="1"/>
              <a:t>T</a:t>
            </a:r>
            <a:r>
              <a:rPr lang="en-US" baseline="-25000" dirty="0" err="1"/>
              <a:t>left</a:t>
            </a:r>
            <a:endParaRPr lang="en-US" baseline="-25000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N’s value is less than all values in its right subtree </a:t>
            </a:r>
            <a:r>
              <a:rPr lang="en-US" dirty="0" err="1"/>
              <a:t>T</a:t>
            </a:r>
            <a:r>
              <a:rPr lang="en-US" baseline="-25000" dirty="0" err="1"/>
              <a:t>right</a:t>
            </a:r>
            <a:endParaRPr lang="en-US" baseline="-25000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Both </a:t>
            </a:r>
            <a:r>
              <a:rPr lang="en-US" dirty="0" err="1"/>
              <a:t>T</a:t>
            </a:r>
            <a:r>
              <a:rPr lang="en-US" baseline="-25000" dirty="0" err="1"/>
              <a:t>left</a:t>
            </a:r>
            <a:r>
              <a:rPr lang="en-US" baseline="-25000" dirty="0"/>
              <a:t> </a:t>
            </a:r>
            <a:r>
              <a:rPr lang="en-US" dirty="0"/>
              <a:t>and </a:t>
            </a:r>
            <a:r>
              <a:rPr lang="en-US" dirty="0" err="1"/>
              <a:t>T</a:t>
            </a:r>
            <a:r>
              <a:rPr lang="en-US" baseline="-25000" dirty="0" err="1"/>
              <a:t>right</a:t>
            </a:r>
            <a:r>
              <a:rPr lang="en-US" dirty="0"/>
              <a:t> are binary search trees.</a:t>
            </a:r>
          </a:p>
          <a:p>
            <a:r>
              <a:rPr lang="en-US" dirty="0"/>
              <a:t>Parent-Child Relationship</a:t>
            </a:r>
          </a:p>
          <a:p>
            <a:pPr lvl="1"/>
            <a:r>
              <a:rPr lang="en-US" dirty="0"/>
              <a:t>Every parent can have 0, left only, right only, or both children</a:t>
            </a:r>
          </a:p>
          <a:p>
            <a:pPr lvl="1"/>
            <a:r>
              <a:rPr lang="en-US" dirty="0"/>
              <a:t>The Left Child is always less than its parent.</a:t>
            </a:r>
          </a:p>
          <a:p>
            <a:pPr lvl="1"/>
            <a:r>
              <a:rPr lang="en-US" dirty="0"/>
              <a:t>The Right Child is greater than its parent.</a:t>
            </a:r>
          </a:p>
          <a:p>
            <a:pPr lvl="1"/>
            <a:endParaRPr lang="en-US" dirty="0"/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59166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Full Binary Tree</a:t>
            </a:r>
          </a:p>
          <a:p>
            <a:pPr lvl="1"/>
            <a:r>
              <a:rPr lang="en-US" dirty="0"/>
              <a:t>A binary tree with zero or 2 children</a:t>
            </a:r>
          </a:p>
          <a:p>
            <a:pPr lvl="1"/>
            <a:r>
              <a:rPr lang="en-US" dirty="0"/>
              <a:t>leaf=internal+1		node=2*leaf-1=2*internal+1=2</a:t>
            </a:r>
            <a:r>
              <a:rPr lang="en-US" baseline="30000" dirty="0"/>
              <a:t>h</a:t>
            </a:r>
            <a:r>
              <a:rPr lang="en-US" dirty="0"/>
              <a:t>-1</a:t>
            </a:r>
          </a:p>
          <a:p>
            <a:r>
              <a:rPr lang="en-US" dirty="0"/>
              <a:t>Complete Binary Tree</a:t>
            </a:r>
          </a:p>
          <a:p>
            <a:pPr lvl="1"/>
            <a:r>
              <a:rPr lang="en-US" dirty="0"/>
              <a:t>A binary tree that is full down to level h-1, with level h filled in from left to right.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All nodes at level h-2 and above have two children each.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When a node at level h-1 has children, all nodes to its left at the same level have two children each.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When a node at level h-1 has one child it is a left child.</a:t>
            </a:r>
          </a:p>
          <a:p>
            <a:r>
              <a:rPr lang="en-US" dirty="0"/>
              <a:t>Complete Binary Tree</a:t>
            </a:r>
          </a:p>
          <a:p>
            <a:pPr lvl="1"/>
            <a:r>
              <a:rPr lang="en-US" dirty="0"/>
              <a:t>All right and left subtrees must have the same height or delta 1 height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215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Rules: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 Red-Black Tree must be a type of Binary Search Tree.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root of the entire tree is Black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Node when inserted begins as a Red Node.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a Node is Red then its Children must be Black.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path from a Node 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 must contain the same number of Black Nodes.</a:t>
            </a:r>
          </a:p>
          <a:p>
            <a:pPr marL="1371600" lvl="2" indent="-514350"/>
            <a:r>
              <a:rPr lang="en-US" dirty="0"/>
              <a:t>This ensures that the tree will remain balanced.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leaf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) must be Black.</a:t>
            </a:r>
          </a:p>
        </p:txBody>
      </p:sp>
    </p:spTree>
    <p:extLst>
      <p:ext uri="{BB962C8B-B14F-4D97-AF65-F5344CB8AC3E}">
        <p14:creationId xmlns:p14="http://schemas.microsoft.com/office/powerpoint/2010/main" val="4062886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type of balanced BST, so must follow all BBST properties</a:t>
            </a:r>
          </a:p>
          <a:p>
            <a:r>
              <a:rPr lang="en-US" dirty="0"/>
              <a:t>Each Node has a color – either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or BLACK </a:t>
            </a:r>
          </a:p>
          <a:p>
            <a:r>
              <a:rPr lang="en-US" dirty="0"/>
              <a:t>Balance is important as it allows for “optimal” search/insertion/deletion times within the tree.</a:t>
            </a:r>
          </a:p>
          <a:p>
            <a:pPr lvl="1"/>
            <a:r>
              <a:rPr lang="en-US" dirty="0"/>
              <a:t>Balanced trees can have time complexity of O(h), time complexity</a:t>
            </a:r>
          </a:p>
          <a:p>
            <a:pPr lvl="1"/>
            <a:r>
              <a:rPr lang="en-US" dirty="0"/>
              <a:t>Unbalanced Trees can have time worse than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 N</a:t>
            </a:r>
            <a:r>
              <a:rPr lang="en-US" dirty="0"/>
              <a:t> for basic tree operations.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279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CE5E-5BA4-B907-4E27-4A1EAA3C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0134-0EA6-2D78-E1B7-1E07B31A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6B04C-7EE4-F980-60F3-255178E1D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Key:value</a:t>
            </a:r>
            <a:r>
              <a:rPr lang="en-US" dirty="0"/>
              <a:t>		location=</a:t>
            </a:r>
            <a:r>
              <a:rPr lang="en-US" dirty="0" err="1"/>
              <a:t>key%size</a:t>
            </a:r>
            <a:endParaRPr lang="en-US" dirty="0"/>
          </a:p>
          <a:p>
            <a:r>
              <a:rPr lang="en-US" dirty="0"/>
              <a:t>Collision Solutions</a:t>
            </a:r>
          </a:p>
          <a:p>
            <a:pPr lvl="1"/>
            <a:r>
              <a:rPr lang="en-US" dirty="0"/>
              <a:t>Open Addressing</a:t>
            </a:r>
          </a:p>
          <a:p>
            <a:pPr lvl="2"/>
            <a:r>
              <a:rPr lang="en-US" dirty="0"/>
              <a:t>Linear Probing</a:t>
            </a:r>
          </a:p>
          <a:p>
            <a:pPr lvl="2"/>
            <a:r>
              <a:rPr lang="en-US" dirty="0"/>
              <a:t>Quadratic Probing</a:t>
            </a:r>
          </a:p>
          <a:p>
            <a:pPr lvl="2"/>
            <a:r>
              <a:rPr lang="en-US" dirty="0"/>
              <a:t>Double Hashing</a:t>
            </a:r>
          </a:p>
          <a:p>
            <a:pPr lvl="2"/>
            <a:r>
              <a:rPr lang="en-US" dirty="0"/>
              <a:t>Resize</a:t>
            </a:r>
          </a:p>
          <a:p>
            <a:pPr lvl="1"/>
            <a:r>
              <a:rPr lang="en-US" dirty="0"/>
              <a:t>Closed Addressing</a:t>
            </a:r>
          </a:p>
          <a:p>
            <a:pPr lvl="2"/>
            <a:r>
              <a:rPr lang="en-US" dirty="0"/>
              <a:t>Buckets</a:t>
            </a:r>
          </a:p>
          <a:p>
            <a:pPr lvl="2"/>
            <a:r>
              <a:rPr lang="en-US" dirty="0"/>
              <a:t>List Chaining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555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D5FA-C0DD-1F3E-2F7A-1CC57427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5E0D1-90CB-1D6C-7950-0028240F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0B47-3135-2E35-6662-D071D27B3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0"/>
            <a:ext cx="10515600" cy="5558589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Hash: hash(x)=hash(x)%size +n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Operations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Insert(x)</a:t>
            </a:r>
          </a:p>
          <a:p>
            <a:pPr lvl="2"/>
            <a:r>
              <a:rPr lang="en-US" dirty="0"/>
              <a:t>Keep probing until an empty slot is found. Once an empty slot is found, insert key.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Search(x)</a:t>
            </a:r>
          </a:p>
          <a:p>
            <a:pPr lvl="2"/>
            <a:r>
              <a:rPr lang="en-US" dirty="0"/>
              <a:t>Keep probing until slot’s key doesn’t become equal to x or an empty slot is reached.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Delete(k)</a:t>
            </a:r>
          </a:p>
          <a:p>
            <a:pPr lvl="2"/>
            <a:r>
              <a:rPr lang="en-US" dirty="0"/>
              <a:t>Keep probing until the keys slot is found and remove the key.</a:t>
            </a:r>
          </a:p>
          <a:p>
            <a:r>
              <a:rPr lang="en-US" dirty="0"/>
              <a:t>Uses enumeration: Occupied, Empty, Removed</a:t>
            </a:r>
          </a:p>
          <a:p>
            <a:r>
              <a:rPr lang="en-US" dirty="0"/>
              <a:t>Con: Primary Clustering</a:t>
            </a:r>
          </a:p>
          <a:p>
            <a:pPr lvl="1"/>
            <a:r>
              <a:rPr lang="en-US" dirty="0"/>
              <a:t>Large </a:t>
            </a:r>
            <a:r>
              <a:rPr lang="en-US" dirty="0" err="1"/>
              <a:t>concerent</a:t>
            </a:r>
            <a:r>
              <a:rPr lang="en-US" dirty="0"/>
              <a:t> groups, most data stays in one chain due to being linear</a:t>
            </a:r>
          </a:p>
          <a:p>
            <a:pPr lvl="1"/>
            <a:r>
              <a:rPr lang="en-US" dirty="0"/>
              <a:t>Long probe searching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701E6-2D97-03B2-1B22-E056325EE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5" t="-1" r="7405" b="11313"/>
          <a:stretch>
            <a:fillRect/>
          </a:stretch>
        </p:blipFill>
        <p:spPr bwMode="auto">
          <a:xfrm>
            <a:off x="7371348" y="30328"/>
            <a:ext cx="4820652" cy="178242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8008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83D60-61C2-4A2D-D33B-9430AA59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95E6-6A2C-AB85-7E4F-349134FB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E5600-496A-9960-4994-31C83D5A2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0"/>
            <a:ext cx="10515600" cy="5558589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Hash: hash(x)=hash(x)%size +n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Operations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Insert(x)</a:t>
            </a:r>
          </a:p>
          <a:p>
            <a:pPr lvl="2"/>
            <a:r>
              <a:rPr lang="en-US" dirty="0"/>
              <a:t>Keep probing until an empty slot is found. Once an empty slot is found, insert key.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Search(x)</a:t>
            </a:r>
          </a:p>
          <a:p>
            <a:pPr lvl="2"/>
            <a:r>
              <a:rPr lang="en-US" dirty="0"/>
              <a:t>Keep probing until slot’s key doesn’t become equal to x or an empty slot is reached.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Delete(k)</a:t>
            </a:r>
          </a:p>
          <a:p>
            <a:pPr lvl="2"/>
            <a:r>
              <a:rPr lang="en-US" dirty="0"/>
              <a:t>Keep probing until the keys slot is found and remove the key.</a:t>
            </a:r>
          </a:p>
          <a:p>
            <a:r>
              <a:rPr lang="en-US" dirty="0"/>
              <a:t>Uses enumeration: Occupied, Empty, Removed</a:t>
            </a:r>
          </a:p>
          <a:p>
            <a:r>
              <a:rPr lang="en-US" dirty="0"/>
              <a:t>Con: Primary Clustering</a:t>
            </a:r>
          </a:p>
          <a:p>
            <a:pPr lvl="1"/>
            <a:r>
              <a:rPr lang="en-US" dirty="0"/>
              <a:t>Large </a:t>
            </a:r>
            <a:r>
              <a:rPr lang="en-US" dirty="0" err="1"/>
              <a:t>concerent</a:t>
            </a:r>
            <a:r>
              <a:rPr lang="en-US" dirty="0"/>
              <a:t> groups, most data stays in one chain due to being linear</a:t>
            </a:r>
          </a:p>
          <a:p>
            <a:pPr lvl="1"/>
            <a:r>
              <a:rPr lang="en-US" dirty="0"/>
              <a:t>Long probe searching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56E93-DEA2-6600-94A1-ECF5510CCF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5" t="-1" r="7405" b="11313"/>
          <a:stretch>
            <a:fillRect/>
          </a:stretch>
        </p:blipFill>
        <p:spPr bwMode="auto">
          <a:xfrm>
            <a:off x="7371348" y="30328"/>
            <a:ext cx="4820652" cy="178242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8212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917</Words>
  <Application>Microsoft Office PowerPoint</Application>
  <PresentationFormat>Widescreen</PresentationFormat>
  <Paragraphs>140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Link-Based Data Structures</vt:lpstr>
      <vt:lpstr>Link-Based Nodes</vt:lpstr>
      <vt:lpstr>Link-Based Nodes</vt:lpstr>
      <vt:lpstr>List</vt:lpstr>
      <vt:lpstr>List Array Based</vt:lpstr>
      <vt:lpstr>List Link Based</vt:lpstr>
      <vt:lpstr>Link-Based vs. Array Based</vt:lpstr>
      <vt:lpstr>Binary Trees</vt:lpstr>
      <vt:lpstr>Binary Trees</vt:lpstr>
      <vt:lpstr>Red-Black Trees</vt:lpstr>
      <vt:lpstr>Red-Black Trees</vt:lpstr>
      <vt:lpstr>Hash Tables</vt:lpstr>
      <vt:lpstr>Linear Probing</vt:lpstr>
      <vt:lpstr>Linear Probing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Mackentyre Rouse</dc:creator>
  <cp:lastModifiedBy>Joshua Mackentyre Rouse</cp:lastModifiedBy>
  <cp:revision>2</cp:revision>
  <dcterms:created xsi:type="dcterms:W3CDTF">2025-12-13T20:01:50Z</dcterms:created>
  <dcterms:modified xsi:type="dcterms:W3CDTF">2025-12-13T21:13:51Z</dcterms:modified>
</cp:coreProperties>
</file>