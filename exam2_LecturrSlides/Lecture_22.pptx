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0"/>
  </p:notesMasterIdLst>
  <p:sldIdLst>
    <p:sldId id="314" r:id="rId2"/>
    <p:sldId id="264" r:id="rId3"/>
    <p:sldId id="557" r:id="rId4"/>
    <p:sldId id="538" r:id="rId5"/>
    <p:sldId id="539" r:id="rId6"/>
    <p:sldId id="540" r:id="rId7"/>
    <p:sldId id="541" r:id="rId8"/>
    <p:sldId id="542" r:id="rId9"/>
    <p:sldId id="543" r:id="rId10"/>
    <p:sldId id="544" r:id="rId11"/>
    <p:sldId id="545" r:id="rId12"/>
    <p:sldId id="546" r:id="rId13"/>
    <p:sldId id="547" r:id="rId14"/>
    <p:sldId id="548" r:id="rId15"/>
    <p:sldId id="549" r:id="rId16"/>
    <p:sldId id="550" r:id="rId17"/>
    <p:sldId id="551" r:id="rId18"/>
    <p:sldId id="552" r:id="rId19"/>
    <p:sldId id="553" r:id="rId20"/>
    <p:sldId id="400" r:id="rId21"/>
    <p:sldId id="401" r:id="rId22"/>
    <p:sldId id="402" r:id="rId23"/>
    <p:sldId id="403" r:id="rId24"/>
    <p:sldId id="404" r:id="rId25"/>
    <p:sldId id="405" r:id="rId26"/>
    <p:sldId id="406" r:id="rId27"/>
    <p:sldId id="407" r:id="rId28"/>
    <p:sldId id="505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54" d="100"/>
          <a:sy n="154" d="100"/>
        </p:scale>
        <p:origin x="1926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DA500-0D83-4472-8117-89698D86169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50DD3-B5D8-4C49-8686-233E18939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0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1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6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3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0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5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4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0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7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86DDC-0F8A-4B0B-AEF9-E2022025D4D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3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184648"/>
            <a:ext cx="8077200" cy="1673352"/>
          </a:xfrm>
        </p:spPr>
        <p:txBody>
          <a:bodyPr anchor="ctr"/>
          <a:lstStyle/>
          <a:p>
            <a:pPr algn="ctr"/>
            <a:r>
              <a:rPr lang="en-US" dirty="0"/>
              <a:t>Lecture – </a:t>
            </a:r>
            <a:r>
              <a:rPr lang="en-US" dirty="0" smtClean="0"/>
              <a:t>11/19/2025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10584"/>
            <a:ext cx="8458200" cy="149961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CS 341 – Advanced Data Structures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8600"/>
            <a:ext cx="3810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568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29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 #5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Q/A</a:t>
            </a:r>
          </a:p>
        </p:txBody>
      </p:sp>
    </p:spTree>
    <p:extLst>
      <p:ext uri="{BB962C8B-B14F-4D97-AF65-F5344CB8AC3E}">
        <p14:creationId xmlns:p14="http://schemas.microsoft.com/office/powerpoint/2010/main" val="3150642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Hash Tables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18</a:t>
            </a:r>
          </a:p>
        </p:txBody>
      </p:sp>
    </p:spTree>
    <p:extLst>
      <p:ext uri="{BB962C8B-B14F-4D97-AF65-F5344CB8AC3E}">
        <p14:creationId xmlns:p14="http://schemas.microsoft.com/office/powerpoint/2010/main" val="3597681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Many different ways we can map a key to a specific “bucket.”</a:t>
            </a:r>
          </a:p>
          <a:p>
            <a:endParaRPr lang="en-US" dirty="0"/>
          </a:p>
          <a:p>
            <a:r>
              <a:rPr lang="en-US" dirty="0"/>
              <a:t>One of the most common and the simplest is to use modulus.</a:t>
            </a:r>
          </a:p>
          <a:p>
            <a:endParaRPr lang="en-US" dirty="0"/>
          </a:p>
          <a:p>
            <a:r>
              <a:rPr lang="en-US" dirty="0"/>
              <a:t>Our hashing function will be calculated as follows:</a:t>
            </a:r>
          </a:p>
          <a:p>
            <a:pPr marL="0" indent="0" algn="ctr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key %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size_of_hash_table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862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</a:t>
            </a:r>
          </a:p>
        </p:txBody>
      </p:sp>
      <p:pic>
        <p:nvPicPr>
          <p:cNvPr id="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328" y="1600200"/>
            <a:ext cx="5687343" cy="4525963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0659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Let’s take a look at an example…</a:t>
            </a:r>
          </a:p>
          <a:p>
            <a:endParaRPr lang="en-US" dirty="0"/>
          </a:p>
          <a:p>
            <a:r>
              <a:rPr lang="en-US" dirty="0"/>
              <a:t>What is the simplest Hash Table?</a:t>
            </a:r>
          </a:p>
          <a:p>
            <a:pPr lvl="1"/>
            <a:r>
              <a:rPr lang="en-US" dirty="0"/>
              <a:t>An Array of records.</a:t>
            </a:r>
          </a:p>
          <a:p>
            <a:pPr lvl="1"/>
            <a:endParaRPr lang="en-US" dirty="0"/>
          </a:p>
          <a:p>
            <a:r>
              <a:rPr lang="en-US" dirty="0"/>
              <a:t>We have a key and we can get the value – in theory the index of the element is the key. </a:t>
            </a:r>
          </a:p>
          <a:p>
            <a:pPr lvl="1"/>
            <a:r>
              <a:rPr lang="en-US" dirty="0"/>
              <a:t>Integers make great keys – but anything can be a key.</a:t>
            </a:r>
          </a:p>
        </p:txBody>
      </p:sp>
    </p:spTree>
    <p:extLst>
      <p:ext uri="{BB962C8B-B14F-4D97-AF65-F5344CB8AC3E}">
        <p14:creationId xmlns:p14="http://schemas.microsoft.com/office/powerpoint/2010/main" val="2613481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we want to insert a new element into a Hash Table we need to convert our key into the index of the Array.</a:t>
            </a:r>
          </a:p>
          <a:p>
            <a:endParaRPr lang="en-US" dirty="0"/>
          </a:p>
          <a:p>
            <a:r>
              <a:rPr lang="en-US" dirty="0"/>
              <a:t>This conversion process is known as </a:t>
            </a:r>
            <a:r>
              <a:rPr lang="en-US" b="1" u="sng" dirty="0"/>
              <a:t>hashing</a:t>
            </a:r>
            <a:r>
              <a:rPr lang="en-US" dirty="0"/>
              <a:t> and the index of the Array is known as the </a:t>
            </a:r>
            <a:r>
              <a:rPr lang="en-US" b="1" u="sng" dirty="0"/>
              <a:t>hash value</a:t>
            </a:r>
            <a:r>
              <a:rPr lang="en-US" dirty="0"/>
              <a:t> of the key.</a:t>
            </a:r>
          </a:p>
        </p:txBody>
      </p:sp>
    </p:spTree>
    <p:extLst>
      <p:ext uri="{BB962C8B-B14F-4D97-AF65-F5344CB8AC3E}">
        <p14:creationId xmlns:p14="http://schemas.microsoft.com/office/powerpoint/2010/main" val="3935900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the key is how do we select a hash function that will allow us to place our element into our “hash table?”</a:t>
            </a:r>
          </a:p>
          <a:p>
            <a:endParaRPr lang="en-US" dirty="0"/>
          </a:p>
          <a:p>
            <a:r>
              <a:rPr lang="en-US" dirty="0"/>
              <a:t>We could use the modulus of the key to find the appropriate “bucket” or Array indices. </a:t>
            </a:r>
          </a:p>
          <a:p>
            <a:pPr lvl="1"/>
            <a:r>
              <a:rPr lang="en-US" dirty="0"/>
              <a:t>This is a good approach in the given approach as it will allow us to manage our Array.</a:t>
            </a:r>
          </a:p>
        </p:txBody>
      </p:sp>
    </p:spTree>
    <p:extLst>
      <p:ext uri="{BB962C8B-B14F-4D97-AF65-F5344CB8AC3E}">
        <p14:creationId xmlns:p14="http://schemas.microsoft.com/office/powerpoint/2010/main" val="701613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Hash Function in the ideal situation is called a </a:t>
            </a:r>
            <a:r>
              <a:rPr lang="en-US" b="1" u="sng" dirty="0"/>
              <a:t>perfect hash function</a:t>
            </a:r>
            <a:r>
              <a:rPr lang="en-US" dirty="0"/>
              <a:t>.	</a:t>
            </a:r>
          </a:p>
          <a:p>
            <a:pPr lvl="1"/>
            <a:r>
              <a:rPr lang="en-US" dirty="0"/>
              <a:t>This function maps each search key into a unique location of the hash table.</a:t>
            </a:r>
          </a:p>
          <a:p>
            <a:pPr lvl="1"/>
            <a:endParaRPr lang="en-US" dirty="0"/>
          </a:p>
          <a:p>
            <a:r>
              <a:rPr lang="en-US" dirty="0"/>
              <a:t>A perfect hash function is only possible if you know all of the search keys.</a:t>
            </a:r>
          </a:p>
          <a:p>
            <a:pPr lvl="1"/>
            <a:r>
              <a:rPr lang="en-US" dirty="0"/>
              <a:t>What is the likelihood of this occurring?</a:t>
            </a:r>
          </a:p>
        </p:txBody>
      </p:sp>
    </p:spTree>
    <p:extLst>
      <p:ext uri="{BB962C8B-B14F-4D97-AF65-F5344CB8AC3E}">
        <p14:creationId xmlns:p14="http://schemas.microsoft.com/office/powerpoint/2010/main" val="3054911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Ok…let’s assume we are using our Array as a Hash Table and we have the following two key entries we need to insert 102 and 152.</a:t>
            </a:r>
          </a:p>
          <a:p>
            <a:endParaRPr lang="en-US" dirty="0"/>
          </a:p>
          <a:p>
            <a:r>
              <a:rPr lang="en-US" dirty="0"/>
              <a:t>Now, let’s assume that our hashing function is the KEY % 50.</a:t>
            </a:r>
          </a:p>
          <a:p>
            <a:pPr lvl="1"/>
            <a:r>
              <a:rPr lang="en-US" dirty="0"/>
              <a:t>Both entries yield a result of 2.</a:t>
            </a:r>
          </a:p>
          <a:p>
            <a:pPr lvl="2"/>
            <a:r>
              <a:rPr lang="en-US" dirty="0"/>
              <a:t>So, after we insert the key 102 into the 2</a:t>
            </a:r>
            <a:r>
              <a:rPr lang="en-US" baseline="30000" dirty="0"/>
              <a:t>nd</a:t>
            </a:r>
            <a:r>
              <a:rPr lang="en-US" dirty="0"/>
              <a:t> indexed position in the Array we have no space for the key 152….</a:t>
            </a:r>
          </a:p>
        </p:txBody>
      </p:sp>
    </p:spTree>
    <p:extLst>
      <p:ext uri="{BB962C8B-B14F-4D97-AF65-F5344CB8AC3E}">
        <p14:creationId xmlns:p14="http://schemas.microsoft.com/office/powerpoint/2010/main" val="3969403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295400"/>
            <a:ext cx="7619999" cy="5464847"/>
          </a:xfrm>
        </p:spPr>
      </p:pic>
    </p:spTree>
    <p:extLst>
      <p:ext uri="{BB962C8B-B14F-4D97-AF65-F5344CB8AC3E}">
        <p14:creationId xmlns:p14="http://schemas.microsoft.com/office/powerpoint/2010/main" val="2923391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we resolve a collision when one happens?</a:t>
            </a:r>
          </a:p>
          <a:p>
            <a:endParaRPr lang="en-US" dirty="0"/>
          </a:p>
          <a:p>
            <a:r>
              <a:rPr lang="en-US" dirty="0"/>
              <a:t>The easiest solution would to just move forward until we find an open position within our Array.</a:t>
            </a:r>
          </a:p>
          <a:p>
            <a:pPr lvl="1"/>
            <a:r>
              <a:rPr lang="en-US" dirty="0"/>
              <a:t>Now what do we do in the above scenario where our key of 152 is not located in Bucket #2?</a:t>
            </a:r>
          </a:p>
        </p:txBody>
      </p:sp>
    </p:spTree>
    <p:extLst>
      <p:ext uri="{BB962C8B-B14F-4D97-AF65-F5344CB8AC3E}">
        <p14:creationId xmlns:p14="http://schemas.microsoft.com/office/powerpoint/2010/main" val="586009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Selecting Digits:</a:t>
            </a:r>
          </a:p>
          <a:p>
            <a:pPr lvl="1"/>
            <a:r>
              <a:rPr lang="en-US" dirty="0"/>
              <a:t>You select specific digits in your search key to pick the index that the item should be inserted into.</a:t>
            </a:r>
          </a:p>
          <a:p>
            <a:pPr lvl="1"/>
            <a:endParaRPr lang="en-US" dirty="0"/>
          </a:p>
          <a:p>
            <a:r>
              <a:rPr lang="en-US" dirty="0"/>
              <a:t>Problem:</a:t>
            </a:r>
          </a:p>
          <a:p>
            <a:pPr lvl="1"/>
            <a:r>
              <a:rPr lang="en-US" dirty="0"/>
              <a:t>Does not distribute the entries evenly in the Hash Table.</a:t>
            </a:r>
          </a:p>
        </p:txBody>
      </p:sp>
    </p:spTree>
    <p:extLst>
      <p:ext uri="{BB962C8B-B14F-4D97-AF65-F5344CB8AC3E}">
        <p14:creationId xmlns:p14="http://schemas.microsoft.com/office/powerpoint/2010/main" val="3399662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Folding:</a:t>
            </a:r>
          </a:p>
          <a:p>
            <a:pPr lvl="1"/>
            <a:r>
              <a:rPr lang="en-US" dirty="0"/>
              <a:t>Here we could add up all of the digits of our search key and then place the entry in the summation index.</a:t>
            </a:r>
          </a:p>
          <a:p>
            <a:pPr lvl="1"/>
            <a:endParaRPr lang="en-US" dirty="0"/>
          </a:p>
          <a:p>
            <a:r>
              <a:rPr lang="en-US" dirty="0"/>
              <a:t>Problem:</a:t>
            </a:r>
          </a:p>
          <a:p>
            <a:pPr lvl="1"/>
            <a:r>
              <a:rPr lang="en-US" dirty="0"/>
              <a:t>We still have the potential for future collisions and you may have to “fold” a number of times before resolving the collision.</a:t>
            </a:r>
          </a:p>
        </p:txBody>
      </p:sp>
    </p:spTree>
    <p:extLst>
      <p:ext uri="{BB962C8B-B14F-4D97-AF65-F5344CB8AC3E}">
        <p14:creationId xmlns:p14="http://schemas.microsoft.com/office/powerpoint/2010/main" val="3067388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Modulo</a:t>
            </a:r>
          </a:p>
          <a:p>
            <a:pPr lvl="1"/>
            <a:r>
              <a:rPr lang="en-US" dirty="0"/>
              <a:t>Computing the modulus of the table size and placing the entry into that position.</a:t>
            </a:r>
          </a:p>
          <a:p>
            <a:pPr lvl="2"/>
            <a:r>
              <a:rPr lang="en-US" dirty="0"/>
              <a:t>This eliminates one of the problems with respect to folding.</a:t>
            </a:r>
          </a:p>
          <a:p>
            <a:pPr lvl="1"/>
            <a:endParaRPr lang="en-US" dirty="0"/>
          </a:p>
          <a:p>
            <a:r>
              <a:rPr lang="en-US" dirty="0"/>
              <a:t>Problem:</a:t>
            </a:r>
          </a:p>
          <a:p>
            <a:pPr lvl="1"/>
            <a:r>
              <a:rPr lang="en-US" dirty="0"/>
              <a:t>See the same explanation that we saw with folding in terms of multiple collisions – this approach tends to be a popular solution.</a:t>
            </a:r>
          </a:p>
        </p:txBody>
      </p:sp>
    </p:spTree>
    <p:extLst>
      <p:ext uri="{BB962C8B-B14F-4D97-AF65-F5344CB8AC3E}">
        <p14:creationId xmlns:p14="http://schemas.microsoft.com/office/powerpoint/2010/main" val="211018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Approach 1: Open Addressing</a:t>
            </a:r>
          </a:p>
          <a:p>
            <a:pPr lvl="1"/>
            <a:r>
              <a:rPr lang="en-US" altLang="en-US" dirty="0"/>
              <a:t>Linear Probing</a:t>
            </a:r>
          </a:p>
          <a:p>
            <a:pPr lvl="1"/>
            <a:r>
              <a:rPr lang="en-US" altLang="en-US" dirty="0"/>
              <a:t>Quadratic Probing</a:t>
            </a:r>
          </a:p>
          <a:p>
            <a:pPr lvl="1"/>
            <a:r>
              <a:rPr lang="en-US" altLang="en-US" dirty="0"/>
              <a:t>Double Hashing</a:t>
            </a:r>
          </a:p>
          <a:p>
            <a:pPr lvl="1"/>
            <a:r>
              <a:rPr lang="en-US" altLang="en-US" dirty="0"/>
              <a:t>Increase size of Hash Table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0096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search the Hash Table sequentially, starting from the original hash location until we find an open, unoccupied, spot/bucket to place the entry into.</a:t>
            </a:r>
          </a:p>
          <a:p>
            <a:pPr lvl="1"/>
            <a:r>
              <a:rPr lang="en-US" dirty="0"/>
              <a:t>If necessary you can “wrap around” to find an open spot.</a:t>
            </a:r>
          </a:p>
          <a:p>
            <a:pPr lvl="1"/>
            <a:endParaRPr lang="en-US" dirty="0"/>
          </a:p>
          <a:p>
            <a:r>
              <a:rPr lang="en-US" dirty="0"/>
              <a:t>Removals present a challenge however…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34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Insert(x)</a:t>
            </a:r>
          </a:p>
          <a:p>
            <a:pPr lvl="1"/>
            <a:r>
              <a:rPr lang="en-US" dirty="0"/>
              <a:t>Keep probing until an empty slot is found. Once an empty slot is found, insert key.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Search(x)</a:t>
            </a:r>
          </a:p>
          <a:p>
            <a:pPr lvl="1"/>
            <a:r>
              <a:rPr lang="en-US" dirty="0"/>
              <a:t>Keep probing until slot’s key doesn’t become equal to x or an empty slot is reached.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Delete(k)</a:t>
            </a:r>
          </a:p>
          <a:p>
            <a:pPr lvl="1"/>
            <a:r>
              <a:rPr lang="en-US" dirty="0"/>
              <a:t>Keep probing until the keys slot is found and remove the key.</a:t>
            </a:r>
          </a:p>
          <a:p>
            <a:pPr lvl="2"/>
            <a:r>
              <a:rPr lang="en-US" dirty="0"/>
              <a:t>More on this later, as it is quite complex…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443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</a:t>
            </a:r>
          </a:p>
        </p:txBody>
      </p:sp>
      <p:pic>
        <p:nvPicPr>
          <p:cNvPr id="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3278" y="1600200"/>
            <a:ext cx="5477443" cy="4525963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5420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Probing:</a:t>
            </a:r>
          </a:p>
          <a:p>
            <a:pPr lvl="1"/>
            <a:r>
              <a:rPr lang="en-US" dirty="0"/>
              <a:t> Collision Scheme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hash(x</a:t>
            </a:r>
            <a:r>
              <a:rPr lang="en-US" sz="3600">
                <a:latin typeface="Courier New" panose="02070309020205020404" pitchFamily="49" charset="0"/>
                <a:cs typeface="Courier New" panose="02070309020205020404" pitchFamily="49" charset="0"/>
              </a:rPr>
              <a:t>) = x 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% size + n</a:t>
            </a:r>
          </a:p>
        </p:txBody>
      </p:sp>
    </p:spTree>
    <p:extLst>
      <p:ext uri="{BB962C8B-B14F-4D97-AF65-F5344CB8AC3E}">
        <p14:creationId xmlns:p14="http://schemas.microsoft.com/office/powerpoint/2010/main" val="355034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you remove an entry we can’t just leave the space “open” because we could place an entry that doesn’t belong in the spot due to Linear Probing.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sz="4800" b="1" i="1" dirty="0"/>
              <a:t>Why???</a:t>
            </a:r>
          </a:p>
        </p:txBody>
      </p:sp>
    </p:spTree>
    <p:extLst>
      <p:ext uri="{BB962C8B-B14F-4D97-AF65-F5344CB8AC3E}">
        <p14:creationId xmlns:p14="http://schemas.microsoft.com/office/powerpoint/2010/main" val="1313697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Let’s say you wanted to two values – x and y (both of which had the same hash value.</a:t>
            </a:r>
          </a:p>
          <a:p>
            <a:pPr lvl="1"/>
            <a:r>
              <a:rPr lang="en-US" dirty="0"/>
              <a:t>Using Linear Probing when we find that the first spot is taken we move to the next open spot to insert y.</a:t>
            </a:r>
          </a:p>
          <a:p>
            <a:pPr lvl="1"/>
            <a:endParaRPr lang="en-US" dirty="0"/>
          </a:p>
          <a:p>
            <a:r>
              <a:rPr lang="en-US" dirty="0"/>
              <a:t>Now let’s say that we remove the first entry, x, and mark that bucket as open. When we attempt to search for y we will compute the hash and look in the bucket previously occupied by x but we won’t find y.</a:t>
            </a:r>
          </a:p>
          <a:p>
            <a:pPr lvl="1"/>
            <a:r>
              <a:rPr lang="en-US" dirty="0"/>
              <a:t>This is a problem!</a:t>
            </a:r>
          </a:p>
        </p:txBody>
      </p:sp>
    </p:spTree>
    <p:extLst>
      <p:ext uri="{BB962C8B-B14F-4D97-AF65-F5344CB8AC3E}">
        <p14:creationId xmlns:p14="http://schemas.microsoft.com/office/powerpoint/2010/main" val="17321500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Solution:</a:t>
            </a:r>
          </a:p>
          <a:p>
            <a:pPr lvl="1"/>
            <a:r>
              <a:rPr lang="en-US" dirty="0"/>
              <a:t>Occupied</a:t>
            </a:r>
          </a:p>
          <a:p>
            <a:pPr lvl="1"/>
            <a:r>
              <a:rPr lang="en-US" dirty="0"/>
              <a:t>Empty</a:t>
            </a:r>
          </a:p>
          <a:p>
            <a:pPr lvl="1"/>
            <a:r>
              <a:rPr lang="en-US" dirty="0"/>
              <a:t>Removed</a:t>
            </a:r>
          </a:p>
          <a:p>
            <a:pPr lvl="1"/>
            <a:endParaRPr lang="en-US" dirty="0"/>
          </a:p>
          <a:p>
            <a:r>
              <a:rPr lang="en-US" dirty="0"/>
              <a:t>Removed:</a:t>
            </a:r>
          </a:p>
          <a:p>
            <a:pPr lvl="1"/>
            <a:r>
              <a:rPr lang="en-US" dirty="0"/>
              <a:t>This status tells us to keep looking as when we originally inserted the value it had to use a different hash to find an open position.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8208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Occupied:</a:t>
            </a:r>
          </a:p>
          <a:p>
            <a:pPr lvl="1"/>
            <a:r>
              <a:rPr lang="en-US" dirty="0"/>
              <a:t>This indexed position is currently held by an entry in the Hash Table.</a:t>
            </a:r>
          </a:p>
          <a:p>
            <a:pPr lvl="1"/>
            <a:endParaRPr lang="en-US" dirty="0"/>
          </a:p>
          <a:p>
            <a:r>
              <a:rPr lang="en-US" dirty="0"/>
              <a:t>Empty:</a:t>
            </a:r>
          </a:p>
          <a:p>
            <a:pPr lvl="1"/>
            <a:r>
              <a:rPr lang="en-US" dirty="0"/>
              <a:t>This indexed position has never been used by an entry.</a:t>
            </a:r>
          </a:p>
          <a:p>
            <a:pPr lvl="1"/>
            <a:endParaRPr lang="en-US" dirty="0"/>
          </a:p>
          <a:p>
            <a:r>
              <a:rPr lang="en-US" dirty="0"/>
              <a:t>Removed:</a:t>
            </a:r>
          </a:p>
          <a:p>
            <a:pPr lvl="1"/>
            <a:r>
              <a:rPr lang="en-US" dirty="0"/>
              <a:t>This indexed position previously held an entry (Occupied) but is now available.</a:t>
            </a:r>
          </a:p>
        </p:txBody>
      </p:sp>
    </p:spTree>
    <p:extLst>
      <p:ext uri="{BB962C8B-B14F-4D97-AF65-F5344CB8AC3E}">
        <p14:creationId xmlns:p14="http://schemas.microsoft.com/office/powerpoint/2010/main" val="20450609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Question:</a:t>
            </a:r>
          </a:p>
          <a:p>
            <a:pPr lvl="1"/>
            <a:r>
              <a:rPr lang="en-US" dirty="0"/>
              <a:t>If we insert a bunch of entries and then delete them does that render the table useless as all of the positions would essentially be marked as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REMOVED</a:t>
            </a:r>
            <a:r>
              <a:rPr lang="en-US" dirty="0"/>
              <a:t>?</a:t>
            </a:r>
          </a:p>
          <a:p>
            <a:pPr lvl="1"/>
            <a:endParaRPr lang="en-US" dirty="0"/>
          </a:p>
          <a:p>
            <a:r>
              <a:rPr lang="en-US" dirty="0"/>
              <a:t>Answer:</a:t>
            </a:r>
          </a:p>
          <a:p>
            <a:pPr lvl="1"/>
            <a:r>
              <a:rPr lang="en-US" dirty="0"/>
              <a:t>No, because we can still insert something into either an Empty or Removed bucket since that will ensure that any search will still force the proper probing to be completed.</a:t>
            </a:r>
          </a:p>
        </p:txBody>
      </p:sp>
    </p:spTree>
    <p:extLst>
      <p:ext uri="{BB962C8B-B14F-4D97-AF65-F5344CB8AC3E}">
        <p14:creationId xmlns:p14="http://schemas.microsoft.com/office/powerpoint/2010/main" val="3072987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Probing Problems:</a:t>
            </a:r>
          </a:p>
          <a:p>
            <a:pPr lvl="1"/>
            <a:r>
              <a:rPr lang="en-US" dirty="0"/>
              <a:t>The entries tend to cluster together.</a:t>
            </a:r>
          </a:p>
          <a:p>
            <a:pPr lvl="1"/>
            <a:endParaRPr lang="en-US" dirty="0"/>
          </a:p>
          <a:p>
            <a:r>
              <a:rPr lang="en-US" dirty="0"/>
              <a:t>Primary Clustering</a:t>
            </a:r>
          </a:p>
          <a:p>
            <a:pPr lvl="1"/>
            <a:r>
              <a:rPr lang="en-US" dirty="0"/>
              <a:t>Clusters tend to get closer and closer together and ultimately end up in larger clusters.</a:t>
            </a:r>
          </a:p>
          <a:p>
            <a:pPr lvl="2"/>
            <a:r>
              <a:rPr lang="en-US" dirty="0"/>
              <a:t>Population control</a:t>
            </a:r>
          </a:p>
          <a:p>
            <a:pPr lvl="1"/>
            <a:r>
              <a:rPr lang="en-US" dirty="0"/>
              <a:t>Long Probe Searches!</a:t>
            </a:r>
          </a:p>
          <a:p>
            <a:pPr lvl="2"/>
            <a:r>
              <a:rPr lang="en-US" dirty="0"/>
              <a:t>Decrease overall efficiency of hashing.</a:t>
            </a:r>
          </a:p>
          <a:p>
            <a:pPr marL="914400" lvl="2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8552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035C009-B189-4362-B3B7-7EA766D0D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42118"/>
            <a:ext cx="8229600" cy="597376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496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771297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6497</TotalTime>
  <Words>992</Words>
  <Application>Microsoft Office PowerPoint</Application>
  <PresentationFormat>On-screen Show (4:3)</PresentationFormat>
  <Paragraphs>137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Courier New</vt:lpstr>
      <vt:lpstr>Office Theme</vt:lpstr>
      <vt:lpstr>Lecture – 11/19/2025</vt:lpstr>
      <vt:lpstr>PowerPoint Presentation</vt:lpstr>
      <vt:lpstr>Assignment #5</vt:lpstr>
      <vt:lpstr>Hash Tables</vt:lpstr>
      <vt:lpstr>Hashing</vt:lpstr>
      <vt:lpstr>Hashing</vt:lpstr>
      <vt:lpstr>Hashing</vt:lpstr>
      <vt:lpstr>Hashing</vt:lpstr>
      <vt:lpstr>Hashing</vt:lpstr>
      <vt:lpstr>Hashing</vt:lpstr>
      <vt:lpstr>Hashing</vt:lpstr>
      <vt:lpstr>Hashing</vt:lpstr>
      <vt:lpstr>Collisions</vt:lpstr>
      <vt:lpstr>Collisions</vt:lpstr>
      <vt:lpstr>Collisions</vt:lpstr>
      <vt:lpstr>Collisions</vt:lpstr>
      <vt:lpstr>Collisions</vt:lpstr>
      <vt:lpstr>Linear Probing</vt:lpstr>
      <vt:lpstr>Linear Probing</vt:lpstr>
      <vt:lpstr>Linear Probing</vt:lpstr>
      <vt:lpstr>Linear Probing</vt:lpstr>
      <vt:lpstr>Linear Probing</vt:lpstr>
      <vt:lpstr>Linear Probing</vt:lpstr>
      <vt:lpstr>Linear Probing</vt:lpstr>
      <vt:lpstr>Linear Probing</vt:lpstr>
      <vt:lpstr>Linear Probing</vt:lpstr>
      <vt:lpstr>Linear Probing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Rybarczyk</dc:creator>
  <cp:lastModifiedBy>Ryan Rybarczyk</cp:lastModifiedBy>
  <cp:revision>584</cp:revision>
  <dcterms:created xsi:type="dcterms:W3CDTF">2011-07-22T18:36:28Z</dcterms:created>
  <dcterms:modified xsi:type="dcterms:W3CDTF">2025-11-19T01:47:13Z</dcterms:modified>
</cp:coreProperties>
</file>