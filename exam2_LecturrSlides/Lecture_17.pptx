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sldIdLst>
    <p:sldId id="314" r:id="rId2"/>
    <p:sldId id="589" r:id="rId3"/>
    <p:sldId id="395" r:id="rId4"/>
    <p:sldId id="439" r:id="rId5"/>
    <p:sldId id="440" r:id="rId6"/>
    <p:sldId id="441" r:id="rId7"/>
    <p:sldId id="442" r:id="rId8"/>
    <p:sldId id="443" r:id="rId9"/>
    <p:sldId id="444" r:id="rId10"/>
    <p:sldId id="445" r:id="rId11"/>
    <p:sldId id="446" r:id="rId12"/>
    <p:sldId id="462" r:id="rId13"/>
    <p:sldId id="463" r:id="rId14"/>
    <p:sldId id="464" r:id="rId15"/>
    <p:sldId id="465" r:id="rId16"/>
    <p:sldId id="466" r:id="rId17"/>
    <p:sldId id="467" r:id="rId18"/>
    <p:sldId id="447" r:id="rId19"/>
    <p:sldId id="339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660"/>
  </p:normalViewPr>
  <p:slideViewPr>
    <p:cSldViewPr>
      <p:cViewPr varScale="1">
        <p:scale>
          <a:sx n="79" d="100"/>
          <a:sy n="79" d="100"/>
        </p:scale>
        <p:origin x="1464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DA500-0D83-4472-8117-89698D861692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50DD3-B5D8-4C49-8686-233E18939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0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1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6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3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0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5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4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0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7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86DDC-0F8A-4B0B-AEF9-E2022025D4D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3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184648"/>
            <a:ext cx="8077200" cy="1673352"/>
          </a:xfrm>
        </p:spPr>
        <p:txBody>
          <a:bodyPr anchor="ctr"/>
          <a:lstStyle/>
          <a:p>
            <a:pPr algn="ctr"/>
            <a:r>
              <a:rPr lang="en-US" dirty="0"/>
              <a:t>Lecture – 11/3/2025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10584"/>
            <a:ext cx="8458200" cy="149961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CS 341 – Advanced Data Structures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8600"/>
            <a:ext cx="381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568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in a suit&#10;&#10;Description automatically generated">
            <a:extLst>
              <a:ext uri="{FF2B5EF4-FFF2-40B4-BE49-F238E27FC236}">
                <a16:creationId xmlns:a16="http://schemas.microsoft.com/office/drawing/2014/main" id="{6A533BA7-49E6-4485-86DC-4333AA25DF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5" b="15556"/>
          <a:stretch/>
        </p:blipFill>
        <p:spPr>
          <a:xfrm>
            <a:off x="1828800" y="42125"/>
            <a:ext cx="5562600" cy="681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562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#4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Q/A</a:t>
            </a:r>
          </a:p>
        </p:txBody>
      </p:sp>
    </p:spTree>
    <p:extLst>
      <p:ext uri="{BB962C8B-B14F-4D97-AF65-F5344CB8AC3E}">
        <p14:creationId xmlns:p14="http://schemas.microsoft.com/office/powerpoint/2010/main" val="2821818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Trees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15</a:t>
            </a:r>
          </a:p>
        </p:txBody>
      </p:sp>
    </p:spTree>
    <p:extLst>
      <p:ext uri="{BB962C8B-B14F-4D97-AF65-F5344CB8AC3E}">
        <p14:creationId xmlns:p14="http://schemas.microsoft.com/office/powerpoint/2010/main" val="970168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Every Node in a binary tree can have </a:t>
            </a:r>
            <a:r>
              <a:rPr lang="en-US" b="1" u="sng" dirty="0"/>
              <a:t>at most </a:t>
            </a:r>
            <a:r>
              <a:rPr lang="en-US" dirty="0"/>
              <a:t>two children.</a:t>
            </a:r>
          </a:p>
          <a:p>
            <a:pPr lvl="1"/>
            <a:r>
              <a:rPr lang="en-US" dirty="0"/>
              <a:t>The two children of each node are called the Left Child  and Right Child corresponding to their positions within the tree.</a:t>
            </a:r>
          </a:p>
          <a:p>
            <a:endParaRPr lang="en-US" dirty="0"/>
          </a:p>
          <a:p>
            <a:r>
              <a:rPr lang="en-US" dirty="0"/>
              <a:t>A Node can have only a Left Child or only a Right Child or it can have no children at all.</a:t>
            </a:r>
          </a:p>
          <a:p>
            <a:pPr lvl="1"/>
            <a:r>
              <a:rPr lang="en-US" dirty="0"/>
              <a:t>The Left Child is always less than its parent.</a:t>
            </a:r>
          </a:p>
          <a:p>
            <a:pPr lvl="1"/>
            <a:r>
              <a:rPr lang="en-US" dirty="0"/>
              <a:t>The Right Child is greater than its parent.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686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Rules:</a:t>
            </a:r>
          </a:p>
          <a:p>
            <a:pPr lvl="1"/>
            <a:r>
              <a:rPr lang="en-US" dirty="0"/>
              <a:t>For each node N, a binary search tree satisfies the following three properties:</a:t>
            </a:r>
          </a:p>
          <a:p>
            <a:pPr lvl="1"/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N’s value is greater than all values in its left subtree </a:t>
            </a:r>
            <a:r>
              <a:rPr lang="en-US" dirty="0" err="1"/>
              <a:t>T</a:t>
            </a:r>
            <a:r>
              <a:rPr lang="en-US" baseline="-25000" dirty="0" err="1"/>
              <a:t>left</a:t>
            </a:r>
            <a:endParaRPr lang="en-US" baseline="-25000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N’s value is less than all values in its right subtree </a:t>
            </a:r>
            <a:r>
              <a:rPr lang="en-US" dirty="0" err="1"/>
              <a:t>T</a:t>
            </a:r>
            <a:r>
              <a:rPr lang="en-US" baseline="-25000" dirty="0" err="1"/>
              <a:t>right</a:t>
            </a:r>
            <a:endParaRPr lang="en-US" baseline="-25000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Both </a:t>
            </a:r>
            <a:r>
              <a:rPr lang="en-US" dirty="0" err="1"/>
              <a:t>T</a:t>
            </a:r>
            <a:r>
              <a:rPr lang="en-US" baseline="-25000" dirty="0" err="1"/>
              <a:t>left</a:t>
            </a:r>
            <a:r>
              <a:rPr lang="en-US" baseline="-25000" dirty="0"/>
              <a:t> </a:t>
            </a:r>
            <a:r>
              <a:rPr lang="en-US" dirty="0"/>
              <a:t>and </a:t>
            </a:r>
            <a:r>
              <a:rPr lang="en-US" dirty="0" err="1"/>
              <a:t>T</a:t>
            </a:r>
            <a:r>
              <a:rPr lang="en-US" baseline="-25000" dirty="0" err="1"/>
              <a:t>right</a:t>
            </a:r>
            <a:r>
              <a:rPr lang="en-US" dirty="0"/>
              <a:t> are binary search trees.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591662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Full Binary Tree</a:t>
            </a:r>
          </a:p>
          <a:p>
            <a:pPr lvl="1"/>
            <a:r>
              <a:rPr lang="en-US" dirty="0"/>
              <a:t>Assume we have a tree of height h, all nodes that are at a level less than h have two children each.</a:t>
            </a:r>
          </a:p>
          <a:p>
            <a:pPr lvl="1"/>
            <a:endParaRPr lang="en-US" dirty="0"/>
          </a:p>
          <a:p>
            <a:r>
              <a:rPr lang="en-US" dirty="0"/>
              <a:t>Proof:</a:t>
            </a:r>
          </a:p>
          <a:p>
            <a:pPr lvl="1"/>
            <a:r>
              <a:rPr lang="en-US" dirty="0"/>
              <a:t>If T is empty, T is a full binary tree of height 0.</a:t>
            </a:r>
          </a:p>
          <a:p>
            <a:pPr lvl="1"/>
            <a:r>
              <a:rPr lang="en-US" dirty="0"/>
              <a:t>If T is not empty and has a height h &gt; 0, T is a full binary tree if its root’s subtrees are both full binary trees of height h - 1.</a:t>
            </a:r>
          </a:p>
        </p:txBody>
      </p:sp>
    </p:spTree>
    <p:extLst>
      <p:ext uri="{BB962C8B-B14F-4D97-AF65-F5344CB8AC3E}">
        <p14:creationId xmlns:p14="http://schemas.microsoft.com/office/powerpoint/2010/main" val="3808215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Full </a:t>
            </a:r>
            <a:r>
              <a:rPr lang="en-US"/>
              <a:t>Binary Tree</a:t>
            </a:r>
            <a:endParaRPr lang="en-US" dirty="0"/>
          </a:p>
          <a:p>
            <a:pPr lvl="1"/>
            <a:r>
              <a:rPr lang="en-US" dirty="0"/>
              <a:t>A full binary tree of height h ≥ 0 has 2</a:t>
            </a:r>
            <a:r>
              <a:rPr lang="en-US" baseline="30000" dirty="0"/>
              <a:t>h</a:t>
            </a:r>
            <a:r>
              <a:rPr lang="en-US" dirty="0"/>
              <a:t> -1 nodes.</a:t>
            </a:r>
          </a:p>
          <a:p>
            <a:pPr lvl="1"/>
            <a:r>
              <a:rPr lang="en-US" dirty="0"/>
              <a:t>You cannot add nodes to a full binary tree without increasing its height.</a:t>
            </a:r>
          </a:p>
          <a:p>
            <a:pPr lvl="2"/>
            <a:r>
              <a:rPr lang="en-US" dirty="0"/>
              <a:t>Why?</a:t>
            </a:r>
          </a:p>
          <a:p>
            <a:pPr lvl="1"/>
            <a:r>
              <a:rPr lang="en-US" dirty="0"/>
              <a:t>The maximum number of nodes that a binary tree of height h can have is 2</a:t>
            </a:r>
            <a:r>
              <a:rPr lang="en-US" baseline="30000" dirty="0"/>
              <a:t>h</a:t>
            </a:r>
            <a:r>
              <a:rPr lang="en-US" dirty="0"/>
              <a:t> -1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806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Complete Binary Tree</a:t>
            </a:r>
          </a:p>
          <a:p>
            <a:pPr lvl="1"/>
            <a:r>
              <a:rPr lang="en-US" dirty="0"/>
              <a:t>A binary tree that is full down to level h-1, with level h filled in from left to right.</a:t>
            </a:r>
          </a:p>
          <a:p>
            <a:pPr lvl="1"/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All nodes at level h-2 and above have two children each.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When a node at level h-1 has children, all nodes to its left at the same level have two children each.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When a node at level h-1 has one child it is a left child.</a:t>
            </a:r>
          </a:p>
        </p:txBody>
      </p:sp>
    </p:spTree>
    <p:extLst>
      <p:ext uri="{BB962C8B-B14F-4D97-AF65-F5344CB8AC3E}">
        <p14:creationId xmlns:p14="http://schemas.microsoft.com/office/powerpoint/2010/main" val="1868201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Fully Balanced:</a:t>
            </a:r>
          </a:p>
          <a:p>
            <a:pPr lvl="1"/>
            <a:r>
              <a:rPr lang="en-US" dirty="0"/>
              <a:t>If the height of any node’s right subtree differs from the height of the node’s left subtree by no more than 1.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i="1" dirty="0"/>
              <a:t>Why is this important when it comes to trees?</a:t>
            </a:r>
          </a:p>
        </p:txBody>
      </p:sp>
    </p:spTree>
    <p:extLst>
      <p:ext uri="{BB962C8B-B14F-4D97-AF65-F5344CB8AC3E}">
        <p14:creationId xmlns:p14="http://schemas.microsoft.com/office/powerpoint/2010/main" val="4157440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Construction</a:t>
            </a:r>
          </a:p>
          <a:p>
            <a:pPr lvl="1"/>
            <a:r>
              <a:rPr lang="en-US" dirty="0"/>
              <a:t>Similar to our Doubly Linked List we created in Assignment #4.</a:t>
            </a:r>
          </a:p>
          <a:p>
            <a:pPr lvl="1"/>
            <a:r>
              <a:rPr lang="en-US" dirty="0"/>
              <a:t>Each Node will have a pointer to two children Nodes.</a:t>
            </a:r>
          </a:p>
          <a:p>
            <a:pPr lvl="2"/>
            <a:r>
              <a:rPr lang="en-US" dirty="0"/>
              <a:t>These nodes can have children of their own or they can be NULL values.</a:t>
            </a:r>
          </a:p>
          <a:p>
            <a:pPr lvl="3"/>
            <a:r>
              <a:rPr lang="en-US" dirty="0"/>
              <a:t>IF both children of a Node are pointing at the NULLPTR then we know we are dealing with a Leaf Node.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253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19</a:t>
            </a:r>
          </a:p>
        </p:txBody>
      </p:sp>
    </p:spTree>
    <p:extLst>
      <p:ext uri="{BB962C8B-B14F-4D97-AF65-F5344CB8AC3E}">
        <p14:creationId xmlns:p14="http://schemas.microsoft.com/office/powerpoint/2010/main" val="4088139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type of balanced Binary Search Tree (BST).</a:t>
            </a:r>
          </a:p>
          <a:p>
            <a:pPr lvl="1"/>
            <a:r>
              <a:rPr lang="en-US" dirty="0"/>
              <a:t>We have been using this idea of balance previously when introducing BST.</a:t>
            </a:r>
          </a:p>
          <a:p>
            <a:pPr lvl="1"/>
            <a:r>
              <a:rPr lang="en-US" dirty="0"/>
              <a:t>All the same properties </a:t>
            </a:r>
            <a:r>
              <a:rPr lang="en-US"/>
              <a:t>of BST hold here.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Each Node has a color – either </a:t>
            </a:r>
            <a:r>
              <a:rPr lang="en-US" dirty="0">
                <a:solidFill>
                  <a:srgbClr val="FF0000"/>
                </a:solidFill>
              </a:rPr>
              <a:t>RED</a:t>
            </a:r>
            <a:r>
              <a:rPr lang="en-US" dirty="0"/>
              <a:t> or BLACK – which helps to maintain balance within the tree hierarchy.</a:t>
            </a:r>
          </a:p>
          <a:p>
            <a:endParaRPr lang="en-US" dirty="0"/>
          </a:p>
          <a:p>
            <a:r>
              <a:rPr lang="en-US" dirty="0"/>
              <a:t>This balance ensures efficient tree operations.</a:t>
            </a:r>
          </a:p>
        </p:txBody>
      </p:sp>
    </p:spTree>
    <p:extLst>
      <p:ext uri="{BB962C8B-B14F-4D97-AF65-F5344CB8AC3E}">
        <p14:creationId xmlns:p14="http://schemas.microsoft.com/office/powerpoint/2010/main" val="3471517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Binary Search Tree operations take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O(h) </a:t>
            </a:r>
            <a:r>
              <a:rPr lang="en-US" dirty="0"/>
              <a:t>time – where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en-US" dirty="0"/>
              <a:t> is the height of the tree.</a:t>
            </a:r>
          </a:p>
          <a:p>
            <a:endParaRPr lang="en-US" dirty="0"/>
          </a:p>
          <a:p>
            <a:r>
              <a:rPr lang="en-US" dirty="0"/>
              <a:t>This can quickly become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O(n)</a:t>
            </a:r>
            <a:r>
              <a:rPr lang="en-US" dirty="0"/>
              <a:t> if the tree is unbalanced.</a:t>
            </a:r>
          </a:p>
          <a:p>
            <a:pPr lvl="1"/>
            <a:r>
              <a:rPr lang="en-US" dirty="0"/>
              <a:t>We would obviously desire a much better upper bound for our tree operations.</a:t>
            </a:r>
          </a:p>
        </p:txBody>
      </p:sp>
    </p:spTree>
    <p:extLst>
      <p:ext uri="{BB962C8B-B14F-4D97-AF65-F5344CB8AC3E}">
        <p14:creationId xmlns:p14="http://schemas.microsoft.com/office/powerpoint/2010/main" val="3036653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Balance is important as it allows for “optimal” search/insertion/deletion times within the tree.</a:t>
            </a:r>
          </a:p>
          <a:p>
            <a:pPr lvl="1"/>
            <a:r>
              <a:rPr lang="en-US" dirty="0"/>
              <a:t>Unbalanced Trees can have time worse than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log N</a:t>
            </a:r>
            <a:r>
              <a:rPr lang="en-US" dirty="0"/>
              <a:t> for basic tree operations.</a:t>
            </a:r>
          </a:p>
          <a:p>
            <a:pPr lvl="1"/>
            <a:endParaRPr lang="en-US" dirty="0"/>
          </a:p>
          <a:p>
            <a:r>
              <a:rPr lang="en-US" i="1" dirty="0"/>
              <a:t>If we desire the optimal time for our tree is there a way we can ensure that the tree is always kept in a balanced state? </a:t>
            </a:r>
          </a:p>
        </p:txBody>
      </p:sp>
    </p:spTree>
    <p:extLst>
      <p:ext uri="{BB962C8B-B14F-4D97-AF65-F5344CB8AC3E}">
        <p14:creationId xmlns:p14="http://schemas.microsoft.com/office/powerpoint/2010/main" val="2217279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Rules: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 Red-Black Tree must be a type of Binary Search Tree.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root of the entire tree is Black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Every Node when inserted begins as a Red Node.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If a Node is Red then its Children must be Black.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Every path from a Node to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r>
              <a:rPr lang="en-US" dirty="0"/>
              <a:t> must contain the same number of Black Nodes.</a:t>
            </a:r>
          </a:p>
          <a:p>
            <a:pPr marL="1371600" lvl="2" indent="-514350"/>
            <a:r>
              <a:rPr lang="en-US" dirty="0"/>
              <a:t>This ensures that the tree will remain balanced.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Every leaf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r>
              <a:rPr lang="en-US" dirty="0"/>
              <a:t>) must be Black.</a:t>
            </a:r>
          </a:p>
        </p:txBody>
      </p:sp>
    </p:spTree>
    <p:extLst>
      <p:ext uri="{BB962C8B-B14F-4D97-AF65-F5344CB8AC3E}">
        <p14:creationId xmlns:p14="http://schemas.microsoft.com/office/powerpoint/2010/main" val="4062886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will need to create a new Class – </a:t>
            </a:r>
            <a:r>
              <a:rPr lang="en-US" dirty="0" err="1"/>
              <a:t>TreeNode</a:t>
            </a:r>
            <a:r>
              <a:rPr lang="en-US" dirty="0"/>
              <a:t> – that will inherit from our Node Class and add the following attributes:</a:t>
            </a:r>
          </a:p>
          <a:p>
            <a:pPr lvl="1"/>
            <a:r>
              <a:rPr lang="en-US" dirty="0"/>
              <a:t>Left Child</a:t>
            </a:r>
          </a:p>
          <a:p>
            <a:pPr lvl="1"/>
            <a:r>
              <a:rPr lang="en-US" dirty="0"/>
              <a:t>Right Child</a:t>
            </a:r>
          </a:p>
          <a:p>
            <a:pPr lvl="1"/>
            <a:r>
              <a:rPr lang="en-US" dirty="0"/>
              <a:t>Parent</a:t>
            </a:r>
          </a:p>
          <a:p>
            <a:pPr lvl="1"/>
            <a:endParaRPr lang="en-US" dirty="0"/>
          </a:p>
          <a:p>
            <a:r>
              <a:rPr lang="en-US" dirty="0"/>
              <a:t>For the Red-Black Tree we also need to add an attribute to store the color of the Node.</a:t>
            </a:r>
          </a:p>
        </p:txBody>
      </p:sp>
    </p:spTree>
    <p:extLst>
      <p:ext uri="{BB962C8B-B14F-4D97-AF65-F5344CB8AC3E}">
        <p14:creationId xmlns:p14="http://schemas.microsoft.com/office/powerpoint/2010/main" val="2149974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Binary Search Tree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In-Class Example</a:t>
            </a:r>
          </a:p>
        </p:txBody>
      </p:sp>
    </p:spTree>
    <p:extLst>
      <p:ext uri="{BB962C8B-B14F-4D97-AF65-F5344CB8AC3E}">
        <p14:creationId xmlns:p14="http://schemas.microsoft.com/office/powerpoint/2010/main" val="1356900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5C009-B189-4362-B3B7-7EA766D0D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42118"/>
            <a:ext cx="8229600" cy="59737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49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330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</TotalTime>
  <Words>777</Words>
  <Application>Microsoft Office PowerPoint</Application>
  <PresentationFormat>On-screen Show (4:3)</PresentationFormat>
  <Paragraphs>91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Office Theme</vt:lpstr>
      <vt:lpstr>Lecture – 11/3/2025</vt:lpstr>
      <vt:lpstr>PowerPoint Presentation</vt:lpstr>
      <vt:lpstr>Assignment #4</vt:lpstr>
      <vt:lpstr>Trees</vt:lpstr>
      <vt:lpstr>Binary Trees</vt:lpstr>
      <vt:lpstr>Binary Trees</vt:lpstr>
      <vt:lpstr>Binary Trees</vt:lpstr>
      <vt:lpstr>Binary Trees</vt:lpstr>
      <vt:lpstr>Binary Tree</vt:lpstr>
      <vt:lpstr>Binary Tree</vt:lpstr>
      <vt:lpstr>Binary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Binary Search Tree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Rybarczyk</dc:creator>
  <cp:lastModifiedBy>Ryan Rybarczyk</cp:lastModifiedBy>
  <cp:revision>568</cp:revision>
  <dcterms:created xsi:type="dcterms:W3CDTF">2011-07-22T18:36:28Z</dcterms:created>
  <dcterms:modified xsi:type="dcterms:W3CDTF">2025-11-03T16:05:00Z</dcterms:modified>
</cp:coreProperties>
</file>