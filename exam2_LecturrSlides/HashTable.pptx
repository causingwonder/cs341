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539" r:id="rId2"/>
    <p:sldId id="540" r:id="rId3"/>
    <p:sldId id="541" r:id="rId4"/>
    <p:sldId id="542" r:id="rId5"/>
    <p:sldId id="543" r:id="rId6"/>
    <p:sldId id="544" r:id="rId7"/>
    <p:sldId id="545" r:id="rId8"/>
    <p:sldId id="547" r:id="rId9"/>
    <p:sldId id="548" r:id="rId10"/>
    <p:sldId id="549" r:id="rId11"/>
    <p:sldId id="550" r:id="rId12"/>
    <p:sldId id="551" r:id="rId13"/>
    <p:sldId id="552" r:id="rId14"/>
    <p:sldId id="553" r:id="rId15"/>
    <p:sldId id="400" r:id="rId16"/>
    <p:sldId id="401" r:id="rId17"/>
    <p:sldId id="402" r:id="rId18"/>
    <p:sldId id="403" r:id="rId19"/>
    <p:sldId id="404" r:id="rId20"/>
    <p:sldId id="405" r:id="rId21"/>
    <p:sldId id="406" r:id="rId22"/>
    <p:sldId id="407" r:id="rId23"/>
    <p:sldId id="408" r:id="rId24"/>
    <p:sldId id="409" r:id="rId25"/>
    <p:sldId id="410" r:id="rId26"/>
    <p:sldId id="411" r:id="rId27"/>
    <p:sldId id="412" r:id="rId28"/>
    <p:sldId id="413" r:id="rId29"/>
    <p:sldId id="414" r:id="rId30"/>
    <p:sldId id="415" r:id="rId31"/>
    <p:sldId id="416" r:id="rId32"/>
    <p:sldId id="417" r:id="rId33"/>
    <p:sldId id="418" r:id="rId34"/>
    <p:sldId id="419" r:id="rId35"/>
    <p:sldId id="420" r:id="rId36"/>
    <p:sldId id="421" r:id="rId37"/>
    <p:sldId id="422" r:id="rId38"/>
    <p:sldId id="423" r:id="rId39"/>
    <p:sldId id="426" r:id="rId40"/>
    <p:sldId id="427" r:id="rId41"/>
    <p:sldId id="428" r:id="rId42"/>
    <p:sldId id="429" r:id="rId43"/>
    <p:sldId id="430" r:id="rId44"/>
    <p:sldId id="431" r:id="rId45"/>
    <p:sldId id="432" r:id="rId46"/>
    <p:sldId id="433" r:id="rId47"/>
    <p:sldId id="563" r:id="rId48"/>
    <p:sldId id="443" r:id="rId49"/>
    <p:sldId id="444" r:id="rId50"/>
    <p:sldId id="445" r:id="rId51"/>
    <p:sldId id="446" r:id="rId52"/>
    <p:sldId id="447" r:id="rId53"/>
    <p:sldId id="44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0" d="100"/>
          <a:sy n="120" d="100"/>
        </p:scale>
        <p:origin x="134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ADA500-0D83-4472-8117-89698D861692}" type="datetimeFigureOut">
              <a:rPr lang="en-US" smtClean="0"/>
              <a:t>12/15/2025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E50DD3-B5D8-4C49-8686-233E18939EE3}" type="slidenum">
              <a:rPr lang="en-US" smtClean="0"/>
              <a:t>‹#›</a:t>
            </a:fld>
            <a:endParaRPr lang="en-US"/>
          </a:p>
        </p:txBody>
      </p:sp>
    </p:spTree>
    <p:extLst>
      <p:ext uri="{BB962C8B-B14F-4D97-AF65-F5344CB8AC3E}">
        <p14:creationId xmlns:p14="http://schemas.microsoft.com/office/powerpoint/2010/main" val="1622604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8686DDC-0F8A-4B0B-AEF9-E2022025D4DD}"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1565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2967615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686DDC-0F8A-4B0B-AEF9-E2022025D4DD}"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152866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8686DDC-0F8A-4B0B-AEF9-E2022025D4DD}"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266883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686DDC-0F8A-4B0B-AEF9-E2022025D4DD}"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8600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8686DDC-0F8A-4B0B-AEF9-E2022025D4DD}"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988003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686DDC-0F8A-4B0B-AEF9-E2022025D4DD}"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369054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686DDC-0F8A-4B0B-AEF9-E2022025D4DD}"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1183946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686DDC-0F8A-4B0B-AEF9-E2022025D4DD}"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35504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098900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8686DDC-0F8A-4B0B-AEF9-E2022025D4DD}"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7E6EC6-BFEA-44CE-9216-D8ABB5D450C5}" type="slidenum">
              <a:rPr lang="en-US" smtClean="0"/>
              <a:t>‹#›</a:t>
            </a:fld>
            <a:endParaRPr lang="en-US"/>
          </a:p>
        </p:txBody>
      </p:sp>
    </p:spTree>
    <p:extLst>
      <p:ext uri="{BB962C8B-B14F-4D97-AF65-F5344CB8AC3E}">
        <p14:creationId xmlns:p14="http://schemas.microsoft.com/office/powerpoint/2010/main" val="362447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86DDC-0F8A-4B0B-AEF9-E2022025D4DD}"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7E6EC6-BFEA-44CE-9216-D8ABB5D450C5}" type="slidenum">
              <a:rPr lang="en-US" smtClean="0"/>
              <a:t>‹#›</a:t>
            </a:fld>
            <a:endParaRPr lang="en-US"/>
          </a:p>
        </p:txBody>
      </p:sp>
    </p:spTree>
    <p:extLst>
      <p:ext uri="{BB962C8B-B14F-4D97-AF65-F5344CB8AC3E}">
        <p14:creationId xmlns:p14="http://schemas.microsoft.com/office/powerpoint/2010/main" val="224573016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fontScale="92500" lnSpcReduction="10000"/>
          </a:bodyPr>
          <a:lstStyle/>
          <a:p>
            <a:r>
              <a:rPr lang="en-US" dirty="0"/>
              <a:t>Many different ways we can map a key to a specific “bucket.”</a:t>
            </a:r>
          </a:p>
          <a:p>
            <a:endParaRPr lang="en-US" dirty="0"/>
          </a:p>
          <a:p>
            <a:r>
              <a:rPr lang="en-US" dirty="0"/>
              <a:t>One of the most common and the simplest is to use modulus.</a:t>
            </a:r>
          </a:p>
          <a:p>
            <a:endParaRPr lang="en-US" dirty="0"/>
          </a:p>
          <a:p>
            <a:r>
              <a:rPr lang="en-US" dirty="0"/>
              <a:t>Our hashing function will be calculated as follows:</a:t>
            </a:r>
          </a:p>
          <a:p>
            <a:pPr marL="0" indent="0" algn="ctr">
              <a:buNone/>
            </a:pPr>
            <a:r>
              <a:rPr lang="en-US" dirty="0">
                <a:latin typeface="Courier New" panose="02070309020205020404" pitchFamily="49" charset="0"/>
                <a:cs typeface="Courier New" panose="02070309020205020404" pitchFamily="49" charset="0"/>
              </a:rPr>
              <a:t>key % </a:t>
            </a:r>
            <a:r>
              <a:rPr lang="en-US" dirty="0" err="1">
                <a:latin typeface="Courier New" panose="02070309020205020404" pitchFamily="49" charset="0"/>
                <a:cs typeface="Courier New" panose="02070309020205020404" pitchFamily="49" charset="0"/>
              </a:rPr>
              <a:t>size_of_hash_table</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79862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28328" y="1600200"/>
            <a:ext cx="568734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659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lnSpcReduction="10000"/>
          </a:bodyPr>
          <a:lstStyle/>
          <a:p>
            <a:r>
              <a:rPr lang="en-US" dirty="0"/>
              <a:t>Let’s take a look at an example…</a:t>
            </a:r>
          </a:p>
          <a:p>
            <a:endParaRPr lang="en-US" dirty="0"/>
          </a:p>
          <a:p>
            <a:r>
              <a:rPr lang="en-US" dirty="0"/>
              <a:t>What is the simplest Hash Table?</a:t>
            </a:r>
          </a:p>
          <a:p>
            <a:pPr lvl="1"/>
            <a:r>
              <a:rPr lang="en-US" dirty="0"/>
              <a:t>An Array of records.</a:t>
            </a:r>
          </a:p>
          <a:p>
            <a:pPr lvl="1"/>
            <a:endParaRPr lang="en-US" dirty="0"/>
          </a:p>
          <a:p>
            <a:r>
              <a:rPr lang="en-US" dirty="0"/>
              <a:t>We have a key and we can get the value – in theory the index of the element is the key. </a:t>
            </a:r>
          </a:p>
          <a:p>
            <a:pPr lvl="1"/>
            <a:r>
              <a:rPr lang="en-US" dirty="0"/>
              <a:t>Integers make great keys – but anything can be a key.</a:t>
            </a:r>
          </a:p>
        </p:txBody>
      </p:sp>
    </p:spTree>
    <p:extLst>
      <p:ext uri="{BB962C8B-B14F-4D97-AF65-F5344CB8AC3E}">
        <p14:creationId xmlns:p14="http://schemas.microsoft.com/office/powerpoint/2010/main" val="2613481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When we want to insert a new element into a Hash Table we need to convert our key into the index of the Array.</a:t>
            </a:r>
          </a:p>
          <a:p>
            <a:endParaRPr lang="en-US" dirty="0"/>
          </a:p>
          <a:p>
            <a:r>
              <a:rPr lang="en-US" dirty="0"/>
              <a:t>This conversion process is known as </a:t>
            </a:r>
            <a:r>
              <a:rPr lang="en-US" b="1" u="sng" dirty="0"/>
              <a:t>hashing</a:t>
            </a:r>
            <a:r>
              <a:rPr lang="en-US" dirty="0"/>
              <a:t> and the index of the Array is known as the </a:t>
            </a:r>
            <a:r>
              <a:rPr lang="en-US" b="1" u="sng" dirty="0"/>
              <a:t>hash value</a:t>
            </a:r>
            <a:r>
              <a:rPr lang="en-US" dirty="0"/>
              <a:t> of the key.</a:t>
            </a:r>
          </a:p>
        </p:txBody>
      </p:sp>
    </p:spTree>
    <p:extLst>
      <p:ext uri="{BB962C8B-B14F-4D97-AF65-F5344CB8AC3E}">
        <p14:creationId xmlns:p14="http://schemas.microsoft.com/office/powerpoint/2010/main" val="3935900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Now the key is how do we select a hash function that will allow us to place our element into our “hash table?”</a:t>
            </a:r>
          </a:p>
          <a:p>
            <a:endParaRPr lang="en-US" dirty="0"/>
          </a:p>
          <a:p>
            <a:r>
              <a:rPr lang="en-US" dirty="0"/>
              <a:t>We could use the modulus of the key to find the appropriate “bucket” or Array indices. </a:t>
            </a:r>
          </a:p>
          <a:p>
            <a:pPr lvl="1"/>
            <a:r>
              <a:rPr lang="en-US" dirty="0"/>
              <a:t>This is a good approach in the given approach as it will allow us to manage our Array.</a:t>
            </a:r>
          </a:p>
        </p:txBody>
      </p:sp>
    </p:spTree>
    <p:extLst>
      <p:ext uri="{BB962C8B-B14F-4D97-AF65-F5344CB8AC3E}">
        <p14:creationId xmlns:p14="http://schemas.microsoft.com/office/powerpoint/2010/main" val="70161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lstStyle/>
          <a:p>
            <a:r>
              <a:rPr lang="en-US" dirty="0"/>
              <a:t>The Hash Function in the ideal situation is called a </a:t>
            </a:r>
            <a:r>
              <a:rPr lang="en-US" b="1" u="sng" dirty="0"/>
              <a:t>perfect hash function</a:t>
            </a:r>
            <a:r>
              <a:rPr lang="en-US" dirty="0"/>
              <a:t>.	</a:t>
            </a:r>
          </a:p>
          <a:p>
            <a:pPr lvl="1"/>
            <a:r>
              <a:rPr lang="en-US" dirty="0"/>
              <a:t>This function maps each search key into a unique location of the hash table.</a:t>
            </a:r>
          </a:p>
          <a:p>
            <a:pPr lvl="1"/>
            <a:endParaRPr lang="en-US" dirty="0"/>
          </a:p>
          <a:p>
            <a:r>
              <a:rPr lang="en-US" dirty="0"/>
              <a:t>A perfect hash function is only possible if you know all of the search keys.</a:t>
            </a:r>
          </a:p>
          <a:p>
            <a:pPr lvl="1"/>
            <a:r>
              <a:rPr lang="en-US" dirty="0"/>
              <a:t>What is the likelihood of this occurring?</a:t>
            </a:r>
          </a:p>
        </p:txBody>
      </p:sp>
    </p:spTree>
    <p:extLst>
      <p:ext uri="{BB962C8B-B14F-4D97-AF65-F5344CB8AC3E}">
        <p14:creationId xmlns:p14="http://schemas.microsoft.com/office/powerpoint/2010/main" val="305491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a:t>
            </a:r>
          </a:p>
        </p:txBody>
      </p:sp>
      <p:sp>
        <p:nvSpPr>
          <p:cNvPr id="3" name="Content Placeholder 2"/>
          <p:cNvSpPr>
            <a:spLocks noGrp="1"/>
          </p:cNvSpPr>
          <p:nvPr>
            <p:ph idx="1"/>
          </p:nvPr>
        </p:nvSpPr>
        <p:spPr/>
        <p:txBody>
          <a:bodyPr>
            <a:normAutofit lnSpcReduction="10000"/>
          </a:bodyPr>
          <a:lstStyle/>
          <a:p>
            <a:r>
              <a:rPr lang="en-US" dirty="0"/>
              <a:t>Ok…let’s assume we are using our Array as a Hash Table and we have the following two key entries we need to insert 102 and 152.</a:t>
            </a:r>
          </a:p>
          <a:p>
            <a:endParaRPr lang="en-US" dirty="0"/>
          </a:p>
          <a:p>
            <a:r>
              <a:rPr lang="en-US" dirty="0"/>
              <a:t>Now, let’s assume that our hashing function is the KEY % 50.</a:t>
            </a:r>
          </a:p>
          <a:p>
            <a:pPr lvl="1"/>
            <a:r>
              <a:rPr lang="en-US" dirty="0"/>
              <a:t>Both entries yield a result of 2.</a:t>
            </a:r>
          </a:p>
          <a:p>
            <a:pPr lvl="2"/>
            <a:r>
              <a:rPr lang="en-US" dirty="0"/>
              <a:t>So, after we insert the key 102 into the 2</a:t>
            </a:r>
            <a:r>
              <a:rPr lang="en-US" baseline="30000" dirty="0"/>
              <a:t>nd</a:t>
            </a:r>
            <a:r>
              <a:rPr lang="en-US" dirty="0"/>
              <a:t> indexed position in the Array we have no space for the key 152….</a:t>
            </a:r>
          </a:p>
        </p:txBody>
      </p:sp>
    </p:spTree>
    <p:extLst>
      <p:ext uri="{BB962C8B-B14F-4D97-AF65-F5344CB8AC3E}">
        <p14:creationId xmlns:p14="http://schemas.microsoft.com/office/powerpoint/2010/main" val="3969403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How do we resolve a collision when one happens?</a:t>
            </a:r>
          </a:p>
          <a:p>
            <a:endParaRPr lang="en-US" dirty="0"/>
          </a:p>
          <a:p>
            <a:r>
              <a:rPr lang="en-US" dirty="0"/>
              <a:t>The easiest solution would to just move forward until we find an open position within our Array.</a:t>
            </a:r>
          </a:p>
          <a:p>
            <a:pPr lvl="1"/>
            <a:r>
              <a:rPr lang="en-US" dirty="0"/>
              <a:t>Now what do we do in the above scenario where our key of 152 is not located in Bucket #2?</a:t>
            </a:r>
          </a:p>
        </p:txBody>
      </p:sp>
    </p:spTree>
    <p:extLst>
      <p:ext uri="{BB962C8B-B14F-4D97-AF65-F5344CB8AC3E}">
        <p14:creationId xmlns:p14="http://schemas.microsoft.com/office/powerpoint/2010/main" val="586009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Selecting Digits:</a:t>
            </a:r>
          </a:p>
          <a:p>
            <a:pPr lvl="1"/>
            <a:r>
              <a:rPr lang="en-US" dirty="0"/>
              <a:t>You select specific digits in your search key to pick the index that the item should be inserted into.</a:t>
            </a:r>
          </a:p>
          <a:p>
            <a:pPr lvl="1"/>
            <a:endParaRPr lang="en-US" dirty="0"/>
          </a:p>
          <a:p>
            <a:r>
              <a:rPr lang="en-US" dirty="0"/>
              <a:t>Problem:</a:t>
            </a:r>
          </a:p>
          <a:p>
            <a:pPr lvl="1"/>
            <a:r>
              <a:rPr lang="en-US" dirty="0"/>
              <a:t>Does not distribute the entries evenly in the Hash Table.</a:t>
            </a:r>
          </a:p>
        </p:txBody>
      </p:sp>
    </p:spTree>
    <p:extLst>
      <p:ext uri="{BB962C8B-B14F-4D97-AF65-F5344CB8AC3E}">
        <p14:creationId xmlns:p14="http://schemas.microsoft.com/office/powerpoint/2010/main" val="3399662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dirty="0"/>
              <a:t>Folding:</a:t>
            </a:r>
          </a:p>
          <a:p>
            <a:pPr lvl="1"/>
            <a:r>
              <a:rPr lang="en-US" dirty="0"/>
              <a:t>Here we could add up all of the digits of our search key and then place the entry in the summation index.</a:t>
            </a:r>
          </a:p>
          <a:p>
            <a:pPr lvl="1"/>
            <a:endParaRPr lang="en-US" dirty="0"/>
          </a:p>
          <a:p>
            <a:r>
              <a:rPr lang="en-US" dirty="0"/>
              <a:t>Problem:</a:t>
            </a:r>
          </a:p>
          <a:p>
            <a:pPr lvl="1"/>
            <a:r>
              <a:rPr lang="en-US" dirty="0"/>
              <a:t>We still have the potential for future collisions and you may have to “fold” a number of times before resolving the collision.</a:t>
            </a:r>
          </a:p>
        </p:txBody>
      </p:sp>
    </p:spTree>
    <p:extLst>
      <p:ext uri="{BB962C8B-B14F-4D97-AF65-F5344CB8AC3E}">
        <p14:creationId xmlns:p14="http://schemas.microsoft.com/office/powerpoint/2010/main" val="3067388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normAutofit lnSpcReduction="10000"/>
          </a:bodyPr>
          <a:lstStyle/>
          <a:p>
            <a:r>
              <a:rPr lang="en-US" dirty="0"/>
              <a:t>Modulo</a:t>
            </a:r>
          </a:p>
          <a:p>
            <a:pPr lvl="1"/>
            <a:r>
              <a:rPr lang="en-US" dirty="0"/>
              <a:t>Computing the modulus of the table size and placing the entry into that position.</a:t>
            </a:r>
          </a:p>
          <a:p>
            <a:pPr lvl="2"/>
            <a:r>
              <a:rPr lang="en-US" dirty="0"/>
              <a:t>This eliminates one of the problems with respect to folding.</a:t>
            </a:r>
          </a:p>
          <a:p>
            <a:pPr lvl="1"/>
            <a:endParaRPr lang="en-US" dirty="0"/>
          </a:p>
          <a:p>
            <a:r>
              <a:rPr lang="en-US" dirty="0"/>
              <a:t>Problem:</a:t>
            </a:r>
          </a:p>
          <a:p>
            <a:pPr lvl="1"/>
            <a:r>
              <a:rPr lang="en-US" dirty="0"/>
              <a:t>See the same explanation that we saw with folding in terms of multiple collisions – this approach tends to be a popular solution.</a:t>
            </a:r>
          </a:p>
        </p:txBody>
      </p:sp>
    </p:spTree>
    <p:extLst>
      <p:ext uri="{BB962C8B-B14F-4D97-AF65-F5344CB8AC3E}">
        <p14:creationId xmlns:p14="http://schemas.microsoft.com/office/powerpoint/2010/main" val="211018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altLang="en-US" dirty="0"/>
              <a:t>Approach 1: Open Addressing</a:t>
            </a:r>
          </a:p>
          <a:p>
            <a:pPr lvl="1"/>
            <a:r>
              <a:rPr lang="en-US" altLang="en-US" dirty="0"/>
              <a:t>Linear Probing</a:t>
            </a:r>
          </a:p>
          <a:p>
            <a:pPr lvl="1"/>
            <a:r>
              <a:rPr lang="en-US" altLang="en-US" dirty="0"/>
              <a:t>Quadratic Probing</a:t>
            </a:r>
          </a:p>
          <a:p>
            <a:pPr lvl="1"/>
            <a:r>
              <a:rPr lang="en-US" altLang="en-US" dirty="0"/>
              <a:t>Double Hashing</a:t>
            </a:r>
          </a:p>
          <a:p>
            <a:pPr lvl="1"/>
            <a:r>
              <a:rPr lang="en-US" altLang="en-US" dirty="0"/>
              <a:t>Increase size of Hash Table</a:t>
            </a:r>
          </a:p>
          <a:p>
            <a:endParaRPr lang="en-US" dirty="0"/>
          </a:p>
        </p:txBody>
      </p:sp>
    </p:spTree>
    <p:extLst>
      <p:ext uri="{BB962C8B-B14F-4D97-AF65-F5344CB8AC3E}">
        <p14:creationId xmlns:p14="http://schemas.microsoft.com/office/powerpoint/2010/main" val="331700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You search the Hash Table sequentially, starting from the original hash location until we find an open, unoccupied, spot/bucket to place the entry into.</a:t>
            </a:r>
          </a:p>
          <a:p>
            <a:pPr lvl="1"/>
            <a:r>
              <a:rPr lang="en-US" dirty="0"/>
              <a:t>If necessary you can “wrap around” to find an open spot.</a:t>
            </a:r>
          </a:p>
          <a:p>
            <a:pPr lvl="1"/>
            <a:endParaRPr lang="en-US" dirty="0"/>
          </a:p>
          <a:p>
            <a:r>
              <a:rPr lang="en-US" dirty="0"/>
              <a:t>Removals present a challenge however…</a:t>
            </a:r>
          </a:p>
          <a:p>
            <a:endParaRPr lang="en-US" dirty="0"/>
          </a:p>
        </p:txBody>
      </p:sp>
    </p:spTree>
    <p:extLst>
      <p:ext uri="{BB962C8B-B14F-4D97-AF65-F5344CB8AC3E}">
        <p14:creationId xmlns:p14="http://schemas.microsoft.com/office/powerpoint/2010/main" val="270234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10000"/>
          </a:bodyPr>
          <a:lstStyle/>
          <a:p>
            <a:r>
              <a:rPr lang="en-US" dirty="0">
                <a:latin typeface="Courier New" panose="02070309020205020404" pitchFamily="49" charset="0"/>
                <a:cs typeface="Courier New" panose="02070309020205020404" pitchFamily="49" charset="0"/>
              </a:rPr>
              <a:t>Insert(x)</a:t>
            </a:r>
          </a:p>
          <a:p>
            <a:pPr lvl="1"/>
            <a:r>
              <a:rPr lang="en-US" dirty="0"/>
              <a:t>Keep probing until an empty slot is found. Once an empty slot is found, insert key.</a:t>
            </a:r>
          </a:p>
          <a:p>
            <a:r>
              <a:rPr lang="en-US" dirty="0">
                <a:latin typeface="Courier New" panose="02070309020205020404" pitchFamily="49" charset="0"/>
                <a:cs typeface="Courier New" panose="02070309020205020404" pitchFamily="49" charset="0"/>
              </a:rPr>
              <a:t>Search(x)</a:t>
            </a:r>
          </a:p>
          <a:p>
            <a:pPr lvl="1"/>
            <a:r>
              <a:rPr lang="en-US" dirty="0"/>
              <a:t>Keep probing until slot’s key doesn’t become equal to x or an empty slot is reached.</a:t>
            </a:r>
          </a:p>
          <a:p>
            <a:r>
              <a:rPr lang="en-US" dirty="0">
                <a:latin typeface="Courier New" panose="02070309020205020404" pitchFamily="49" charset="0"/>
                <a:cs typeface="Courier New" panose="02070309020205020404" pitchFamily="49" charset="0"/>
              </a:rPr>
              <a:t>Delete(k)</a:t>
            </a:r>
          </a:p>
          <a:p>
            <a:pPr lvl="1"/>
            <a:r>
              <a:rPr lang="en-US" dirty="0"/>
              <a:t>Keep probing until the keys slot is found and remove the key.</a:t>
            </a:r>
          </a:p>
          <a:p>
            <a:pPr lvl="2"/>
            <a:r>
              <a:rPr lang="en-US" dirty="0"/>
              <a:t>More on this later, as it is quite complex…</a:t>
            </a:r>
          </a:p>
          <a:p>
            <a:endParaRPr lang="en-US" dirty="0"/>
          </a:p>
        </p:txBody>
      </p:sp>
    </p:spTree>
    <p:extLst>
      <p:ext uri="{BB962C8B-B14F-4D97-AF65-F5344CB8AC3E}">
        <p14:creationId xmlns:p14="http://schemas.microsoft.com/office/powerpoint/2010/main" val="1823443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3278" y="1600200"/>
            <a:ext cx="547744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542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Linear Probing:</a:t>
            </a:r>
          </a:p>
          <a:p>
            <a:pPr lvl="1"/>
            <a:r>
              <a:rPr lang="en-US" dirty="0"/>
              <a:t> Collision Scheme</a:t>
            </a:r>
          </a:p>
          <a:p>
            <a:pPr marL="0" indent="0">
              <a:buNone/>
            </a:pPr>
            <a:endParaRPr lang="en-US" dirty="0"/>
          </a:p>
          <a:p>
            <a:pPr marL="0" indent="0">
              <a:buNone/>
            </a:pPr>
            <a:endParaRPr lang="en-US" dirty="0"/>
          </a:p>
          <a:p>
            <a:pPr marL="0" indent="0" algn="ctr">
              <a:buNone/>
            </a:pPr>
            <a:r>
              <a:rPr lang="en-US" sz="3600" dirty="0">
                <a:latin typeface="Courier New" panose="02070309020205020404" pitchFamily="49" charset="0"/>
                <a:cs typeface="Courier New" panose="02070309020205020404" pitchFamily="49" charset="0"/>
              </a:rPr>
              <a:t>hash(x) = hash(x) % size + n</a:t>
            </a:r>
          </a:p>
        </p:txBody>
      </p:sp>
    </p:spTree>
    <p:extLst>
      <p:ext uri="{BB962C8B-B14F-4D97-AF65-F5344CB8AC3E}">
        <p14:creationId xmlns:p14="http://schemas.microsoft.com/office/powerpoint/2010/main" val="35503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a:bodyPr>
          <a:lstStyle/>
          <a:p>
            <a:r>
              <a:rPr lang="en-US" dirty="0"/>
              <a:t>When you remove an entry we can’t just leave the space “open” because we could place an entry that doesn’t belong in the spot due to Linear Probing.</a:t>
            </a:r>
          </a:p>
          <a:p>
            <a:endParaRPr lang="en-US" dirty="0"/>
          </a:p>
          <a:p>
            <a:pPr marL="0" indent="0" algn="ctr">
              <a:buNone/>
            </a:pPr>
            <a:r>
              <a:rPr lang="en-US" sz="4800" b="1" i="1" dirty="0"/>
              <a:t>Why???</a:t>
            </a:r>
          </a:p>
        </p:txBody>
      </p:sp>
    </p:spTree>
    <p:extLst>
      <p:ext uri="{BB962C8B-B14F-4D97-AF65-F5344CB8AC3E}">
        <p14:creationId xmlns:p14="http://schemas.microsoft.com/office/powerpoint/2010/main" val="131369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20000"/>
          </a:bodyPr>
          <a:lstStyle/>
          <a:p>
            <a:r>
              <a:rPr lang="en-US" dirty="0"/>
              <a:t>Let’s say you wanted to two values – x and y (both of which had the same hash value.</a:t>
            </a:r>
          </a:p>
          <a:p>
            <a:pPr lvl="1"/>
            <a:r>
              <a:rPr lang="en-US" dirty="0"/>
              <a:t>Using Linear Probing when we find that the first spot is taken we move to the next open spot to insert y.</a:t>
            </a:r>
          </a:p>
          <a:p>
            <a:pPr lvl="1"/>
            <a:endParaRPr lang="en-US" dirty="0"/>
          </a:p>
          <a:p>
            <a:r>
              <a:rPr lang="en-US" dirty="0"/>
              <a:t>Now let’s say that we remove the first entry, x, and mark that bucket as open. When we attempt to search for y we will compute the hash and look in the bucket previously occupied by x but we won’t find y.</a:t>
            </a:r>
          </a:p>
          <a:p>
            <a:pPr lvl="1"/>
            <a:r>
              <a:rPr lang="en-US" dirty="0"/>
              <a:t>This is a problem!</a:t>
            </a:r>
          </a:p>
        </p:txBody>
      </p:sp>
    </p:spTree>
    <p:extLst>
      <p:ext uri="{BB962C8B-B14F-4D97-AF65-F5344CB8AC3E}">
        <p14:creationId xmlns:p14="http://schemas.microsoft.com/office/powerpoint/2010/main" val="1732150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lnSpcReduction="10000"/>
          </a:bodyPr>
          <a:lstStyle/>
          <a:p>
            <a:r>
              <a:rPr lang="en-US" dirty="0"/>
              <a:t>Solution:</a:t>
            </a:r>
          </a:p>
          <a:p>
            <a:pPr lvl="1"/>
            <a:r>
              <a:rPr lang="en-US" dirty="0"/>
              <a:t>Occupied</a:t>
            </a:r>
          </a:p>
          <a:p>
            <a:pPr lvl="1"/>
            <a:r>
              <a:rPr lang="en-US" dirty="0"/>
              <a:t>Empty</a:t>
            </a:r>
          </a:p>
          <a:p>
            <a:pPr lvl="1"/>
            <a:r>
              <a:rPr lang="en-US" dirty="0"/>
              <a:t>Removed</a:t>
            </a:r>
          </a:p>
          <a:p>
            <a:pPr lvl="1"/>
            <a:endParaRPr lang="en-US" dirty="0"/>
          </a:p>
          <a:p>
            <a:r>
              <a:rPr lang="en-US" dirty="0"/>
              <a:t>Removed:</a:t>
            </a:r>
          </a:p>
          <a:p>
            <a:pPr lvl="1"/>
            <a:r>
              <a:rPr lang="en-US" dirty="0"/>
              <a:t>This status tells us to keep looking as when we originally inserted the value it had to use a different hash to find an open position.</a:t>
            </a:r>
          </a:p>
          <a:p>
            <a:endParaRPr lang="en-US" dirty="0"/>
          </a:p>
        </p:txBody>
      </p:sp>
    </p:spTree>
    <p:extLst>
      <p:ext uri="{BB962C8B-B14F-4D97-AF65-F5344CB8AC3E}">
        <p14:creationId xmlns:p14="http://schemas.microsoft.com/office/powerpoint/2010/main" val="1757820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lnSpcReduction="20000"/>
          </a:bodyPr>
          <a:lstStyle/>
          <a:p>
            <a:r>
              <a:rPr lang="en-US" dirty="0"/>
              <a:t>Occupied:</a:t>
            </a:r>
          </a:p>
          <a:p>
            <a:pPr lvl="1"/>
            <a:r>
              <a:rPr lang="en-US" dirty="0"/>
              <a:t>This indexed position is currently held by an entry in the Hash Table.</a:t>
            </a:r>
          </a:p>
          <a:p>
            <a:pPr lvl="1"/>
            <a:endParaRPr lang="en-US" dirty="0"/>
          </a:p>
          <a:p>
            <a:r>
              <a:rPr lang="en-US" dirty="0"/>
              <a:t>Empty:</a:t>
            </a:r>
          </a:p>
          <a:p>
            <a:pPr lvl="1"/>
            <a:r>
              <a:rPr lang="en-US" dirty="0"/>
              <a:t>This indexed position has never been used by an entry.</a:t>
            </a:r>
          </a:p>
          <a:p>
            <a:pPr lvl="1"/>
            <a:endParaRPr lang="en-US" dirty="0"/>
          </a:p>
          <a:p>
            <a:r>
              <a:rPr lang="en-US" dirty="0"/>
              <a:t>Removed:</a:t>
            </a:r>
          </a:p>
          <a:p>
            <a:pPr lvl="1"/>
            <a:r>
              <a:rPr lang="en-US" dirty="0"/>
              <a:t>This indexed position previously held an entry (Occupied) but is now available.</a:t>
            </a:r>
          </a:p>
        </p:txBody>
      </p:sp>
    </p:spTree>
    <p:extLst>
      <p:ext uri="{BB962C8B-B14F-4D97-AF65-F5344CB8AC3E}">
        <p14:creationId xmlns:p14="http://schemas.microsoft.com/office/powerpoint/2010/main" val="2045060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normAutofit fontScale="92500"/>
          </a:bodyPr>
          <a:lstStyle/>
          <a:p>
            <a:r>
              <a:rPr lang="en-US" dirty="0"/>
              <a:t>Question:</a:t>
            </a:r>
          </a:p>
          <a:p>
            <a:pPr lvl="1"/>
            <a:r>
              <a:rPr lang="en-US" dirty="0"/>
              <a:t>If we insert a bunch of entries and then delete them does that render the table useless as all of the positions would essentially be marked as </a:t>
            </a:r>
            <a:r>
              <a:rPr lang="en-US" dirty="0">
                <a:latin typeface="Courier New" panose="02070309020205020404" pitchFamily="49" charset="0"/>
                <a:cs typeface="Courier New" panose="02070309020205020404" pitchFamily="49" charset="0"/>
              </a:rPr>
              <a:t>REMOVED</a:t>
            </a:r>
            <a:r>
              <a:rPr lang="en-US" dirty="0"/>
              <a:t>?</a:t>
            </a:r>
          </a:p>
          <a:p>
            <a:pPr lvl="1"/>
            <a:endParaRPr lang="en-US" dirty="0"/>
          </a:p>
          <a:p>
            <a:r>
              <a:rPr lang="en-US" dirty="0"/>
              <a:t>Answer:</a:t>
            </a:r>
          </a:p>
          <a:p>
            <a:pPr lvl="1"/>
            <a:r>
              <a:rPr lang="en-US" dirty="0"/>
              <a:t>No, because we can still insert something into either an Empty or Removed bucket since that will ensure that any search will still force the proper probing to be completed.</a:t>
            </a:r>
          </a:p>
        </p:txBody>
      </p:sp>
    </p:spTree>
    <p:extLst>
      <p:ext uri="{BB962C8B-B14F-4D97-AF65-F5344CB8AC3E}">
        <p14:creationId xmlns:p14="http://schemas.microsoft.com/office/powerpoint/2010/main" val="3072987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a:t>
            </a:r>
          </a:p>
        </p:txBody>
      </p:sp>
      <p:sp>
        <p:nvSpPr>
          <p:cNvPr id="3" name="Content Placeholder 2"/>
          <p:cNvSpPr>
            <a:spLocks noGrp="1"/>
          </p:cNvSpPr>
          <p:nvPr>
            <p:ph idx="1"/>
          </p:nvPr>
        </p:nvSpPr>
        <p:spPr/>
        <p:txBody>
          <a:bodyPr/>
          <a:lstStyle/>
          <a:p>
            <a:r>
              <a:rPr lang="en-US" dirty="0"/>
              <a:t>Linear Probing Problems:</a:t>
            </a:r>
          </a:p>
          <a:p>
            <a:pPr lvl="1"/>
            <a:r>
              <a:rPr lang="en-US" dirty="0"/>
              <a:t>The entries tend to cluster together.</a:t>
            </a:r>
          </a:p>
          <a:p>
            <a:pPr lvl="1"/>
            <a:endParaRPr lang="en-US" dirty="0"/>
          </a:p>
          <a:p>
            <a:r>
              <a:rPr lang="en-US" dirty="0"/>
              <a:t>Primary Clustering</a:t>
            </a:r>
          </a:p>
          <a:p>
            <a:pPr lvl="1"/>
            <a:r>
              <a:rPr lang="en-US" dirty="0"/>
              <a:t>Clusters tend to get closer and closer together and ultimately end up in larger clusters.</a:t>
            </a:r>
          </a:p>
          <a:p>
            <a:pPr lvl="2"/>
            <a:r>
              <a:rPr lang="en-US" dirty="0"/>
              <a:t>Population control</a:t>
            </a:r>
          </a:p>
          <a:p>
            <a:pPr lvl="1"/>
            <a:r>
              <a:rPr lang="en-US" dirty="0"/>
              <a:t>Long Probe Searches!</a:t>
            </a:r>
          </a:p>
          <a:p>
            <a:pPr lvl="2"/>
            <a:r>
              <a:rPr lang="en-US" dirty="0"/>
              <a:t>Decrease overall efficiency of hashing.</a:t>
            </a:r>
          </a:p>
          <a:p>
            <a:pPr marL="914400" lvl="2" indent="0">
              <a:buNone/>
            </a:pPr>
            <a:endParaRPr lang="en-US" dirty="0"/>
          </a:p>
          <a:p>
            <a:pPr lvl="1"/>
            <a:endParaRPr lang="en-US" dirty="0"/>
          </a:p>
        </p:txBody>
      </p:sp>
    </p:spTree>
    <p:extLst>
      <p:ext uri="{BB962C8B-B14F-4D97-AF65-F5344CB8AC3E}">
        <p14:creationId xmlns:p14="http://schemas.microsoft.com/office/powerpoint/2010/main" val="2550855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We can avoid the problems with clustering in Linear Probing by moving towards a quadratic approach.</a:t>
            </a:r>
          </a:p>
          <a:p>
            <a:endParaRPr lang="en-US" dirty="0"/>
          </a:p>
          <a:p>
            <a:r>
              <a:rPr lang="en-US" dirty="0"/>
              <a:t>The same approach that we saw in Linear Probing is found here, except we search quadratic for an open position.</a:t>
            </a:r>
          </a:p>
        </p:txBody>
      </p:sp>
    </p:spTree>
    <p:extLst>
      <p:ext uri="{BB962C8B-B14F-4D97-AF65-F5344CB8AC3E}">
        <p14:creationId xmlns:p14="http://schemas.microsoft.com/office/powerpoint/2010/main" val="1983173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normAutofit fontScale="92500" lnSpcReduction="10000"/>
          </a:bodyPr>
          <a:lstStyle/>
          <a:p>
            <a:r>
              <a:rPr lang="en-US" dirty="0"/>
              <a:t>Let </a:t>
            </a:r>
            <a:r>
              <a:rPr lang="en-US" dirty="0">
                <a:latin typeface="Courier New" panose="02070309020205020404" pitchFamily="49" charset="0"/>
                <a:cs typeface="Courier New" panose="02070309020205020404" pitchFamily="49" charset="0"/>
              </a:rPr>
              <a:t>hash(x)</a:t>
            </a:r>
            <a:r>
              <a:rPr lang="en-US" dirty="0"/>
              <a:t> be the slot index computed using the hash function – remember we are using </a:t>
            </a:r>
            <a:r>
              <a:rPr lang="en-US" dirty="0">
                <a:latin typeface="Courier New" panose="02070309020205020404" pitchFamily="49" charset="0"/>
                <a:cs typeface="Courier New" panose="02070309020205020404" pitchFamily="49" charset="0"/>
              </a:rPr>
              <a:t>key % size</a:t>
            </a:r>
            <a:r>
              <a:rPr lang="en-US" dirty="0"/>
              <a:t>.</a:t>
            </a:r>
          </a:p>
          <a:p>
            <a:pPr lvl="1"/>
            <a:r>
              <a:rPr lang="en-US" dirty="0"/>
              <a:t>If the bucket </a:t>
            </a:r>
            <a:r>
              <a:rPr lang="en-US" dirty="0">
                <a:latin typeface="Courier New" panose="02070309020205020404" pitchFamily="49" charset="0"/>
                <a:cs typeface="Courier New" panose="02070309020205020404" pitchFamily="49" charset="0"/>
              </a:rPr>
              <a:t>hash(x) </a:t>
            </a:r>
            <a:r>
              <a:rPr lang="en-US" dirty="0"/>
              <a:t>is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+ 1^2)</a:t>
            </a:r>
            <a:r>
              <a:rPr lang="en-US" dirty="0"/>
              <a:t>.</a:t>
            </a:r>
          </a:p>
          <a:p>
            <a:pPr lvl="1"/>
            <a:r>
              <a:rPr lang="en-US" dirty="0"/>
              <a:t>If </a:t>
            </a:r>
            <a:r>
              <a:rPr lang="en-US" dirty="0">
                <a:latin typeface="Courier New" panose="02070309020205020404" pitchFamily="49" charset="0"/>
                <a:cs typeface="Courier New" panose="02070309020205020404" pitchFamily="49" charset="0"/>
              </a:rPr>
              <a:t>(hash(x) + 1^2) </a:t>
            </a:r>
            <a:r>
              <a:rPr lang="en-US" dirty="0"/>
              <a:t>is also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+ 2^2)</a:t>
            </a:r>
            <a:r>
              <a:rPr lang="en-US" dirty="0"/>
              <a:t>.</a:t>
            </a:r>
          </a:p>
          <a:p>
            <a:pPr lvl="1"/>
            <a:r>
              <a:rPr lang="en-US" dirty="0"/>
              <a:t>If </a:t>
            </a:r>
            <a:r>
              <a:rPr lang="en-US" dirty="0">
                <a:latin typeface="Courier New" panose="02070309020205020404" pitchFamily="49" charset="0"/>
                <a:cs typeface="Courier New" panose="02070309020205020404" pitchFamily="49" charset="0"/>
              </a:rPr>
              <a:t>(hash(x) + 2^2) </a:t>
            </a:r>
            <a:r>
              <a:rPr lang="en-US" dirty="0"/>
              <a:t>is also </a:t>
            </a:r>
            <a:r>
              <a:rPr lang="en-US" dirty="0">
                <a:latin typeface="Courier New" panose="02070309020205020404" pitchFamily="49" charset="0"/>
                <a:cs typeface="Courier New" panose="02070309020205020404" pitchFamily="49" charset="0"/>
              </a:rPr>
              <a:t>OCCUPIED</a:t>
            </a:r>
            <a:r>
              <a:rPr lang="en-US" dirty="0"/>
              <a:t>, then we try </a:t>
            </a:r>
            <a:r>
              <a:rPr lang="en-US" dirty="0">
                <a:latin typeface="Courier New" panose="02070309020205020404" pitchFamily="49" charset="0"/>
                <a:cs typeface="Courier New" panose="02070309020205020404" pitchFamily="49" charset="0"/>
              </a:rPr>
              <a:t>(hash(x) + 3^2)</a:t>
            </a:r>
            <a:r>
              <a:rPr lang="en-US" dirty="0"/>
              <a:t>.</a:t>
            </a:r>
          </a:p>
          <a:p>
            <a:pPr lvl="1"/>
            <a:r>
              <a:rPr lang="en-US" dirty="0"/>
              <a:t>This process is repeated for all the values of </a:t>
            </a:r>
            <a:r>
              <a:rPr lang="en-US" dirty="0" err="1">
                <a:latin typeface="Courier New" panose="02070309020205020404" pitchFamily="49" charset="0"/>
                <a:cs typeface="Courier New" panose="02070309020205020404" pitchFamily="49" charset="0"/>
              </a:rPr>
              <a:t>i</a:t>
            </a:r>
            <a:r>
              <a:rPr lang="en-US" dirty="0"/>
              <a:t> until an empty slot is found.</a:t>
            </a:r>
          </a:p>
          <a:p>
            <a:endParaRPr lang="en-US" dirty="0"/>
          </a:p>
        </p:txBody>
      </p:sp>
    </p:spTree>
    <p:extLst>
      <p:ext uri="{BB962C8B-B14F-4D97-AF65-F5344CB8AC3E}">
        <p14:creationId xmlns:p14="http://schemas.microsoft.com/office/powerpoint/2010/main" val="1547532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2149" y="1600200"/>
            <a:ext cx="5399701"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0419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Quadratic Probing:</a:t>
            </a:r>
          </a:p>
          <a:p>
            <a:pPr lvl="1"/>
            <a:r>
              <a:rPr lang="en-US" dirty="0"/>
              <a:t> Collision Scheme</a:t>
            </a:r>
          </a:p>
          <a:p>
            <a:pPr marL="0" indent="0">
              <a:buNone/>
            </a:pPr>
            <a:endParaRPr lang="en-US" dirty="0"/>
          </a:p>
          <a:p>
            <a:pPr marL="0" indent="0">
              <a:buNone/>
            </a:pPr>
            <a:endParaRPr lang="en-US" dirty="0"/>
          </a:p>
          <a:p>
            <a:pPr marL="0" indent="0" algn="ctr">
              <a:buNone/>
            </a:pPr>
            <a:r>
              <a:rPr lang="en-US" sz="3600" dirty="0">
                <a:latin typeface="Courier New" panose="02070309020205020404" pitchFamily="49" charset="0"/>
                <a:cs typeface="Courier New" panose="02070309020205020404" pitchFamily="49" charset="0"/>
              </a:rPr>
              <a:t>hash(x) = x % size + n</a:t>
            </a:r>
            <a:r>
              <a:rPr lang="en-US" sz="3600" baseline="30000" dirty="0">
                <a:latin typeface="Courier New" panose="02070309020205020404" pitchFamily="49" charset="0"/>
                <a:cs typeface="Courier New" panose="02070309020205020404" pitchFamily="49" charset="0"/>
              </a:rPr>
              <a:t>2</a:t>
            </a:r>
          </a:p>
          <a:p>
            <a:pPr marL="0" indent="0" algn="ctr">
              <a:buNone/>
            </a:pPr>
            <a:endParaRPr lang="en-US" sz="3600" baseline="30000" dirty="0">
              <a:latin typeface="Courier New" panose="02070309020205020404" pitchFamily="49" charset="0"/>
              <a:cs typeface="Courier New" panose="02070309020205020404" pitchFamily="49" charset="0"/>
            </a:endParaRPr>
          </a:p>
          <a:p>
            <a:pPr marL="0" indent="0" algn="ctr">
              <a:buNone/>
            </a:pPr>
            <a:r>
              <a:rPr lang="en-US" sz="3600" baseline="30000" dirty="0">
                <a:cs typeface="Courier New" panose="02070309020205020404" pitchFamily="49" charset="0"/>
              </a:rPr>
              <a:t>Where </a:t>
            </a:r>
            <a:r>
              <a:rPr lang="en-US" sz="3600" baseline="30000" dirty="0">
                <a:latin typeface="Courier New" panose="02070309020205020404" pitchFamily="49" charset="0"/>
                <a:cs typeface="Courier New" panose="02070309020205020404" pitchFamily="49" charset="0"/>
              </a:rPr>
              <a:t>n</a:t>
            </a:r>
            <a:r>
              <a:rPr lang="en-US" sz="3600" baseline="30000" dirty="0">
                <a:cs typeface="Courier New" panose="02070309020205020404" pitchFamily="49" charset="0"/>
              </a:rPr>
              <a:t> starts at zero (0) and increases by one (1) for each collision.</a:t>
            </a:r>
            <a:endParaRPr lang="en-US" sz="3600" dirty="0">
              <a:cs typeface="Courier New" panose="02070309020205020404" pitchFamily="49" charset="0"/>
            </a:endParaRPr>
          </a:p>
        </p:txBody>
      </p:sp>
    </p:spTree>
    <p:extLst>
      <p:ext uri="{BB962C8B-B14F-4D97-AF65-F5344CB8AC3E}">
        <p14:creationId xmlns:p14="http://schemas.microsoft.com/office/powerpoint/2010/main" val="1007412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The same challenges when it comes to removal that we discussed with Linear Probing are found here.</a:t>
            </a:r>
          </a:p>
          <a:p>
            <a:endParaRPr lang="en-US" dirty="0"/>
          </a:p>
          <a:p>
            <a:r>
              <a:rPr lang="en-US" dirty="0"/>
              <a:t>We must mark any space that was previously occupied during deletion as </a:t>
            </a:r>
            <a:r>
              <a:rPr lang="en-US" dirty="0">
                <a:latin typeface="Courier New" panose="02070309020205020404" pitchFamily="49" charset="0"/>
                <a:cs typeface="Courier New" panose="02070309020205020404" pitchFamily="49" charset="0"/>
              </a:rPr>
              <a:t>REMOVED</a:t>
            </a:r>
            <a:r>
              <a:rPr lang="en-US" dirty="0"/>
              <a:t> otherwise we will have a problem when attempting to search the Hash Table.</a:t>
            </a:r>
          </a:p>
        </p:txBody>
      </p:sp>
    </p:spTree>
    <p:extLst>
      <p:ext uri="{BB962C8B-B14F-4D97-AF65-F5344CB8AC3E}">
        <p14:creationId xmlns:p14="http://schemas.microsoft.com/office/powerpoint/2010/main" val="2329240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a:t>
            </a:r>
          </a:p>
        </p:txBody>
      </p:sp>
      <p:sp>
        <p:nvSpPr>
          <p:cNvPr id="3" name="Content Placeholder 2"/>
          <p:cNvSpPr>
            <a:spLocks noGrp="1"/>
          </p:cNvSpPr>
          <p:nvPr>
            <p:ph idx="1"/>
          </p:nvPr>
        </p:nvSpPr>
        <p:spPr/>
        <p:txBody>
          <a:bodyPr/>
          <a:lstStyle/>
          <a:p>
            <a:r>
              <a:rPr lang="en-US" dirty="0"/>
              <a:t>Secondary Clustering:</a:t>
            </a:r>
          </a:p>
          <a:p>
            <a:pPr lvl="1"/>
            <a:r>
              <a:rPr lang="en-US" dirty="0"/>
              <a:t>When two search keys hash into the same location.</a:t>
            </a:r>
          </a:p>
          <a:p>
            <a:pPr lvl="1"/>
            <a:r>
              <a:rPr lang="en-US" dirty="0"/>
              <a:t>Quadratic probing uses the same probe sequence for each one.</a:t>
            </a:r>
          </a:p>
          <a:p>
            <a:pPr lvl="1"/>
            <a:endParaRPr lang="en-US" dirty="0"/>
          </a:p>
          <a:p>
            <a:r>
              <a:rPr lang="en-US" dirty="0"/>
              <a:t>We still run into the problems that Linear Probing posed but the clustering is </a:t>
            </a:r>
            <a:r>
              <a:rPr lang="en-US"/>
              <a:t>less likely.</a:t>
            </a:r>
            <a:endParaRPr lang="en-US" dirty="0"/>
          </a:p>
        </p:txBody>
      </p:sp>
    </p:spTree>
    <p:extLst>
      <p:ext uri="{BB962C8B-B14F-4D97-AF65-F5344CB8AC3E}">
        <p14:creationId xmlns:p14="http://schemas.microsoft.com/office/powerpoint/2010/main" val="16349250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Hashing</a:t>
            </a:r>
          </a:p>
        </p:txBody>
      </p:sp>
      <p:sp>
        <p:nvSpPr>
          <p:cNvPr id="3" name="Content Placeholder 2"/>
          <p:cNvSpPr>
            <a:spLocks noGrp="1"/>
          </p:cNvSpPr>
          <p:nvPr>
            <p:ph idx="1"/>
          </p:nvPr>
        </p:nvSpPr>
        <p:spPr/>
        <p:txBody>
          <a:bodyPr>
            <a:normAutofit/>
          </a:bodyPr>
          <a:lstStyle/>
          <a:p>
            <a:r>
              <a:rPr lang="en-US" dirty="0"/>
              <a:t>A third approach is that of Double Hashing.</a:t>
            </a:r>
          </a:p>
          <a:p>
            <a:endParaRPr lang="en-US" dirty="0"/>
          </a:p>
          <a:p>
            <a:r>
              <a:rPr lang="en-US" dirty="0"/>
              <a:t>Double Hashing:</a:t>
            </a:r>
          </a:p>
          <a:p>
            <a:pPr lvl="1"/>
            <a:r>
              <a:rPr lang="en-US" dirty="0"/>
              <a:t>Applies a second hash function to key when a collision occurs.</a:t>
            </a:r>
          </a:p>
          <a:p>
            <a:pPr lvl="1"/>
            <a:endParaRPr lang="en-US" dirty="0"/>
          </a:p>
          <a:p>
            <a:r>
              <a:rPr lang="en-US" dirty="0"/>
              <a:t>Double Hashing:</a:t>
            </a:r>
          </a:p>
          <a:p>
            <a:pPr marL="0" indent="0" algn="ctr">
              <a:buNone/>
            </a:pPr>
            <a:r>
              <a:rPr lang="en-US" sz="2800" dirty="0">
                <a:latin typeface="Courier New" panose="02070309020205020404" pitchFamily="49" charset="0"/>
                <a:cs typeface="Courier New" panose="02070309020205020404" pitchFamily="49" charset="0"/>
              </a:rPr>
              <a:t>hash2(x) = (size/2) – (x % (size/2)) </a:t>
            </a:r>
          </a:p>
        </p:txBody>
      </p:sp>
    </p:spTree>
    <p:extLst>
      <p:ext uri="{BB962C8B-B14F-4D97-AF65-F5344CB8AC3E}">
        <p14:creationId xmlns:p14="http://schemas.microsoft.com/office/powerpoint/2010/main" val="1048518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Double Hashing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43614"/>
            <a:ext cx="8229600" cy="3439134"/>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9095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Collisions</a:t>
            </a:r>
          </a:p>
        </p:txBody>
      </p:sp>
      <p:sp>
        <p:nvSpPr>
          <p:cNvPr id="3" name="Content Placeholder 2"/>
          <p:cNvSpPr>
            <a:spLocks noGrp="1"/>
          </p:cNvSpPr>
          <p:nvPr>
            <p:ph idx="1"/>
          </p:nvPr>
        </p:nvSpPr>
        <p:spPr/>
        <p:txBody>
          <a:bodyPr/>
          <a:lstStyle/>
          <a:p>
            <a:r>
              <a:rPr lang="en-US" altLang="en-US" dirty="0"/>
              <a:t>Approach 2:  Closed Addressing</a:t>
            </a:r>
          </a:p>
          <a:p>
            <a:pPr lvl="1"/>
            <a:r>
              <a:rPr lang="en-US" altLang="en-US" dirty="0"/>
              <a:t>Resolving collisions by restructuring the Hash Table.</a:t>
            </a:r>
          </a:p>
          <a:p>
            <a:pPr lvl="1"/>
            <a:endParaRPr lang="en-US" altLang="en-US" dirty="0"/>
          </a:p>
          <a:p>
            <a:r>
              <a:rPr lang="en-US" altLang="en-US" dirty="0"/>
              <a:t>Methods:</a:t>
            </a:r>
          </a:p>
          <a:p>
            <a:pPr lvl="1"/>
            <a:r>
              <a:rPr lang="en-US" altLang="en-US" dirty="0"/>
              <a:t>Buckets</a:t>
            </a:r>
          </a:p>
          <a:p>
            <a:pPr lvl="1"/>
            <a:r>
              <a:rPr lang="en-US" altLang="en-US" b="1" dirty="0"/>
              <a:t>Separate Chaining</a:t>
            </a:r>
          </a:p>
          <a:p>
            <a:pPr lvl="2"/>
            <a:r>
              <a:rPr lang="en-US" altLang="en-US" dirty="0"/>
              <a:t>Singularly Linked List</a:t>
            </a:r>
          </a:p>
          <a:p>
            <a:pPr lvl="2"/>
            <a:r>
              <a:rPr lang="en-US" altLang="en-US" dirty="0"/>
              <a:t>Doubly Linked List</a:t>
            </a:r>
          </a:p>
          <a:p>
            <a:endParaRPr lang="en-US" dirty="0"/>
          </a:p>
        </p:txBody>
      </p:sp>
    </p:spTree>
    <p:extLst>
      <p:ext uri="{BB962C8B-B14F-4D97-AF65-F5344CB8AC3E}">
        <p14:creationId xmlns:p14="http://schemas.microsoft.com/office/powerpoint/2010/main" val="11529486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lnSpcReduction="10000"/>
          </a:bodyPr>
          <a:lstStyle/>
          <a:p>
            <a:r>
              <a:rPr lang="en-US" dirty="0"/>
              <a:t>Separate Chaining avoids collisions all together by chaining entries together within a given “bucket.”</a:t>
            </a:r>
          </a:p>
          <a:p>
            <a:endParaRPr lang="en-US" dirty="0"/>
          </a:p>
          <a:p>
            <a:r>
              <a:rPr lang="en-US" dirty="0"/>
              <a:t>We apply our hash function and locate the bucket.</a:t>
            </a:r>
          </a:p>
          <a:p>
            <a:pPr lvl="1"/>
            <a:r>
              <a:rPr lang="en-US" dirty="0"/>
              <a:t>Even if the bucket is OCCUPIED we simply “append” the new entry onto any existing entries in the list.</a:t>
            </a:r>
          </a:p>
        </p:txBody>
      </p:sp>
    </p:spTree>
    <p:extLst>
      <p:ext uri="{BB962C8B-B14F-4D97-AF65-F5344CB8AC3E}">
        <p14:creationId xmlns:p14="http://schemas.microsoft.com/office/powerpoint/2010/main" val="4105454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4381" y="1791753"/>
            <a:ext cx="7295238" cy="4142857"/>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918176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HEY!</a:t>
            </a:r>
          </a:p>
          <a:p>
            <a:pPr lvl="1"/>
            <a:r>
              <a:rPr lang="en-US" dirty="0"/>
              <a:t>That looks oddly familiar…</a:t>
            </a:r>
          </a:p>
          <a:p>
            <a:pPr lvl="1"/>
            <a:endParaRPr lang="en-US" dirty="0"/>
          </a:p>
          <a:p>
            <a:pPr lvl="1"/>
            <a:endParaRPr lang="en-US" dirty="0"/>
          </a:p>
          <a:p>
            <a:pPr marL="57150" indent="0">
              <a:buNone/>
            </a:pPr>
            <a:r>
              <a:rPr lang="en-US" sz="6000" dirty="0"/>
              <a:t>SINGULARLY LINKED LIST!</a:t>
            </a:r>
          </a:p>
        </p:txBody>
      </p:sp>
    </p:spTree>
    <p:extLst>
      <p:ext uri="{BB962C8B-B14F-4D97-AF65-F5344CB8AC3E}">
        <p14:creationId xmlns:p14="http://schemas.microsoft.com/office/powerpoint/2010/main" val="209788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We can do even better than Singularly Linked Lists however…we saw that Doubly Linked List were an improvement because we could move forwards as well as backwards in the List.</a:t>
            </a:r>
          </a:p>
          <a:p>
            <a:endParaRPr lang="en-US" dirty="0"/>
          </a:p>
          <a:p>
            <a:r>
              <a:rPr lang="en-US" i="1" dirty="0"/>
              <a:t>How would this benefit us here when it comes to Hash Tables and Collision handling?</a:t>
            </a:r>
          </a:p>
        </p:txBody>
      </p:sp>
    </p:spTree>
    <p:extLst>
      <p:ext uri="{BB962C8B-B14F-4D97-AF65-F5344CB8AC3E}">
        <p14:creationId xmlns:p14="http://schemas.microsoft.com/office/powerpoint/2010/main" val="27907488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lstStyle/>
          <a:p>
            <a:r>
              <a:rPr lang="en-US" dirty="0"/>
              <a:t>With Doubly Linked Lists once we find an entry we don’t need to iterate back through the List to find either where it should be inserted/removed and the impacted Nodes. </a:t>
            </a:r>
          </a:p>
          <a:p>
            <a:endParaRPr lang="en-US" dirty="0"/>
          </a:p>
          <a:p>
            <a:r>
              <a:rPr lang="en-US" dirty="0"/>
              <a:t>We have that information already so this saves us time when it comes to both insertions and deletions from the Hash Table.</a:t>
            </a:r>
          </a:p>
        </p:txBody>
      </p:sp>
    </p:spTree>
    <p:extLst>
      <p:ext uri="{BB962C8B-B14F-4D97-AF65-F5344CB8AC3E}">
        <p14:creationId xmlns:p14="http://schemas.microsoft.com/office/powerpoint/2010/main" val="36187594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fontScale="92500" lnSpcReduction="20000"/>
          </a:bodyPr>
          <a:lstStyle/>
          <a:p>
            <a:r>
              <a:rPr lang="en-US" dirty="0"/>
              <a:t>If we have a Singularly Linked List that is as follows:</a:t>
            </a:r>
          </a:p>
          <a:p>
            <a:pPr marL="0" indent="0">
              <a:buNone/>
            </a:pPr>
            <a:endParaRPr lang="en-US" dirty="0"/>
          </a:p>
          <a:p>
            <a:pPr marL="0" indent="0" algn="ctr">
              <a:buNone/>
            </a:pPr>
            <a:r>
              <a:rPr lang="en-US" dirty="0">
                <a:latin typeface="Courier New" panose="02070309020205020404" pitchFamily="49" charset="0"/>
                <a:cs typeface="Courier New" panose="02070309020205020404" pitchFamily="49" charset="0"/>
              </a:rPr>
              <a:t>1-&gt;2-&gt;3</a:t>
            </a:r>
          </a:p>
          <a:p>
            <a:pPr marL="0" indent="0" algn="ctr">
              <a:buNone/>
            </a:pPr>
            <a:endParaRPr lang="en-US" dirty="0"/>
          </a:p>
          <a:p>
            <a:r>
              <a:rPr lang="en-US" dirty="0"/>
              <a:t>If we attempted to remove the ‘2’ from the List we would have to link the ‘1’ to the ‘3’ but we have no connection with the ‘1’ so we would have to iterate back through the list to “get” it.</a:t>
            </a:r>
          </a:p>
          <a:p>
            <a:pPr lvl="1"/>
            <a:r>
              <a:rPr lang="en-US" dirty="0"/>
              <a:t>This creates a time complexity of </a:t>
            </a:r>
            <a:r>
              <a:rPr lang="en-US" dirty="0">
                <a:latin typeface="Courier New" panose="02070309020205020404" pitchFamily="49" charset="0"/>
                <a:cs typeface="Courier New" panose="02070309020205020404" pitchFamily="49" charset="0"/>
              </a:rPr>
              <a:t>O(n)</a:t>
            </a:r>
          </a:p>
        </p:txBody>
      </p:sp>
    </p:spTree>
    <p:extLst>
      <p:ext uri="{BB962C8B-B14F-4D97-AF65-F5344CB8AC3E}">
        <p14:creationId xmlns:p14="http://schemas.microsoft.com/office/powerpoint/2010/main" val="2622344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a:t>
            </a:r>
          </a:p>
        </p:txBody>
      </p:sp>
      <p:sp>
        <p:nvSpPr>
          <p:cNvPr id="3" name="Content Placeholder 2"/>
          <p:cNvSpPr>
            <a:spLocks noGrp="1"/>
          </p:cNvSpPr>
          <p:nvPr>
            <p:ph idx="1"/>
          </p:nvPr>
        </p:nvSpPr>
        <p:spPr/>
        <p:txBody>
          <a:bodyPr>
            <a:normAutofit lnSpcReduction="10000"/>
          </a:bodyPr>
          <a:lstStyle/>
          <a:p>
            <a:r>
              <a:rPr lang="en-US" dirty="0"/>
              <a:t>If we instead use a Doubly Linked List, say in the form of:</a:t>
            </a:r>
          </a:p>
          <a:p>
            <a:endParaRPr lang="en-US" dirty="0"/>
          </a:p>
          <a:p>
            <a:pPr marL="0" indent="0" algn="ctr">
              <a:buNone/>
            </a:pPr>
            <a:r>
              <a:rPr lang="en-US" dirty="0">
                <a:latin typeface="Courier New" panose="02070309020205020404" pitchFamily="49" charset="0"/>
                <a:cs typeface="Courier New" panose="02070309020205020404" pitchFamily="49" charset="0"/>
              </a:rPr>
              <a:t>1&lt;-&gt;2&lt;-&gt;3</a:t>
            </a:r>
          </a:p>
          <a:p>
            <a:pPr marL="0" indent="0" algn="ctr">
              <a:buNone/>
            </a:pPr>
            <a:endParaRPr lang="en-US" dirty="0"/>
          </a:p>
          <a:p>
            <a:r>
              <a:rPr lang="en-US" dirty="0"/>
              <a:t>We already have the link back to the ‘1’ so we can simply reassign  the pointers to the two Linked Nodes and all is good!</a:t>
            </a:r>
          </a:p>
          <a:p>
            <a:pPr lvl="1"/>
            <a:r>
              <a:rPr lang="en-US" dirty="0"/>
              <a:t>Here we have a time complexity of </a:t>
            </a:r>
            <a:r>
              <a:rPr lang="en-US" dirty="0">
                <a:latin typeface="Courier New" panose="02070309020205020404" pitchFamily="49" charset="0"/>
                <a:cs typeface="Courier New" panose="02070309020205020404" pitchFamily="49" charset="0"/>
              </a:rPr>
              <a:t>O(1)</a:t>
            </a:r>
          </a:p>
        </p:txBody>
      </p:sp>
    </p:spTree>
    <p:extLst>
      <p:ext uri="{BB962C8B-B14F-4D97-AF65-F5344CB8AC3E}">
        <p14:creationId xmlns:p14="http://schemas.microsoft.com/office/powerpoint/2010/main" val="2317390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Cuckoo Hashing</a:t>
            </a:r>
          </a:p>
        </p:txBody>
      </p:sp>
      <p:sp>
        <p:nvSpPr>
          <p:cNvPr id="5" name="Subtitle 4"/>
          <p:cNvSpPr>
            <a:spLocks noGrp="1"/>
          </p:cNvSpPr>
          <p:nvPr>
            <p:ph type="subTitle" idx="1"/>
          </p:nvPr>
        </p:nvSpPr>
        <p:spPr/>
        <p:txBody>
          <a:bodyPr/>
          <a:lstStyle/>
          <a:p>
            <a:r>
              <a:rPr lang="en-US" dirty="0"/>
              <a:t>Cuckoo </a:t>
            </a:r>
            <a:r>
              <a:rPr lang="en-US" dirty="0" err="1"/>
              <a:t>Cuckoo</a:t>
            </a:r>
            <a:endParaRPr lang="en-US" dirty="0"/>
          </a:p>
        </p:txBody>
      </p:sp>
    </p:spTree>
    <p:extLst>
      <p:ext uri="{BB962C8B-B14F-4D97-AF65-F5344CB8AC3E}">
        <p14:creationId xmlns:p14="http://schemas.microsoft.com/office/powerpoint/2010/main" val="41165209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4" name="Content Placeholder 3"/>
          <p:cNvSpPr>
            <a:spLocks noGrp="1"/>
          </p:cNvSpPr>
          <p:nvPr>
            <p:ph sz="half" idx="1"/>
          </p:nvPr>
        </p:nvSpPr>
        <p:spPr/>
        <p:txBody>
          <a:bodyPr>
            <a:normAutofit lnSpcReduction="10000"/>
          </a:bodyPr>
          <a:lstStyle/>
          <a:p>
            <a:r>
              <a:rPr lang="en-US" dirty="0"/>
              <a:t>Collision Handling Technique</a:t>
            </a:r>
          </a:p>
          <a:p>
            <a:pPr lvl="1"/>
            <a:r>
              <a:rPr lang="en-US" dirty="0"/>
              <a:t>Named after the Cuckoo bird.</a:t>
            </a:r>
          </a:p>
          <a:p>
            <a:pPr lvl="1"/>
            <a:endParaRPr lang="en-US" dirty="0"/>
          </a:p>
          <a:p>
            <a:r>
              <a:rPr lang="en-US" dirty="0"/>
              <a:t>Why?</a:t>
            </a:r>
          </a:p>
          <a:p>
            <a:pPr lvl="1"/>
            <a:r>
              <a:rPr lang="en-US" dirty="0"/>
              <a:t>The Cuckoo bird will “take over” other birds nests’ and remove any eggs/babies to make room for their own.</a:t>
            </a:r>
          </a:p>
          <a:p>
            <a:pPr lvl="2"/>
            <a:r>
              <a:rPr lang="en-US" dirty="0"/>
              <a:t>That is not very nice!</a:t>
            </a:r>
          </a:p>
        </p:txBody>
      </p:sp>
      <p:pic>
        <p:nvPicPr>
          <p:cNvPr id="102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2449007"/>
            <a:ext cx="4038600" cy="2828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20272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Cuckoo Hashing</a:t>
            </a:r>
          </a:p>
        </p:txBody>
      </p:sp>
      <p:sp>
        <p:nvSpPr>
          <p:cNvPr id="6" name="Content Placeholder 5"/>
          <p:cNvSpPr>
            <a:spLocks noGrp="1"/>
          </p:cNvSpPr>
          <p:nvPr>
            <p:ph idx="1"/>
          </p:nvPr>
        </p:nvSpPr>
        <p:spPr/>
        <p:txBody>
          <a:bodyPr>
            <a:normAutofit fontScale="92500" lnSpcReduction="20000"/>
          </a:bodyPr>
          <a:lstStyle/>
          <a:p>
            <a:r>
              <a:rPr lang="en-US" dirty="0"/>
              <a:t>Cuckoo hashing applies the idea of multiple choice and relocation together.</a:t>
            </a:r>
          </a:p>
          <a:p>
            <a:pPr lvl="1"/>
            <a:r>
              <a:rPr lang="en-US" dirty="0"/>
              <a:t>Guarantees </a:t>
            </a:r>
            <a:r>
              <a:rPr lang="en-US" dirty="0">
                <a:latin typeface="Courier New" panose="02070309020205020404" pitchFamily="49" charset="0"/>
                <a:cs typeface="Courier New" panose="02070309020205020404" pitchFamily="49" charset="0"/>
              </a:rPr>
              <a:t>O(1) </a:t>
            </a:r>
            <a:r>
              <a:rPr lang="en-US" dirty="0"/>
              <a:t>worst case lookup time!</a:t>
            </a:r>
          </a:p>
          <a:p>
            <a:pPr lvl="1"/>
            <a:endParaRPr lang="en-US" dirty="0"/>
          </a:p>
          <a:p>
            <a:r>
              <a:rPr lang="en-US" dirty="0"/>
              <a:t>Multiple Choice:</a:t>
            </a:r>
          </a:p>
          <a:p>
            <a:pPr lvl="1"/>
            <a:r>
              <a:rPr lang="en-US" dirty="0"/>
              <a:t>We provide two different hashing functions and let “it” choose.</a:t>
            </a:r>
          </a:p>
          <a:p>
            <a:r>
              <a:rPr lang="en-US" dirty="0"/>
              <a:t>Relocation:</a:t>
            </a:r>
          </a:p>
          <a:p>
            <a:pPr lvl="1"/>
            <a:r>
              <a:rPr lang="en-US" dirty="0"/>
              <a:t>If the “bucket” is occupied – we simply “push” the existing value out and insert our value.</a:t>
            </a:r>
          </a:p>
          <a:p>
            <a:pPr lvl="2"/>
            <a:r>
              <a:rPr lang="en-US" dirty="0"/>
              <a:t>We don’t lose the value though…</a:t>
            </a:r>
          </a:p>
        </p:txBody>
      </p:sp>
    </p:spTree>
    <p:extLst>
      <p:ext uri="{BB962C8B-B14F-4D97-AF65-F5344CB8AC3E}">
        <p14:creationId xmlns:p14="http://schemas.microsoft.com/office/powerpoint/2010/main" val="5068484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If the alternate position (Hash Function #2) of former key is vacant – simply insert.</a:t>
            </a:r>
          </a:p>
          <a:p>
            <a:endParaRPr lang="en-US" dirty="0"/>
          </a:p>
          <a:p>
            <a:r>
              <a:rPr lang="en-US" dirty="0"/>
              <a:t>Otherwise, the former key displaces the key. </a:t>
            </a:r>
          </a:p>
          <a:p>
            <a:pPr lvl="1"/>
            <a:r>
              <a:rPr lang="en-US" dirty="0"/>
              <a:t>This process will continue until the procedure finds a vacant position, or enters a cycle.</a:t>
            </a:r>
          </a:p>
          <a:p>
            <a:pPr lvl="2"/>
            <a:r>
              <a:rPr lang="en-US" dirty="0"/>
              <a:t>What is a cycle???</a:t>
            </a:r>
          </a:p>
        </p:txBody>
      </p:sp>
    </p:spTree>
    <p:extLst>
      <p:ext uri="{BB962C8B-B14F-4D97-AF65-F5344CB8AC3E}">
        <p14:creationId xmlns:p14="http://schemas.microsoft.com/office/powerpoint/2010/main" val="29955365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What is a cycle?</a:t>
            </a:r>
          </a:p>
          <a:p>
            <a:pPr lvl="1"/>
            <a:r>
              <a:rPr lang="en-US" dirty="0"/>
              <a:t>This term can hold multiple definitions within the realm of hashing – the easiest to understand is the occurrence that no open “buckets” exist for all of the hashing functions.</a:t>
            </a:r>
          </a:p>
          <a:p>
            <a:endParaRPr lang="en-US" dirty="0"/>
          </a:p>
          <a:p>
            <a:r>
              <a:rPr lang="en-US" dirty="0"/>
              <a:t>What should we do?</a:t>
            </a:r>
          </a:p>
          <a:p>
            <a:pPr lvl="1"/>
            <a:r>
              <a:rPr lang="en-US" dirty="0"/>
              <a:t>We need to rehash the entire data structure.</a:t>
            </a:r>
          </a:p>
          <a:p>
            <a:pPr lvl="2"/>
            <a:r>
              <a:rPr lang="en-US" dirty="0"/>
              <a:t>UGH!</a:t>
            </a:r>
          </a:p>
        </p:txBody>
      </p:sp>
    </p:spTree>
    <p:extLst>
      <p:ext uri="{BB962C8B-B14F-4D97-AF65-F5344CB8AC3E}">
        <p14:creationId xmlns:p14="http://schemas.microsoft.com/office/powerpoint/2010/main" val="4215459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3" name="Content Placeholder 2"/>
          <p:cNvSpPr>
            <a:spLocks noGrp="1"/>
          </p:cNvSpPr>
          <p:nvPr>
            <p:ph idx="1"/>
          </p:nvPr>
        </p:nvSpPr>
        <p:spPr/>
        <p:txBody>
          <a:bodyPr>
            <a:normAutofit/>
          </a:bodyPr>
          <a:lstStyle/>
          <a:p>
            <a:r>
              <a:rPr lang="en-US" dirty="0"/>
              <a:t>Insertion:</a:t>
            </a:r>
          </a:p>
          <a:p>
            <a:pPr lvl="1"/>
            <a:r>
              <a:rPr lang="en-US" dirty="0">
                <a:latin typeface="Courier New" panose="02070309020205020404" pitchFamily="49" charset="0"/>
                <a:cs typeface="Courier New" panose="02070309020205020404" pitchFamily="49" charset="0"/>
              </a:rPr>
              <a:t>O(1) </a:t>
            </a:r>
          </a:p>
          <a:p>
            <a:pPr lvl="2"/>
            <a:r>
              <a:rPr lang="en-US" dirty="0"/>
              <a:t>As long as the number of keys is kept below half of the capacity of the hash table (e.g., no chance of cycles)</a:t>
            </a:r>
          </a:p>
          <a:p>
            <a:endParaRPr lang="en-US" dirty="0"/>
          </a:p>
          <a:p>
            <a:r>
              <a:rPr lang="en-US" dirty="0"/>
              <a:t>Deletion:</a:t>
            </a:r>
          </a:p>
          <a:p>
            <a:pPr lvl="1"/>
            <a:r>
              <a:rPr lang="en-US" dirty="0">
                <a:latin typeface="Courier New" panose="02070309020205020404" pitchFamily="49" charset="0"/>
                <a:cs typeface="Courier New" panose="02070309020205020404" pitchFamily="49" charset="0"/>
              </a:rPr>
              <a:t>O(1) </a:t>
            </a:r>
          </a:p>
          <a:p>
            <a:pPr lvl="2"/>
            <a:r>
              <a:rPr lang="en-US" dirty="0"/>
              <a:t>Just requires inspection of just two locations in the hash table.</a:t>
            </a:r>
          </a:p>
        </p:txBody>
      </p:sp>
    </p:spTree>
    <p:extLst>
      <p:ext uri="{BB962C8B-B14F-4D97-AF65-F5344CB8AC3E}">
        <p14:creationId xmlns:p14="http://schemas.microsoft.com/office/powerpoint/2010/main" val="30257357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Cuckoo Hashing</a:t>
            </a:r>
          </a:p>
        </p:txBody>
      </p:sp>
      <p:sp>
        <p:nvSpPr>
          <p:cNvPr id="7" name="Content Placeholder 6"/>
          <p:cNvSpPr>
            <a:spLocks noGrp="1"/>
          </p:cNvSpPr>
          <p:nvPr>
            <p:ph idx="1"/>
          </p:nvPr>
        </p:nvSpPr>
        <p:spPr/>
        <p:txBody>
          <a:bodyPr/>
          <a:lstStyle/>
          <a:p>
            <a:r>
              <a:rPr lang="en-US" dirty="0"/>
              <a:t>How do we determine the Hash Functions:</a:t>
            </a:r>
          </a:p>
          <a:p>
            <a:pPr lvl="1"/>
            <a:r>
              <a:rPr lang="en-US" dirty="0">
                <a:latin typeface="Courier New" panose="02070309020205020404" pitchFamily="49" charset="0"/>
                <a:cs typeface="Courier New" panose="02070309020205020404" pitchFamily="49" charset="0"/>
              </a:rPr>
              <a:t>h1(key) = key % SIZE_OF_HASH_TABLE</a:t>
            </a:r>
          </a:p>
          <a:p>
            <a:pPr lvl="1"/>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h2(key) = (key / SIZE_OF_HASH_TABLE) % SIZE_OF_HASH_TABLE</a:t>
            </a:r>
          </a:p>
        </p:txBody>
      </p:sp>
    </p:spTree>
    <p:extLst>
      <p:ext uri="{BB962C8B-B14F-4D97-AF65-F5344CB8AC3E}">
        <p14:creationId xmlns:p14="http://schemas.microsoft.com/office/powerpoint/2010/main" val="39122649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Cuckoo Hashing</a:t>
            </a:r>
          </a:p>
        </p:txBody>
      </p:sp>
      <p:sp>
        <p:nvSpPr>
          <p:cNvPr id="4" name="Content Placeholder 3"/>
          <p:cNvSpPr>
            <a:spLocks noGrp="1"/>
          </p:cNvSpPr>
          <p:nvPr>
            <p:ph sz="half" idx="1"/>
          </p:nvPr>
        </p:nvSpPr>
        <p:spPr/>
        <p:txBody>
          <a:bodyPr/>
          <a:lstStyle/>
          <a:p>
            <a:r>
              <a:rPr lang="en-US" dirty="0"/>
              <a:t>Hash Table Size</a:t>
            </a:r>
          </a:p>
          <a:p>
            <a:pPr lvl="1"/>
            <a:r>
              <a:rPr lang="en-US" dirty="0"/>
              <a:t>11 (x2)</a:t>
            </a:r>
          </a:p>
          <a:p>
            <a:pPr lvl="1"/>
            <a:endParaRPr lang="en-US" dirty="0"/>
          </a:p>
          <a:p>
            <a:r>
              <a:rPr lang="en-US" dirty="0"/>
              <a:t>Hash Function:</a:t>
            </a:r>
          </a:p>
          <a:p>
            <a:pPr lvl="1"/>
            <a:r>
              <a:rPr lang="en-US" dirty="0"/>
              <a:t>h1(key) = key%11 h2(key) = (key/11)%11</a:t>
            </a:r>
          </a:p>
          <a:p>
            <a:pPr lvl="1"/>
            <a:endParaRPr lang="en-US" dirty="0"/>
          </a:p>
          <a:p>
            <a:r>
              <a:rPr lang="en-US" dirty="0"/>
              <a:t>Inserts:</a:t>
            </a:r>
          </a:p>
          <a:p>
            <a:pPr lvl="1"/>
            <a:r>
              <a:rPr lang="en-US" dirty="0"/>
              <a:t>20, 50, 53</a:t>
            </a:r>
          </a:p>
        </p:txBody>
      </p:sp>
      <p:pic>
        <p:nvPicPr>
          <p:cNvPr id="2050"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648200" y="3549895"/>
            <a:ext cx="4038600" cy="6265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87319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F55553-530B-41AB-A4FE-B0167B6D20D3}"/>
              </a:ext>
            </a:extLst>
          </p:cNvPr>
          <p:cNvSpPr>
            <a:spLocks noGrp="1"/>
          </p:cNvSpPr>
          <p:nvPr>
            <p:ph type="ctrTitle"/>
          </p:nvPr>
        </p:nvSpPr>
        <p:spPr>
          <a:xfrm>
            <a:off x="685800" y="2568575"/>
            <a:ext cx="7772400" cy="1470025"/>
          </a:xfrm>
        </p:spPr>
        <p:txBody>
          <a:bodyPr/>
          <a:lstStyle/>
          <a:p>
            <a:r>
              <a:rPr lang="en-US" dirty="0"/>
              <a:t>Hashing Efficiency</a:t>
            </a:r>
          </a:p>
        </p:txBody>
      </p:sp>
    </p:spTree>
    <p:extLst>
      <p:ext uri="{BB962C8B-B14F-4D97-AF65-F5344CB8AC3E}">
        <p14:creationId xmlns:p14="http://schemas.microsoft.com/office/powerpoint/2010/main" val="3215361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Hashing Efficiency</a:t>
            </a:r>
          </a:p>
        </p:txBody>
      </p:sp>
      <p:sp>
        <p:nvSpPr>
          <p:cNvPr id="3" name="Content Placeholder 2"/>
          <p:cNvSpPr>
            <a:spLocks noGrp="1"/>
          </p:cNvSpPr>
          <p:nvPr>
            <p:ph idx="1"/>
          </p:nvPr>
        </p:nvSpPr>
        <p:spPr/>
        <p:txBody>
          <a:bodyPr/>
          <a:lstStyle/>
          <a:p>
            <a:r>
              <a:rPr lang="en-US" dirty="0"/>
              <a:t>Load Factor measures how full a Hash Table is:</a:t>
            </a:r>
          </a:p>
          <a:p>
            <a:endParaRPr lang="en-US" dirty="0"/>
          </a:p>
          <a:p>
            <a:endParaRPr lang="en-US" dirty="0"/>
          </a:p>
          <a:p>
            <a:endParaRPr lang="en-US" dirty="0"/>
          </a:p>
          <a:p>
            <a:endParaRPr lang="en-US" dirty="0"/>
          </a:p>
          <a:p>
            <a:r>
              <a:rPr lang="en-US" dirty="0"/>
              <a:t>Unsuccessful searches often require much time than successful searches.</a:t>
            </a:r>
          </a:p>
          <a:p>
            <a:pPr lvl="1"/>
            <a:r>
              <a:rPr lang="en-US" dirty="0"/>
              <a:t>WHY?</a:t>
            </a:r>
          </a:p>
          <a:p>
            <a:pPr marL="0" indent="0">
              <a:buNone/>
            </a:pPr>
            <a:endParaRPr lang="en-US" dirty="0"/>
          </a:p>
          <a:p>
            <a:pPr marL="0" indent="0">
              <a:buNone/>
            </a:pP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7261590" cy="1348581"/>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2138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Probing: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2424113"/>
            <a:ext cx="5524500" cy="2009775"/>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75843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Quadratic Probing: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4987" y="2595563"/>
            <a:ext cx="5534025" cy="1666875"/>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763037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 Efficiency</a:t>
            </a:r>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*Avg. # of Comparisons</a:t>
            </a:r>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0"/>
            <a:ext cx="7143320" cy="190341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27907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Table: Efficiency</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5008" y="1600200"/>
            <a:ext cx="3693984"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33960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Table: Efficiency</a:t>
            </a:r>
          </a:p>
        </p:txBody>
      </p:sp>
      <p:pic>
        <p:nvPicPr>
          <p:cNvPr id="4" name="Content Placeholder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6683" y="1600200"/>
            <a:ext cx="3810633" cy="4525963"/>
          </a:xfrm>
          <a:prstGeom prst="rect">
            <a:avLst/>
          </a:prstGeom>
          <a:noFill/>
          <a:ln>
            <a:noFill/>
          </a:ln>
          <a:effectLst>
            <a:outerShdw blurRad="292100" dist="139700" dir="2700000" algn="tl" rotWithShape="0">
              <a:srgbClr val="333333">
                <a:alpha val="64998"/>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18226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8313</TotalTime>
  <Words>2137</Words>
  <Application>Microsoft Office PowerPoint</Application>
  <PresentationFormat>On-screen Show (4:3)</PresentationFormat>
  <Paragraphs>301</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Courier New</vt:lpstr>
      <vt:lpstr>Office Theme</vt:lpstr>
      <vt:lpstr>Hashing</vt:lpstr>
      <vt:lpstr>Hashing</vt:lpstr>
      <vt:lpstr>Hashing</vt:lpstr>
      <vt:lpstr>Hashing</vt:lpstr>
      <vt:lpstr>Hashing</vt:lpstr>
      <vt:lpstr>Hashing</vt:lpstr>
      <vt:lpstr>Hashing</vt:lpstr>
      <vt:lpstr>Collisions</vt:lpstr>
      <vt:lpstr>Collisions</vt:lpstr>
      <vt:lpstr>Collisions</vt:lpstr>
      <vt:lpstr>Collisions</vt:lpstr>
      <vt:lpstr>Collisions</vt:lpstr>
      <vt:lpstr>Linear Probing</vt:lpstr>
      <vt:lpstr>Linear Probing</vt:lpstr>
      <vt:lpstr>Linear Probing</vt:lpstr>
      <vt:lpstr>Linear Probing</vt:lpstr>
      <vt:lpstr>Linear Probing</vt:lpstr>
      <vt:lpstr>Linear Probing</vt:lpstr>
      <vt:lpstr>Linear Probing</vt:lpstr>
      <vt:lpstr>Linear Probing</vt:lpstr>
      <vt:lpstr>Linear Probing</vt:lpstr>
      <vt:lpstr>Linear Probing</vt:lpstr>
      <vt:lpstr>Quadratic Probing</vt:lpstr>
      <vt:lpstr>Quadratic Probing</vt:lpstr>
      <vt:lpstr>Quadratic Probing</vt:lpstr>
      <vt:lpstr>Quadratic Probing</vt:lpstr>
      <vt:lpstr>Quadratic Probing</vt:lpstr>
      <vt:lpstr>Quadratic Probing</vt:lpstr>
      <vt:lpstr>Double Hashing</vt:lpstr>
      <vt:lpstr>Double Hashing</vt:lpstr>
      <vt:lpstr>Collisions</vt:lpstr>
      <vt:lpstr>Separate Chaining</vt:lpstr>
      <vt:lpstr>Separate Chaining</vt:lpstr>
      <vt:lpstr>Separate Chaining</vt:lpstr>
      <vt:lpstr>Separate Chaining</vt:lpstr>
      <vt:lpstr>Separate Chaining</vt:lpstr>
      <vt:lpstr>Separate Chaining</vt:lpstr>
      <vt:lpstr>Separate Chaining</vt:lpstr>
      <vt:lpstr>Cuckoo Hashing</vt:lpstr>
      <vt:lpstr>Cuckoo Hashing</vt:lpstr>
      <vt:lpstr>Cuckoo Hashing</vt:lpstr>
      <vt:lpstr>Cuckoo Hashing</vt:lpstr>
      <vt:lpstr>Cuckoo Hashing</vt:lpstr>
      <vt:lpstr>Cuckoo Hashing</vt:lpstr>
      <vt:lpstr>Cuckoo Hashing</vt:lpstr>
      <vt:lpstr>Cuckoo Hashing</vt:lpstr>
      <vt:lpstr>Hashing Efficiency</vt:lpstr>
      <vt:lpstr>Hashing Efficiency</vt:lpstr>
      <vt:lpstr>Linear Probing: Efficiency</vt:lpstr>
      <vt:lpstr>Quadratic Probing: Efficiency</vt:lpstr>
      <vt:lpstr>Separate Chaining: Efficiency</vt:lpstr>
      <vt:lpstr>Hash Table: Efficiency</vt:lpstr>
      <vt:lpstr>Hash Table: Efficiency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Rybarczyk</dc:creator>
  <cp:lastModifiedBy>Joshua Mackentyre Rouse</cp:lastModifiedBy>
  <cp:revision>590</cp:revision>
  <dcterms:created xsi:type="dcterms:W3CDTF">2011-07-22T18:36:28Z</dcterms:created>
  <dcterms:modified xsi:type="dcterms:W3CDTF">2025-12-15T22:36:45Z</dcterms:modified>
</cp:coreProperties>
</file>