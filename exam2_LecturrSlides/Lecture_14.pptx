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4"/>
  </p:notesMasterIdLst>
  <p:sldIdLst>
    <p:sldId id="314" r:id="rId2"/>
    <p:sldId id="610" r:id="rId3"/>
    <p:sldId id="611" r:id="rId4"/>
    <p:sldId id="321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4" d="100"/>
          <a:sy n="154" d="100"/>
        </p:scale>
        <p:origin x="1926" y="1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10/22/2025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2886864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Hop Dawg</a:t>
            </a:r>
          </a:p>
          <a:p>
            <a:pPr lvl="2"/>
            <a:r>
              <a:rPr lang="en-US" dirty="0"/>
              <a:t>Lists/Linked Lists/Doubly Linked List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Linked List</a:t>
            </a:r>
          </a:p>
          <a:p>
            <a:pPr lvl="1"/>
            <a:r>
              <a:rPr lang="en-US" dirty="0"/>
              <a:t>Insertions</a:t>
            </a:r>
          </a:p>
          <a:p>
            <a:pPr lvl="1"/>
            <a:r>
              <a:rPr lang="en-US" dirty="0"/>
              <a:t>Deletions</a:t>
            </a:r>
          </a:p>
          <a:p>
            <a:pPr lvl="1"/>
            <a:r>
              <a:rPr lang="en-US" dirty="0"/>
              <a:t>Searches</a:t>
            </a:r>
          </a:p>
          <a:p>
            <a:pPr lvl="1"/>
            <a:endParaRPr lang="en-US" dirty="0"/>
          </a:p>
          <a:p>
            <a:r>
              <a:rPr lang="en-US" dirty="0"/>
              <a:t>Due Date:</a:t>
            </a:r>
          </a:p>
          <a:p>
            <a:pPr lvl="1"/>
            <a:r>
              <a:rPr lang="en-US" smtClean="0"/>
              <a:t>11/5/2025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841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8</a:t>
            </a:r>
          </a:p>
        </p:txBody>
      </p:sp>
    </p:spTree>
    <p:extLst>
      <p:ext uri="{BB962C8B-B14F-4D97-AF65-F5344CB8AC3E}">
        <p14:creationId xmlns:p14="http://schemas.microsoft.com/office/powerpoint/2010/main" val="3967197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We, as humans, make lists all of the time:</a:t>
            </a:r>
          </a:p>
          <a:p>
            <a:pPr lvl="1"/>
            <a:r>
              <a:rPr lang="en-US" dirty="0"/>
              <a:t>Groceries</a:t>
            </a:r>
          </a:p>
          <a:p>
            <a:pPr lvl="1"/>
            <a:r>
              <a:rPr lang="en-US" dirty="0"/>
              <a:t>Teams</a:t>
            </a:r>
          </a:p>
          <a:p>
            <a:pPr lvl="1"/>
            <a:r>
              <a:rPr lang="en-US" dirty="0"/>
              <a:t>Dogs</a:t>
            </a:r>
          </a:p>
          <a:p>
            <a:pPr lvl="2"/>
            <a:r>
              <a:rPr lang="en-US" dirty="0"/>
              <a:t>…we all know Bulldogs are the best.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r>
              <a:rPr lang="en-US" i="1" dirty="0">
                <a:sym typeface="Wingdings" panose="05000000000000000000" pitchFamily="2" charset="2"/>
              </a:rPr>
              <a:t>How do we model this same behavior in a programming language?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440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: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can think of every list as having a front and back of the “list.”</a:t>
            </a:r>
          </a:p>
          <a:p>
            <a:pPr lvl="1"/>
            <a:r>
              <a:rPr lang="en-US" dirty="0"/>
              <a:t>We call these the </a:t>
            </a:r>
            <a:r>
              <a:rPr lang="en-US" b="1" u="sng" dirty="0"/>
              <a:t>head</a:t>
            </a:r>
            <a:r>
              <a:rPr lang="en-US" dirty="0"/>
              <a:t> and the </a:t>
            </a:r>
            <a:r>
              <a:rPr lang="en-US" b="1" u="sng" dirty="0"/>
              <a:t>tail</a:t>
            </a:r>
            <a:r>
              <a:rPr lang="en-US" dirty="0"/>
              <a:t> of the list.</a:t>
            </a:r>
          </a:p>
          <a:p>
            <a:pPr lvl="1"/>
            <a:endParaRPr lang="en-US" dirty="0"/>
          </a:p>
          <a:p>
            <a:r>
              <a:rPr lang="en-US" dirty="0"/>
              <a:t>A list can be viewed as nothing more than a container of items of the same type whose order you indicate and whose position you reference by number.</a:t>
            </a:r>
          </a:p>
          <a:p>
            <a:pPr lvl="1"/>
            <a:r>
              <a:rPr lang="en-US" i="1" dirty="0"/>
              <a:t>What does this sound like?</a:t>
            </a:r>
          </a:p>
        </p:txBody>
      </p:sp>
    </p:spTree>
    <p:extLst>
      <p:ext uri="{BB962C8B-B14F-4D97-AF65-F5344CB8AC3E}">
        <p14:creationId xmlns:p14="http://schemas.microsoft.com/office/powerpoint/2010/main" val="816662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: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are some of the operations that we perform on our every day lists?</a:t>
            </a:r>
          </a:p>
          <a:p>
            <a:pPr lvl="1"/>
            <a:r>
              <a:rPr lang="en-US" dirty="0"/>
              <a:t>Count</a:t>
            </a:r>
          </a:p>
          <a:p>
            <a:pPr lvl="1"/>
            <a:r>
              <a:rPr lang="en-US" dirty="0"/>
              <a:t>Add</a:t>
            </a:r>
          </a:p>
          <a:p>
            <a:pPr lvl="1"/>
            <a:r>
              <a:rPr lang="en-US" dirty="0"/>
              <a:t>Remove</a:t>
            </a:r>
          </a:p>
          <a:p>
            <a:pPr lvl="1"/>
            <a:r>
              <a:rPr lang="en-US" dirty="0"/>
              <a:t>Find</a:t>
            </a:r>
          </a:p>
          <a:p>
            <a:pPr lvl="1"/>
            <a:endParaRPr lang="en-US" dirty="0"/>
          </a:p>
          <a:p>
            <a:r>
              <a:rPr lang="en-US" dirty="0"/>
              <a:t>What are some of the attributes that our lists have?</a:t>
            </a:r>
          </a:p>
          <a:p>
            <a:pPr lvl="1"/>
            <a:r>
              <a:rPr lang="en-US" dirty="0"/>
              <a:t>Items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05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: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in our case we want to expand our horizons past just simple old lists.</a:t>
            </a:r>
          </a:p>
          <a:p>
            <a:pPr lvl="1"/>
            <a:r>
              <a:rPr lang="en-US" dirty="0"/>
              <a:t>Linked Lists</a:t>
            </a:r>
          </a:p>
          <a:p>
            <a:pPr lvl="1"/>
            <a:r>
              <a:rPr lang="en-US" dirty="0"/>
              <a:t>Doubly Linked Lists</a:t>
            </a:r>
          </a:p>
          <a:p>
            <a:pPr lvl="1"/>
            <a:endParaRPr lang="en-US" dirty="0"/>
          </a:p>
          <a:p>
            <a:r>
              <a:rPr lang="en-US" dirty="0"/>
              <a:t>We will create a List Class in C++ that we will use as our base.</a:t>
            </a:r>
          </a:p>
          <a:p>
            <a:pPr lvl="1"/>
            <a:r>
              <a:rPr lang="en-US" dirty="0"/>
              <a:t>Pure Virtual Class (Abstract Class)</a:t>
            </a:r>
          </a:p>
        </p:txBody>
      </p:sp>
    </p:spTree>
    <p:extLst>
      <p:ext uri="{BB962C8B-B14F-4D97-AF65-F5344CB8AC3E}">
        <p14:creationId xmlns:p14="http://schemas.microsoft.com/office/powerpoint/2010/main" val="711324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ADT :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Finite number of Objects</a:t>
            </a:r>
          </a:p>
          <a:p>
            <a:pPr lvl="1"/>
            <a:endParaRPr lang="en-US" dirty="0"/>
          </a:p>
          <a:p>
            <a:r>
              <a:rPr lang="en-US" dirty="0"/>
              <a:t>Not necessarily distinct</a:t>
            </a:r>
          </a:p>
          <a:p>
            <a:pPr lvl="1"/>
            <a:r>
              <a:rPr lang="en-US" dirty="0"/>
              <a:t>Duplicate entries may exist.</a:t>
            </a:r>
          </a:p>
          <a:p>
            <a:pPr lvl="1"/>
            <a:endParaRPr lang="en-US" dirty="0"/>
          </a:p>
          <a:p>
            <a:r>
              <a:rPr lang="en-US" dirty="0"/>
              <a:t>Homogeneous Data Type</a:t>
            </a:r>
          </a:p>
          <a:p>
            <a:endParaRPr lang="en-US" dirty="0"/>
          </a:p>
          <a:p>
            <a:r>
              <a:rPr lang="en-US" dirty="0"/>
              <a:t>Ordered by Position</a:t>
            </a:r>
          </a:p>
          <a:p>
            <a:pPr lvl="1"/>
            <a:r>
              <a:rPr lang="en-US" dirty="0"/>
              <a:t>Dictated by the user – not the data structure. </a:t>
            </a:r>
          </a:p>
        </p:txBody>
      </p:sp>
    </p:spTree>
    <p:extLst>
      <p:ext uri="{BB962C8B-B14F-4D97-AF65-F5344CB8AC3E}">
        <p14:creationId xmlns:p14="http://schemas.microsoft.com/office/powerpoint/2010/main" val="1884671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nail down the exact operations we want our list to have: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isEmpty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insert()</a:t>
            </a:r>
          </a:p>
          <a:p>
            <a:pPr lvl="1"/>
            <a:endParaRPr lang="en-US" dirty="0"/>
          </a:p>
          <a:p>
            <a:r>
              <a:rPr lang="en-US" dirty="0"/>
              <a:t>Lets now look to see how we can implement the ADT List in C++</a:t>
            </a:r>
          </a:p>
          <a:p>
            <a:pPr lvl="1"/>
            <a:r>
              <a:rPr lang="en-US" dirty="0"/>
              <a:t>Two options:</a:t>
            </a:r>
          </a:p>
          <a:p>
            <a:pPr lvl="2"/>
            <a:r>
              <a:rPr lang="en-US" dirty="0"/>
              <a:t>Array-Based</a:t>
            </a:r>
          </a:p>
          <a:p>
            <a:pPr lvl="2"/>
            <a:r>
              <a:rPr lang="en-US" dirty="0"/>
              <a:t>Link-Based</a:t>
            </a:r>
          </a:p>
        </p:txBody>
      </p:sp>
    </p:spTree>
    <p:extLst>
      <p:ext uri="{BB962C8B-B14F-4D97-AF65-F5344CB8AC3E}">
        <p14:creationId xmlns:p14="http://schemas.microsoft.com/office/powerpoint/2010/main" val="4282742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List Implementations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9</a:t>
            </a:r>
          </a:p>
        </p:txBody>
      </p:sp>
    </p:spTree>
    <p:extLst>
      <p:ext uri="{BB962C8B-B14F-4D97-AF65-F5344CB8AC3E}">
        <p14:creationId xmlns:p14="http://schemas.microsoft.com/office/powerpoint/2010/main" val="2704696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Array-based Approach</a:t>
            </a:r>
          </a:p>
          <a:p>
            <a:pPr lvl="1"/>
            <a:r>
              <a:rPr lang="en-US" dirty="0"/>
              <a:t>Natural Relationship</a:t>
            </a:r>
          </a:p>
          <a:p>
            <a:pPr lvl="2"/>
            <a:r>
              <a:rPr lang="en-US" dirty="0"/>
              <a:t>“List” of Items</a:t>
            </a:r>
          </a:p>
          <a:p>
            <a:pPr lvl="2"/>
            <a:r>
              <a:rPr lang="en-US" dirty="0"/>
              <a:t>Homogeneous</a:t>
            </a:r>
          </a:p>
          <a:p>
            <a:pPr lvl="2"/>
            <a:r>
              <a:rPr lang="en-US" dirty="0"/>
              <a:t>Numerical Ordering</a:t>
            </a:r>
          </a:p>
          <a:p>
            <a:endParaRPr lang="en-US" dirty="0"/>
          </a:p>
          <a:p>
            <a:r>
              <a:rPr lang="en-US" dirty="0"/>
              <a:t>Key Question(s):</a:t>
            </a:r>
          </a:p>
          <a:p>
            <a:pPr lvl="1"/>
            <a:r>
              <a:rPr lang="en-US" dirty="0"/>
              <a:t>Do Array’s have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method?</a:t>
            </a:r>
          </a:p>
          <a:p>
            <a:pPr lvl="2"/>
            <a:r>
              <a:rPr lang="en-US" dirty="0"/>
              <a:t>We also need to keep track of number of entries.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47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Where to begin…</a:t>
            </a:r>
          </a:p>
          <a:p>
            <a:pPr lvl="1"/>
            <a:r>
              <a:rPr lang="en-US" dirty="0"/>
              <a:t>We can store the lists’ entries in an array.</a:t>
            </a:r>
          </a:p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items[100];</a:t>
            </a:r>
          </a:p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What is the problem with this approach?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How much of the array will the list actually occupy?</a:t>
            </a:r>
          </a:p>
          <a:p>
            <a:pPr marL="1371600" lvl="2" indent="-514350"/>
            <a:r>
              <a:rPr lang="en-US" dirty="0"/>
              <a:t>It could occupy the entire 100 indices but it probably will not.</a:t>
            </a:r>
          </a:p>
        </p:txBody>
      </p:sp>
    </p:spTree>
    <p:extLst>
      <p:ext uri="{BB962C8B-B14F-4D97-AF65-F5344CB8AC3E}">
        <p14:creationId xmlns:p14="http://schemas.microsoft.com/office/powerpoint/2010/main" val="3703458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to keep in mind where arrays begin indexing.</a:t>
            </a:r>
          </a:p>
          <a:p>
            <a:pPr lvl="1"/>
            <a:r>
              <a:rPr lang="en-US" dirty="0"/>
              <a:t>0 – but when referring to a List do we start at 0?</a:t>
            </a:r>
          </a:p>
          <a:p>
            <a:pPr lvl="1"/>
            <a:endParaRPr lang="en-US" dirty="0"/>
          </a:p>
          <a:p>
            <a:r>
              <a:rPr lang="en-US" dirty="0"/>
              <a:t>Which approach should we take – ignoring the 0</a:t>
            </a:r>
            <a:r>
              <a:rPr lang="en-US" baseline="30000" dirty="0"/>
              <a:t>th</a:t>
            </a:r>
            <a:r>
              <a:rPr lang="en-US" dirty="0"/>
              <a:t> position of the array or treating the 0</a:t>
            </a:r>
            <a:r>
              <a:rPr lang="en-US" baseline="30000" dirty="0"/>
              <a:t>th</a:t>
            </a:r>
            <a:r>
              <a:rPr lang="en-US" dirty="0"/>
              <a:t> position as the 1</a:t>
            </a:r>
            <a:r>
              <a:rPr lang="en-US" baseline="30000" dirty="0"/>
              <a:t>st</a:t>
            </a:r>
            <a:r>
              <a:rPr lang="en-US" dirty="0"/>
              <a:t> element in the list?</a:t>
            </a:r>
          </a:p>
        </p:txBody>
      </p:sp>
    </p:spTree>
    <p:extLst>
      <p:ext uri="{BB962C8B-B14F-4D97-AF65-F5344CB8AC3E}">
        <p14:creationId xmlns:p14="http://schemas.microsoft.com/office/powerpoint/2010/main" val="728588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Array-based List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173229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Overview:</a:t>
            </a:r>
          </a:p>
          <a:p>
            <a:pPr lvl="1"/>
            <a:r>
              <a:rPr lang="en-US" dirty="0"/>
              <a:t>Abstract Data Type</a:t>
            </a:r>
          </a:p>
          <a:p>
            <a:pPr lvl="1"/>
            <a:endParaRPr lang="en-US" dirty="0"/>
          </a:p>
          <a:p>
            <a:r>
              <a:rPr lang="en-US" dirty="0"/>
              <a:t>ADT Operations:</a:t>
            </a:r>
          </a:p>
          <a:p>
            <a:pPr lvl="1"/>
            <a:r>
              <a:rPr lang="en-US" b="1" dirty="0"/>
              <a:t>Insert</a:t>
            </a:r>
          </a:p>
          <a:p>
            <a:pPr lvl="1"/>
            <a:r>
              <a:rPr lang="en-US" b="1" dirty="0"/>
              <a:t>Find</a:t>
            </a:r>
          </a:p>
          <a:p>
            <a:pPr lvl="1"/>
            <a:r>
              <a:rPr lang="en-US" dirty="0"/>
              <a:t>Delete</a:t>
            </a:r>
          </a:p>
          <a:p>
            <a:pPr lvl="1"/>
            <a:r>
              <a:rPr lang="en-US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384033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Fixed Length</a:t>
            </a:r>
          </a:p>
          <a:p>
            <a:pPr lvl="1"/>
            <a:r>
              <a:rPr lang="en-US" dirty="0"/>
              <a:t>Only limitation is the memory constraints of the OS.</a:t>
            </a:r>
          </a:p>
          <a:p>
            <a:pPr lvl="1"/>
            <a:endParaRPr lang="en-US" dirty="0"/>
          </a:p>
          <a:p>
            <a:r>
              <a:rPr lang="en-US" dirty="0"/>
              <a:t>We do not have to shift the elements within the underlying data structure.</a:t>
            </a:r>
          </a:p>
          <a:p>
            <a:pPr lvl="1"/>
            <a:r>
              <a:rPr lang="en-US" dirty="0"/>
              <a:t>In an Array-based approach we have to remove all the elements and reorder to produce an insert operation.</a:t>
            </a:r>
          </a:p>
        </p:txBody>
      </p:sp>
    </p:spTree>
    <p:extLst>
      <p:ext uri="{BB962C8B-B14F-4D97-AF65-F5344CB8AC3E}">
        <p14:creationId xmlns:p14="http://schemas.microsoft.com/office/powerpoint/2010/main" val="452746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Link-Based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We can make use of our Node to store our information in much the same way we used our array container previously to store our “data.”</a:t>
            </a:r>
          </a:p>
          <a:p>
            <a:endParaRPr lang="en-US" dirty="0"/>
          </a:p>
          <a:p>
            <a:r>
              <a:rPr lang="en-US" dirty="0"/>
              <a:t>The downside of this approach is we must use pointers.</a:t>
            </a:r>
          </a:p>
          <a:p>
            <a:pPr lvl="1"/>
            <a:r>
              <a:rPr lang="en-US" dirty="0"/>
              <a:t>Just like with our introduction to pointers we have seen that with great power – comes </a:t>
            </a:r>
            <a:r>
              <a:rPr lang="en-US"/>
              <a:t>great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690302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 vs. Link-Based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7154137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Link-Based vs. Array Based</a:t>
            </a:r>
          </a:p>
        </p:txBody>
      </p:sp>
      <p:sp>
        <p:nvSpPr>
          <p:cNvPr id="53250" name="Content Placeholder 5"/>
          <p:cNvSpPr>
            <a:spLocks noGrp="1"/>
          </p:cNvSpPr>
          <p:nvPr>
            <p:ph idx="1"/>
          </p:nvPr>
        </p:nvSpPr>
        <p:spPr>
          <a:xfrm>
            <a:off x="457200" y="1874838"/>
            <a:ext cx="8229600" cy="42513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Arrays </a:t>
            </a:r>
          </a:p>
          <a:p>
            <a:pPr lvl="1"/>
            <a:r>
              <a:rPr lang="en-US" altLang="en-US" dirty="0"/>
              <a:t>Easy to use – we all know how to use an array.</a:t>
            </a:r>
          </a:p>
          <a:p>
            <a:pPr lvl="1"/>
            <a:r>
              <a:rPr lang="en-US" altLang="en-US" dirty="0"/>
              <a:t>Fixed size – or are they? </a:t>
            </a:r>
            <a:r>
              <a:rPr lang="en-US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Waste of space?</a:t>
            </a:r>
          </a:p>
          <a:p>
            <a:pPr lvl="1" eaLnBrk="1" hangingPunct="1"/>
            <a:r>
              <a:rPr lang="en-US" altLang="en-US" dirty="0"/>
              <a:t>Array could waste space</a:t>
            </a:r>
          </a:p>
          <a:p>
            <a:pPr lvl="1" eaLnBrk="1" hangingPunct="1"/>
            <a:r>
              <a:rPr lang="en-US" altLang="en-US" dirty="0"/>
              <a:t>Dynamic Allocation is costly!</a:t>
            </a:r>
          </a:p>
          <a:p>
            <a:pPr lvl="1" eaLnBrk="1" hangingPunct="1"/>
            <a:r>
              <a:rPr lang="en-US" altLang="en-US" dirty="0"/>
              <a:t>Access = Easy</a:t>
            </a:r>
          </a:p>
          <a:p>
            <a:pPr lvl="1" eaLnBrk="1" hangingPunct="1"/>
            <a:r>
              <a:rPr lang="en-US" altLang="en-US" dirty="0"/>
              <a:t>Small know set = GOOD!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239453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Link-Based vs. Array Based</a:t>
            </a:r>
          </a:p>
        </p:txBody>
      </p:sp>
      <p:sp>
        <p:nvSpPr>
          <p:cNvPr id="54274" name="Content Placeholder 5"/>
          <p:cNvSpPr>
            <a:spLocks noGrp="1"/>
          </p:cNvSpPr>
          <p:nvPr>
            <p:ph idx="1"/>
          </p:nvPr>
        </p:nvSpPr>
        <p:spPr>
          <a:xfrm>
            <a:off x="457200" y="1874838"/>
            <a:ext cx="8229600" cy="42513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Link-Based</a:t>
            </a:r>
          </a:p>
          <a:p>
            <a:pPr lvl="1"/>
            <a:r>
              <a:rPr lang="en-US" altLang="en-US" dirty="0"/>
              <a:t>No fixed size…in theory.</a:t>
            </a:r>
          </a:p>
          <a:p>
            <a:pPr lvl="1" eaLnBrk="1" hangingPunct="1"/>
            <a:r>
              <a:rPr lang="en-US" altLang="en-US" dirty="0"/>
              <a:t>Next Item/Element</a:t>
            </a:r>
          </a:p>
          <a:p>
            <a:pPr lvl="1" eaLnBrk="1" hangingPunct="1"/>
            <a:r>
              <a:rPr lang="en-US" altLang="en-US" dirty="0"/>
              <a:t>More Memory</a:t>
            </a:r>
          </a:p>
          <a:p>
            <a:pPr lvl="2"/>
            <a:r>
              <a:rPr lang="en-US" altLang="en-US" dirty="0"/>
              <a:t>Why?</a:t>
            </a:r>
          </a:p>
          <a:p>
            <a:pPr lvl="1" eaLnBrk="1" hangingPunct="1"/>
            <a:r>
              <a:rPr lang="en-US" altLang="en-US" dirty="0"/>
              <a:t>Traversals are expensive!</a:t>
            </a:r>
          </a:p>
          <a:p>
            <a:pPr lvl="2"/>
            <a:r>
              <a:rPr lang="en-US" altLang="en-US" dirty="0"/>
              <a:t>Time to access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i="1" baseline="30000" dirty="0">
                <a:latin typeface="Courier New" panose="02070309020205020404" pitchFamily="49" charset="0"/>
                <a:cs typeface="Courier New" panose="02070309020205020404" pitchFamily="49" charset="0"/>
              </a:rPr>
              <a:t>th</a:t>
            </a:r>
            <a:r>
              <a:rPr lang="en-US" altLang="en-US" i="1" dirty="0"/>
              <a:t> </a:t>
            </a:r>
            <a:r>
              <a:rPr lang="en-US" altLang="en-US" dirty="0"/>
              <a:t>node in a linked chain depends on 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  <a:p>
            <a:pPr lvl="1"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334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330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5910</TotalTime>
  <Words>652</Words>
  <Application>Microsoft Office PowerPoint</Application>
  <PresentationFormat>On-screen Show (4:3)</PresentationFormat>
  <Paragraphs>134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Courier New</vt:lpstr>
      <vt:lpstr>Wingdings</vt:lpstr>
      <vt:lpstr>Office Theme</vt:lpstr>
      <vt:lpstr>Lecture – 10/22/2025</vt:lpstr>
      <vt:lpstr>Assignment #4</vt:lpstr>
      <vt:lpstr>Assignment #4</vt:lpstr>
      <vt:lpstr>Lists</vt:lpstr>
      <vt:lpstr>Lists</vt:lpstr>
      <vt:lpstr>ADT : List</vt:lpstr>
      <vt:lpstr>ADT : List</vt:lpstr>
      <vt:lpstr>ADT : List</vt:lpstr>
      <vt:lpstr>ADT : List</vt:lpstr>
      <vt:lpstr>Lists</vt:lpstr>
      <vt:lpstr>List Implementations</vt:lpstr>
      <vt:lpstr>List Implementations</vt:lpstr>
      <vt:lpstr>List Implementations</vt:lpstr>
      <vt:lpstr>List Implementations</vt:lpstr>
      <vt:lpstr>Array-based List</vt:lpstr>
      <vt:lpstr>Link-Based Implementation</vt:lpstr>
      <vt:lpstr>Link-Based Implementation</vt:lpstr>
      <vt:lpstr>Link-Based Implementation</vt:lpstr>
      <vt:lpstr>Array vs. Link-Based</vt:lpstr>
      <vt:lpstr>Link-Based vs. Array Based</vt:lpstr>
      <vt:lpstr>Link-Based vs. Array Based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527</cp:revision>
  <dcterms:created xsi:type="dcterms:W3CDTF">2011-07-22T18:36:28Z</dcterms:created>
  <dcterms:modified xsi:type="dcterms:W3CDTF">2025-10-21T19:33:37Z</dcterms:modified>
</cp:coreProperties>
</file>