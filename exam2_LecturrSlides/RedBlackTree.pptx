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  <p:sldId id="488" r:id="rId12"/>
    <p:sldId id="489" r:id="rId13"/>
    <p:sldId id="490" r:id="rId14"/>
    <p:sldId id="491" r:id="rId15"/>
    <p:sldId id="492" r:id="rId16"/>
    <p:sldId id="493" r:id="rId17"/>
    <p:sldId id="494" r:id="rId18"/>
    <p:sldId id="495" r:id="rId19"/>
    <p:sldId id="496" r:id="rId20"/>
    <p:sldId id="497" r:id="rId21"/>
    <p:sldId id="498" r:id="rId22"/>
    <p:sldId id="499" r:id="rId23"/>
    <p:sldId id="500" r:id="rId24"/>
    <p:sldId id="501" r:id="rId25"/>
    <p:sldId id="502" r:id="rId26"/>
    <p:sldId id="507" r:id="rId27"/>
    <p:sldId id="508" r:id="rId28"/>
    <p:sldId id="509" r:id="rId29"/>
    <p:sldId id="51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8" y="9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type of balanced Binary Search Tree (BST).</a:t>
            </a:r>
          </a:p>
          <a:p>
            <a:pPr lvl="1"/>
            <a:r>
              <a:rPr lang="en-US" dirty="0"/>
              <a:t>We have been using this idea of balance previously when introducing BST.</a:t>
            </a:r>
          </a:p>
          <a:p>
            <a:pPr lvl="1"/>
            <a:r>
              <a:rPr lang="en-US" dirty="0"/>
              <a:t>All the same properties </a:t>
            </a:r>
            <a:r>
              <a:rPr lang="en-US"/>
              <a:t>of BST hold here.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Each Node has a color – either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or BLACK – which helps to maintain balance within the tree hierarchy.</a:t>
            </a:r>
          </a:p>
          <a:p>
            <a:endParaRPr lang="en-US" dirty="0"/>
          </a:p>
          <a:p>
            <a:r>
              <a:rPr lang="en-US" dirty="0"/>
              <a:t>This balance ensures efficient tree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31287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Binary Search Tree operations take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O(h) </a:t>
            </a:r>
            <a:r>
              <a:rPr lang="en-US" dirty="0"/>
              <a:t>time – where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en-US" dirty="0"/>
              <a:t> is the height of the tree.</a:t>
            </a:r>
          </a:p>
          <a:p>
            <a:endParaRPr lang="en-US" dirty="0"/>
          </a:p>
          <a:p>
            <a:r>
              <a:rPr lang="en-US" dirty="0"/>
              <a:t>This can quickly become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O(n)</a:t>
            </a:r>
            <a:r>
              <a:rPr lang="en-US" dirty="0"/>
              <a:t> if the tree is unbalanced.</a:t>
            </a:r>
          </a:p>
          <a:p>
            <a:pPr lvl="1"/>
            <a:r>
              <a:rPr lang="en-US" dirty="0"/>
              <a:t>We would obviously desire a much better upper bound for our tree operations.</a:t>
            </a:r>
          </a:p>
        </p:txBody>
      </p:sp>
    </p:spTree>
    <p:extLst>
      <p:ext uri="{BB962C8B-B14F-4D97-AF65-F5344CB8AC3E}">
        <p14:creationId xmlns:p14="http://schemas.microsoft.com/office/powerpoint/2010/main" val="3440250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Balance is important as it allows for “optimal” search/insertion/deletion times within the tree.</a:t>
            </a:r>
          </a:p>
          <a:p>
            <a:pPr lvl="1"/>
            <a:r>
              <a:rPr lang="en-US" dirty="0"/>
              <a:t>Unbalanced Trees can have time worse than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log N</a:t>
            </a:r>
            <a:r>
              <a:rPr lang="en-US" dirty="0"/>
              <a:t> for basic tree operations.</a:t>
            </a:r>
          </a:p>
          <a:p>
            <a:pPr lvl="1"/>
            <a:endParaRPr lang="en-US" dirty="0"/>
          </a:p>
          <a:p>
            <a:r>
              <a:rPr lang="en-US" i="1" dirty="0"/>
              <a:t>If we desire the optimal time for our tree is there a way we can ensure that the tree is always kept in a balanced state? </a:t>
            </a:r>
          </a:p>
        </p:txBody>
      </p:sp>
    </p:spTree>
    <p:extLst>
      <p:ext uri="{BB962C8B-B14F-4D97-AF65-F5344CB8AC3E}">
        <p14:creationId xmlns:p14="http://schemas.microsoft.com/office/powerpoint/2010/main" val="1547693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Rules: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 Red-Black Tree must be a type of Binary Search Tree.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root Node is Black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Node when inserted begins as a Red Node.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a Node is Red then its Children must be Black.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path from a Node 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 must contain the same number of Black Nodes.</a:t>
            </a:r>
          </a:p>
          <a:p>
            <a:pPr marL="1371600" lvl="2" indent="-514350"/>
            <a:r>
              <a:rPr lang="en-US" dirty="0"/>
              <a:t>This ensures that the tree will remain balanced.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Every leaf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) must be Black.</a:t>
            </a:r>
          </a:p>
        </p:txBody>
      </p:sp>
    </p:spTree>
    <p:extLst>
      <p:ext uri="{BB962C8B-B14F-4D97-AF65-F5344CB8AC3E}">
        <p14:creationId xmlns:p14="http://schemas.microsoft.com/office/powerpoint/2010/main" val="18487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will need to create a new Class – </a:t>
            </a:r>
            <a:r>
              <a:rPr lang="en-US" dirty="0" err="1"/>
              <a:t>TreeNode</a:t>
            </a:r>
            <a:r>
              <a:rPr lang="en-US" dirty="0"/>
              <a:t> – that will inherit from our Node Class and add the following attributes:</a:t>
            </a:r>
          </a:p>
          <a:p>
            <a:pPr lvl="1"/>
            <a:r>
              <a:rPr lang="en-US" dirty="0"/>
              <a:t>Left Child</a:t>
            </a:r>
          </a:p>
          <a:p>
            <a:pPr lvl="1"/>
            <a:r>
              <a:rPr lang="en-US" dirty="0"/>
              <a:t>Right Child</a:t>
            </a:r>
          </a:p>
          <a:p>
            <a:pPr lvl="1"/>
            <a:r>
              <a:rPr lang="en-US" dirty="0"/>
              <a:t>Parent</a:t>
            </a:r>
          </a:p>
          <a:p>
            <a:pPr lvl="1"/>
            <a:endParaRPr lang="en-US" dirty="0"/>
          </a:p>
          <a:p>
            <a:r>
              <a:rPr lang="en-US" dirty="0"/>
              <a:t>For the Red-Black Tree we also need to add an attribute to store the color of the Node.</a:t>
            </a:r>
          </a:p>
        </p:txBody>
      </p:sp>
    </p:spTree>
    <p:extLst>
      <p:ext uri="{BB962C8B-B14F-4D97-AF65-F5344CB8AC3E}">
        <p14:creationId xmlns:p14="http://schemas.microsoft.com/office/powerpoint/2010/main" val="2347708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begin by inserting a </a:t>
            </a:r>
            <a:r>
              <a:rPr lang="en-US" dirty="0" err="1"/>
              <a:t>TreeNode</a:t>
            </a:r>
            <a:r>
              <a:rPr lang="en-US" dirty="0"/>
              <a:t> into our Red-Black Tree.</a:t>
            </a:r>
          </a:p>
          <a:p>
            <a:pPr lvl="1"/>
            <a:r>
              <a:rPr lang="en-US" dirty="0"/>
              <a:t>The RB Tree is initially empty and thus our root is pointing at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When we insert ANY </a:t>
            </a:r>
            <a:r>
              <a:rPr lang="en-US" dirty="0" err="1"/>
              <a:t>TreeNode</a:t>
            </a:r>
            <a:r>
              <a:rPr lang="en-US" dirty="0"/>
              <a:t> into our RB Tree we need to set it initial color to RED.</a:t>
            </a:r>
          </a:p>
          <a:p>
            <a:pPr lvl="1"/>
            <a:r>
              <a:rPr lang="en-US" dirty="0"/>
              <a:t>Property #3</a:t>
            </a:r>
          </a:p>
        </p:txBody>
      </p:sp>
    </p:spTree>
    <p:extLst>
      <p:ext uri="{BB962C8B-B14F-4D97-AF65-F5344CB8AC3E}">
        <p14:creationId xmlns:p14="http://schemas.microsoft.com/office/powerpoint/2010/main" val="64482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RB is empty – as it should be on the initial input – we need to set the root pointer to the new </a:t>
            </a:r>
            <a:r>
              <a:rPr lang="en-US" dirty="0" err="1"/>
              <a:t>TreeNode</a:t>
            </a:r>
            <a:r>
              <a:rPr lang="en-US" dirty="0"/>
              <a:t> and change its color from RED to BLACK.</a:t>
            </a:r>
          </a:p>
          <a:p>
            <a:pPr lvl="1"/>
            <a:r>
              <a:rPr lang="en-US" dirty="0"/>
              <a:t>Property #2</a:t>
            </a:r>
          </a:p>
          <a:p>
            <a:pPr lvl="1"/>
            <a:endParaRPr lang="en-US" dirty="0"/>
          </a:p>
          <a:p>
            <a:r>
              <a:rPr lang="en-US" dirty="0"/>
              <a:t>Now that we have a RB Tree started we can start inserting additional </a:t>
            </a:r>
            <a:r>
              <a:rPr lang="en-US" dirty="0" err="1"/>
              <a:t>TreeNodes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49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Now when we insert a second </a:t>
            </a:r>
            <a:r>
              <a:rPr lang="en-US" dirty="0" err="1"/>
              <a:t>TreeNode</a:t>
            </a:r>
            <a:r>
              <a:rPr lang="en-US" dirty="0"/>
              <a:t> we will begin by inserting it as a leaf Node within the Tree.</a:t>
            </a:r>
          </a:p>
          <a:p>
            <a:pPr lvl="1"/>
            <a:r>
              <a:rPr lang="en-US" dirty="0"/>
              <a:t>It’s color will still be RED – it does not violate Property #6 because the children of this new Node are Black.</a:t>
            </a:r>
          </a:p>
          <a:p>
            <a:pPr lvl="2"/>
            <a:endParaRPr lang="en-US" dirty="0"/>
          </a:p>
          <a:p>
            <a:r>
              <a:rPr lang="en-US" dirty="0"/>
              <a:t>We need to examine whether it belongs in the left or right subtree.</a:t>
            </a:r>
          </a:p>
          <a:p>
            <a:pPr lvl="1"/>
            <a:r>
              <a:rPr lang="en-US" dirty="0"/>
              <a:t>If it is greater than the root it belongs in the right subtree.</a:t>
            </a:r>
          </a:p>
          <a:p>
            <a:pPr lvl="1"/>
            <a:r>
              <a:rPr lang="en-US" dirty="0"/>
              <a:t>If it is less than the root it belongs in the left subtree.</a:t>
            </a:r>
          </a:p>
        </p:txBody>
      </p:sp>
    </p:spTree>
    <p:extLst>
      <p:ext uri="{BB962C8B-B14F-4D97-AF65-F5344CB8AC3E}">
        <p14:creationId xmlns:p14="http://schemas.microsoft.com/office/powerpoint/2010/main" val="70131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Let’s assume that our root is the integer 7 and we are trying to insert the data value 15 into our tree.</a:t>
            </a:r>
          </a:p>
          <a:p>
            <a:pPr lvl="1"/>
            <a:r>
              <a:rPr lang="en-US" dirty="0"/>
              <a:t>We know that by the rules of a Binary Search Tree that the value 15 belongs in the right subtree.</a:t>
            </a:r>
          </a:p>
          <a:p>
            <a:pPr lvl="1"/>
            <a:endParaRPr lang="en-US" dirty="0"/>
          </a:p>
          <a:p>
            <a:r>
              <a:rPr lang="en-US" dirty="0"/>
              <a:t>At this we can insert our third value 4.</a:t>
            </a:r>
          </a:p>
          <a:p>
            <a:pPr lvl="1"/>
            <a:r>
              <a:rPr lang="en-US" dirty="0"/>
              <a:t>4 is less than 7 (our root) so we can insert it into our left subtree of 7.</a:t>
            </a:r>
          </a:p>
          <a:p>
            <a:pPr lvl="2"/>
            <a:r>
              <a:rPr lang="en-US" dirty="0"/>
              <a:t>Are all our properties still holding?</a:t>
            </a:r>
          </a:p>
        </p:txBody>
      </p:sp>
    </p:spTree>
    <p:extLst>
      <p:ext uri="{BB962C8B-B14F-4D97-AF65-F5344CB8AC3E}">
        <p14:creationId xmlns:p14="http://schemas.microsoft.com/office/powerpoint/2010/main" val="188184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2743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962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962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34290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34290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137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try to throw a wrench into things and add the number 10.</a:t>
            </a:r>
          </a:p>
          <a:p>
            <a:pPr lvl="1"/>
            <a:r>
              <a:rPr lang="en-US" dirty="0"/>
              <a:t>Now 10 is greater than 7 so we know it is going to be in the right subtree of 7 but it is less than 15, meaning that it will be in 15’s left subtree.</a:t>
            </a:r>
          </a:p>
          <a:p>
            <a:pPr lvl="1"/>
            <a:endParaRPr lang="en-US" dirty="0"/>
          </a:p>
          <a:p>
            <a:r>
              <a:rPr lang="en-US" dirty="0"/>
              <a:t>Remember that when we insert this node we need to start with its color Red – which we know is going to create a further headache…</a:t>
            </a:r>
          </a:p>
        </p:txBody>
      </p:sp>
    </p:spTree>
    <p:extLst>
      <p:ext uri="{BB962C8B-B14F-4D97-AF65-F5344CB8AC3E}">
        <p14:creationId xmlns:p14="http://schemas.microsoft.com/office/powerpoint/2010/main" val="755571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we insert 10 into our tree – everything goes well until we realize that 10 is colored Red and 15 is colored Red.</a:t>
            </a:r>
          </a:p>
          <a:p>
            <a:pPr lvl="1"/>
            <a:r>
              <a:rPr lang="en-US" dirty="0"/>
              <a:t>This violates a couple of our properties as we not only have two consecutive Red nodes in the tree but we also two adjacent nodes that are Red within our Tree.</a:t>
            </a:r>
          </a:p>
          <a:p>
            <a:pPr lvl="1"/>
            <a:endParaRPr lang="en-US" dirty="0"/>
          </a:p>
          <a:p>
            <a:r>
              <a:rPr lang="en-US" dirty="0"/>
              <a:t>We are going to need to do some recoloring to take care of this problem.</a:t>
            </a:r>
          </a:p>
        </p:txBody>
      </p:sp>
    </p:spTree>
    <p:extLst>
      <p:ext uri="{BB962C8B-B14F-4D97-AF65-F5344CB8AC3E}">
        <p14:creationId xmlns:p14="http://schemas.microsoft.com/office/powerpoint/2010/main" val="2951908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3784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Now we can’t just recolor the 15 because then that violates our Property #5</a:t>
            </a:r>
          </a:p>
          <a:p>
            <a:pPr lvl="1"/>
            <a:r>
              <a:rPr lang="en-US" dirty="0"/>
              <a:t>Because the left subtree of 7 would have fewer Black nodes than the right subtree.</a:t>
            </a:r>
          </a:p>
          <a:p>
            <a:pPr lvl="1"/>
            <a:endParaRPr lang="en-US" dirty="0"/>
          </a:p>
          <a:p>
            <a:r>
              <a:rPr lang="en-US" dirty="0"/>
              <a:t>We actually need to recolor both the 4 and the 15 in order to maintain not only balance but also proper coloring.</a:t>
            </a:r>
          </a:p>
          <a:p>
            <a:pPr lvl="1"/>
            <a:r>
              <a:rPr lang="en-US" dirty="0"/>
              <a:t>Black Nodes: 4, 7, 15</a:t>
            </a:r>
          </a:p>
          <a:p>
            <a:pPr lvl="1"/>
            <a:r>
              <a:rPr lang="en-US"/>
              <a:t>Red Nodes: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76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0949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Now let’s throw in some total chaos just to make things interesting. </a:t>
            </a:r>
          </a:p>
          <a:p>
            <a:pPr lvl="1"/>
            <a:r>
              <a:rPr lang="en-US" dirty="0"/>
              <a:t>We will insert 13.</a:t>
            </a:r>
          </a:p>
          <a:p>
            <a:pPr lvl="1"/>
            <a:endParaRPr lang="en-US" dirty="0"/>
          </a:p>
          <a:p>
            <a:r>
              <a:rPr lang="en-US" dirty="0"/>
              <a:t>Now we know that 13 will go in the right subtree of 7 and the left subtree of 15 but the right subtree of 10.</a:t>
            </a:r>
          </a:p>
          <a:p>
            <a:pPr lvl="1"/>
            <a:r>
              <a:rPr lang="en-US" dirty="0"/>
              <a:t>By rules of insertion though we now have two consecutive RED nodes which is a violation.</a:t>
            </a:r>
          </a:p>
        </p:txBody>
      </p:sp>
    </p:spTree>
    <p:extLst>
      <p:ext uri="{BB962C8B-B14F-4D97-AF65-F5344CB8AC3E}">
        <p14:creationId xmlns:p14="http://schemas.microsoft.com/office/powerpoint/2010/main" val="40610162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257800" y="55626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cxnSp>
        <p:nvCxnSpPr>
          <p:cNvPr id="15" name="Straight Connector 14"/>
          <p:cNvCxnSpPr>
            <a:stCxn id="7" idx="4"/>
            <a:endCxn id="13" idx="0"/>
          </p:cNvCxnSpPr>
          <p:nvPr/>
        </p:nvCxnSpPr>
        <p:spPr>
          <a:xfrm>
            <a:off x="5143500" y="50292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0164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need to perform a Left Rotation to attempt to resolve this situation.</a:t>
            </a:r>
          </a:p>
          <a:p>
            <a:endParaRPr lang="en-US" dirty="0"/>
          </a:p>
          <a:p>
            <a:r>
              <a:rPr lang="en-US" dirty="0"/>
              <a:t>We need rotate the 13 into a position where it goes from the child of 10 to the parent of 10…and also is now linked to the 15 as its child.</a:t>
            </a:r>
          </a:p>
          <a:p>
            <a:pPr lvl="1"/>
            <a:r>
              <a:rPr lang="en-US" dirty="0"/>
              <a:t>When we do this we are still in violation because we STILL have two consecutive RED nodes.</a:t>
            </a:r>
          </a:p>
        </p:txBody>
      </p:sp>
    </p:spTree>
    <p:extLst>
      <p:ext uri="{BB962C8B-B14F-4D97-AF65-F5344CB8AC3E}">
        <p14:creationId xmlns:p14="http://schemas.microsoft.com/office/powerpoint/2010/main" val="818346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Left Rotation:</a:t>
            </a:r>
          </a:p>
          <a:p>
            <a:pPr lvl="1"/>
            <a:r>
              <a:rPr lang="en-US" dirty="0"/>
              <a:t>Repositions the Node y as the root of the subtree.</a:t>
            </a:r>
          </a:p>
          <a:p>
            <a:pPr lvl="1"/>
            <a:r>
              <a:rPr lang="en-US" dirty="0"/>
              <a:t>Assumes the right child of Node x is not the </a:t>
            </a:r>
            <a:r>
              <a:rPr lang="en-US" dirty="0" err="1"/>
              <a:t>nullptr</a:t>
            </a:r>
            <a:r>
              <a:rPr lang="en-US" dirty="0"/>
              <a:t>.</a:t>
            </a:r>
          </a:p>
        </p:txBody>
      </p:sp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214438" y="1860550"/>
            <a:ext cx="6862762" cy="2406650"/>
            <a:chOff x="606" y="2738"/>
            <a:chExt cx="4323" cy="1516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" y="2738"/>
              <a:ext cx="4323" cy="15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888" y="3445"/>
              <a:ext cx="1701" cy="5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35573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4" name="Oval 3"/>
          <p:cNvSpPr/>
          <p:nvPr/>
        </p:nvSpPr>
        <p:spPr>
          <a:xfrm>
            <a:off x="4038600" y="1905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971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57800" y="3124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4800600" y="43434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314700" y="2590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381500" y="2590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5143500" y="3810000"/>
            <a:ext cx="457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72000" y="55626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cxnSp>
        <p:nvCxnSpPr>
          <p:cNvPr id="15" name="Straight Connector 14"/>
          <p:cNvCxnSpPr>
            <a:stCxn id="7" idx="4"/>
            <a:endCxn id="13" idx="0"/>
          </p:cNvCxnSpPr>
          <p:nvPr/>
        </p:nvCxnSpPr>
        <p:spPr>
          <a:xfrm flipH="1">
            <a:off x="4914900" y="5029200"/>
            <a:ext cx="2286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8069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We need to perform a further rotation – this time executing a Right Rotation in order to not only balance our Tree but also perform a recoloring to ensure that we adhere to all the properties of RB Trees.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We had to go through the Left Rotation first in order to put ourselves in position to adhere to the rules of Binary Search Trees.</a:t>
            </a:r>
          </a:p>
        </p:txBody>
      </p:sp>
    </p:spTree>
    <p:extLst>
      <p:ext uri="{BB962C8B-B14F-4D97-AF65-F5344CB8AC3E}">
        <p14:creationId xmlns:p14="http://schemas.microsoft.com/office/powerpoint/2010/main" val="3929927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Right Rotation:</a:t>
            </a:r>
          </a:p>
          <a:p>
            <a:pPr lvl="1"/>
            <a:r>
              <a:rPr lang="en-US" dirty="0"/>
              <a:t>Repositions the Node x as the root of the subtree.</a:t>
            </a:r>
          </a:p>
          <a:p>
            <a:pPr lvl="1"/>
            <a:r>
              <a:rPr lang="en-US" dirty="0"/>
              <a:t>Assumes that the left child of Node y is not the </a:t>
            </a:r>
            <a:r>
              <a:rPr lang="en-US" dirty="0" err="1"/>
              <a:t>nullptr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1828800"/>
            <a:ext cx="1887538" cy="1979612"/>
          </a:xfrm>
          <a:prstGeom prst="rect">
            <a:avLst/>
          </a:prstGeom>
          <a:noFill/>
          <a:ln/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22663" y="2657475"/>
            <a:ext cx="2278062" cy="290512"/>
          </a:xfrm>
          <a:prstGeom prst="rect">
            <a:avLst/>
          </a:prstGeom>
          <a:noFill/>
          <a:ln/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875" y="1876425"/>
            <a:ext cx="1785938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427287"/>
            <a:ext cx="2087563" cy="28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3798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order to perform a Right Rotation of our Tree we need to rotate our 13 to be the new parent node of BOTH our 15 and our 10. </a:t>
            </a:r>
          </a:p>
          <a:p>
            <a:endParaRPr lang="en-US" dirty="0"/>
          </a:p>
          <a:p>
            <a:r>
              <a:rPr lang="en-US" dirty="0"/>
              <a:t>The 13 is now the right child of the 7 which is our root node.</a:t>
            </a:r>
          </a:p>
          <a:p>
            <a:endParaRPr lang="en-US" dirty="0"/>
          </a:p>
          <a:p>
            <a:r>
              <a:rPr lang="en-US" dirty="0"/>
              <a:t>We need to recolor our nodes such that our 13 is colored BLACK and our 15 is now colored RED.</a:t>
            </a:r>
          </a:p>
        </p:txBody>
      </p:sp>
    </p:spTree>
    <p:extLst>
      <p:ext uri="{BB962C8B-B14F-4D97-AF65-F5344CB8AC3E}">
        <p14:creationId xmlns:p14="http://schemas.microsoft.com/office/powerpoint/2010/main" val="420128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Oval 3"/>
          <p:cNvSpPr/>
          <p:nvPr/>
        </p:nvSpPr>
        <p:spPr>
          <a:xfrm>
            <a:off x="3733800" y="22860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2667000" y="3505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4953000" y="3505200"/>
            <a:ext cx="685800" cy="6858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4191000" y="4876800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5791200" y="4869024"/>
            <a:ext cx="685800" cy="6858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15</a:t>
            </a:r>
          </a:p>
        </p:txBody>
      </p:sp>
      <p:cxnSp>
        <p:nvCxnSpPr>
          <p:cNvPr id="10" name="Straight Connector 9"/>
          <p:cNvCxnSpPr>
            <a:stCxn id="5" idx="0"/>
            <a:endCxn id="4" idx="4"/>
          </p:cNvCxnSpPr>
          <p:nvPr/>
        </p:nvCxnSpPr>
        <p:spPr>
          <a:xfrm flipV="1">
            <a:off x="3009900" y="2971800"/>
            <a:ext cx="10668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4" idx="4"/>
            <a:endCxn id="6" idx="0"/>
          </p:cNvCxnSpPr>
          <p:nvPr/>
        </p:nvCxnSpPr>
        <p:spPr>
          <a:xfrm>
            <a:off x="4076700" y="2971800"/>
            <a:ext cx="1219200" cy="533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4"/>
            <a:endCxn id="7" idx="0"/>
          </p:cNvCxnSpPr>
          <p:nvPr/>
        </p:nvCxnSpPr>
        <p:spPr>
          <a:xfrm flipH="1">
            <a:off x="4533900" y="4191000"/>
            <a:ext cx="762000" cy="6858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6" idx="4"/>
            <a:endCxn id="8" idx="0"/>
          </p:cNvCxnSpPr>
          <p:nvPr/>
        </p:nvCxnSpPr>
        <p:spPr>
          <a:xfrm>
            <a:off x="5295900" y="4191000"/>
            <a:ext cx="838200" cy="67802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686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Red-Black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have now completed our insertions and we can note that not only have we maintained all of the properties of a Red-Black Tree in terms of coloring but we have also inserted and adjusted such that the tree is balanced.</a:t>
            </a:r>
          </a:p>
          <a:p>
            <a:endParaRPr lang="en-US" dirty="0"/>
          </a:p>
          <a:p>
            <a:r>
              <a:rPr lang="en-US" dirty="0"/>
              <a:t>We can now traverse the tree and find in an efficient manner and find/discover the color of each respective </a:t>
            </a:r>
            <a:r>
              <a:rPr lang="en-US" dirty="0" err="1"/>
              <a:t>TreeNode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0698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Removing a Node from a Tree can be just as challenging as Inserting a Node.</a:t>
            </a:r>
          </a:p>
          <a:p>
            <a:pPr lvl="1"/>
            <a:r>
              <a:rPr lang="en-US" dirty="0"/>
              <a:t>In fact it is often times much more difficult!</a:t>
            </a:r>
          </a:p>
          <a:p>
            <a:endParaRPr lang="en-US" dirty="0"/>
          </a:p>
          <a:p>
            <a:r>
              <a:rPr lang="en-US" dirty="0"/>
              <a:t>Three Conditions:</a:t>
            </a:r>
          </a:p>
          <a:p>
            <a:pPr lvl="1"/>
            <a:r>
              <a:rPr lang="en-US" dirty="0"/>
              <a:t>The Node to be deleted is a leaf node.</a:t>
            </a:r>
          </a:p>
          <a:p>
            <a:pPr lvl="1"/>
            <a:r>
              <a:rPr lang="en-US" dirty="0"/>
              <a:t>The Node to be deleted has one child.</a:t>
            </a:r>
          </a:p>
          <a:p>
            <a:pPr lvl="1"/>
            <a:r>
              <a:rPr lang="en-US" dirty="0"/>
              <a:t>The Node to be deleted has two children.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897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Leaf Node Deletion:</a:t>
            </a:r>
          </a:p>
          <a:p>
            <a:pPr lvl="1"/>
            <a:r>
              <a:rPr lang="en-US" dirty="0"/>
              <a:t>We just need to change the appropriate child attribute (our pointer) in the Node’s Parent to point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We need to delete said Node from the Heap – to avoid memory leaks.</a:t>
            </a:r>
          </a:p>
          <a:p>
            <a:pPr lvl="2"/>
            <a:r>
              <a:rPr lang="en-US" dirty="0"/>
              <a:t>Each Node should have a Destructor that allows for this removal of the Node from the Tree.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42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Child Deletion:</a:t>
            </a:r>
          </a:p>
          <a:p>
            <a:pPr lvl="1"/>
            <a:r>
              <a:rPr lang="en-US" dirty="0"/>
              <a:t>Here we have to manage two connections:</a:t>
            </a:r>
          </a:p>
          <a:p>
            <a:pPr lvl="2"/>
            <a:r>
              <a:rPr lang="en-US" dirty="0"/>
              <a:t>One to the Parent.</a:t>
            </a:r>
          </a:p>
          <a:p>
            <a:pPr lvl="2"/>
            <a:r>
              <a:rPr lang="en-US" dirty="0"/>
              <a:t>One to the Child.</a:t>
            </a:r>
          </a:p>
          <a:p>
            <a:pPr lvl="1"/>
            <a:r>
              <a:rPr lang="en-US" dirty="0"/>
              <a:t>We need to reassign our pointers to move the Child up to the existing Parent Node and link those two together.</a:t>
            </a:r>
          </a:p>
          <a:p>
            <a:pPr lvl="2"/>
            <a:r>
              <a:rPr lang="en-US" dirty="0"/>
              <a:t>Don’t forget to clean up the mess the deleted Node left behind – otherwise, a memory leak!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966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A Node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Children Deletion:</a:t>
            </a:r>
          </a:p>
          <a:p>
            <a:pPr lvl="1"/>
            <a:r>
              <a:rPr lang="en-US" dirty="0"/>
              <a:t>Replace the Node with its </a:t>
            </a:r>
            <a:r>
              <a:rPr lang="en-US" dirty="0" err="1"/>
              <a:t>Inorder</a:t>
            </a:r>
            <a:r>
              <a:rPr lang="en-US" dirty="0"/>
              <a:t> successor.</a:t>
            </a:r>
          </a:p>
          <a:p>
            <a:pPr lvl="2"/>
            <a:r>
              <a:rPr lang="en-US" dirty="0"/>
              <a:t>The Node with the next-highest key (to the deleted node) in the subtree is called its </a:t>
            </a:r>
            <a:r>
              <a:rPr lang="en-US" dirty="0" err="1"/>
              <a:t>Inorder</a:t>
            </a:r>
            <a:r>
              <a:rPr lang="en-US" dirty="0"/>
              <a:t> successor.</a:t>
            </a:r>
          </a:p>
          <a:p>
            <a:pPr lvl="1"/>
            <a:r>
              <a:rPr lang="en-US" dirty="0"/>
              <a:t>To find the successor: </a:t>
            </a:r>
          </a:p>
          <a:p>
            <a:pPr lvl="2"/>
            <a:r>
              <a:rPr lang="en-US" dirty="0"/>
              <a:t>Remove the Node’s Right Child. </a:t>
            </a:r>
          </a:p>
          <a:p>
            <a:pPr lvl="2"/>
            <a:r>
              <a:rPr lang="en-US" dirty="0"/>
              <a:t>Follow the path of Left Children.</a:t>
            </a:r>
          </a:p>
          <a:p>
            <a:pPr lvl="3"/>
            <a:r>
              <a:rPr lang="en-US" dirty="0"/>
              <a:t>The last Left Child in this path is the successor of the original Node.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328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6300</TotalTime>
  <Words>1500</Words>
  <Application>Microsoft Office PowerPoint</Application>
  <PresentationFormat>On-screen Show (4:3)</PresentationFormat>
  <Paragraphs>186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Office Theme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Red-Black Trees</vt:lpstr>
      <vt:lpstr>Removing A Node</vt:lpstr>
      <vt:lpstr>Removing A Node</vt:lpstr>
      <vt:lpstr>Removing A Node</vt:lpstr>
      <vt:lpstr>Removing A Node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Joshua Mackentyre Rouse</cp:lastModifiedBy>
  <cp:revision>557</cp:revision>
  <dcterms:created xsi:type="dcterms:W3CDTF">2011-07-22T18:36:28Z</dcterms:created>
  <dcterms:modified xsi:type="dcterms:W3CDTF">2025-12-13T21:13:50Z</dcterms:modified>
</cp:coreProperties>
</file>